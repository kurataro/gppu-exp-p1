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70" r:id="rId3"/>
    <p:sldId id="271" r:id="rId4"/>
    <p:sldId id="269" r:id="rId5"/>
    <p:sldId id="256" r:id="rId6"/>
    <p:sldId id="257" r:id="rId7"/>
    <p:sldId id="258" r:id="rId8"/>
    <p:sldId id="272" r:id="rId9"/>
    <p:sldId id="259" r:id="rId10"/>
    <p:sldId id="273" r:id="rId11"/>
    <p:sldId id="299" r:id="rId12"/>
    <p:sldId id="260" r:id="rId13"/>
    <p:sldId id="274" r:id="rId14"/>
    <p:sldId id="261" r:id="rId15"/>
    <p:sldId id="290" r:id="rId16"/>
    <p:sldId id="275" r:id="rId17"/>
    <p:sldId id="276" r:id="rId18"/>
    <p:sldId id="279" r:id="rId19"/>
    <p:sldId id="291" r:id="rId20"/>
    <p:sldId id="292" r:id="rId21"/>
    <p:sldId id="277" r:id="rId22"/>
    <p:sldId id="278" r:id="rId23"/>
    <p:sldId id="281" r:id="rId24"/>
    <p:sldId id="283" r:id="rId25"/>
    <p:sldId id="282" r:id="rId26"/>
    <p:sldId id="280" r:id="rId27"/>
    <p:sldId id="262" r:id="rId28"/>
    <p:sldId id="263" r:id="rId29"/>
    <p:sldId id="284" r:id="rId30"/>
    <p:sldId id="285" r:id="rId31"/>
    <p:sldId id="293" r:id="rId32"/>
    <p:sldId id="286" r:id="rId33"/>
    <p:sldId id="287" r:id="rId34"/>
    <p:sldId id="294" r:id="rId35"/>
    <p:sldId id="295" r:id="rId36"/>
    <p:sldId id="288" r:id="rId37"/>
    <p:sldId id="289" r:id="rId38"/>
    <p:sldId id="296" r:id="rId39"/>
    <p:sldId id="297" r:id="rId40"/>
    <p:sldId id="298" r:id="rId41"/>
    <p:sldId id="264" r:id="rId42"/>
  </p:sldIdLst>
  <p:sldSz cx="9144000" cy="6858000" type="screen4x3"/>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7" d="100"/>
          <a:sy n="107" d="100"/>
        </p:scale>
        <p:origin x="108" y="2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1FB1305-BCE5-0699-764F-567A64E21283}"/>
              </a:ext>
            </a:extLst>
          </p:cNvPr>
          <p:cNvSpPr>
            <a:spLocks noGrp="1"/>
          </p:cNvSpPr>
          <p:nvPr>
            <p:ph type="ctrTitle"/>
          </p:nvPr>
        </p:nvSpPr>
        <p:spPr>
          <a:xfrm>
            <a:off x="1143000" y="1122363"/>
            <a:ext cx="6858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F7EB05E5-EED4-F6E5-5749-B52DF3B0F8FA}"/>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15B324F-12BB-62D1-AA91-887E51841F91}"/>
              </a:ext>
            </a:extLst>
          </p:cNvPr>
          <p:cNvSpPr>
            <a:spLocks noGrp="1"/>
          </p:cNvSpPr>
          <p:nvPr>
            <p:ph type="dt" sz="half" idx="10"/>
          </p:nvPr>
        </p:nvSpPr>
        <p:spPr/>
        <p:txBody>
          <a:bodyPr/>
          <a:lstStyle/>
          <a:p>
            <a:fld id="{18468D82-99D3-4AA5-B6FE-EEFEFE0B1F6E}" type="datetimeFigureOut">
              <a:rPr kumimoji="1" lang="ja-JP" altLang="en-US" smtClean="0"/>
              <a:t>2026/2/23</a:t>
            </a:fld>
            <a:endParaRPr kumimoji="1" lang="ja-JP" altLang="en-US"/>
          </a:p>
        </p:txBody>
      </p:sp>
      <p:sp>
        <p:nvSpPr>
          <p:cNvPr id="5" name="フッター プレースホルダー 4">
            <a:extLst>
              <a:ext uri="{FF2B5EF4-FFF2-40B4-BE49-F238E27FC236}">
                <a16:creationId xmlns:a16="http://schemas.microsoft.com/office/drawing/2014/main" id="{896329B3-6D80-15B7-7A2A-82762D8771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AC79EFD-CA9E-4509-534C-2421F4D45B9C}"/>
              </a:ext>
            </a:extLst>
          </p:cNvPr>
          <p:cNvSpPr>
            <a:spLocks noGrp="1"/>
          </p:cNvSpPr>
          <p:nvPr>
            <p:ph type="sldNum" sz="quarter" idx="12"/>
          </p:nvPr>
        </p:nvSpPr>
        <p:spPr/>
        <p:txBody>
          <a:body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276776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C2BF046-E823-2869-F5D4-5B4914774CF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BFD20FD-A559-28A5-7B5F-1392D1B232D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22008F4-B672-A1B5-D47A-4C8D68960E1A}"/>
              </a:ext>
            </a:extLst>
          </p:cNvPr>
          <p:cNvSpPr>
            <a:spLocks noGrp="1"/>
          </p:cNvSpPr>
          <p:nvPr>
            <p:ph type="dt" sz="half" idx="10"/>
          </p:nvPr>
        </p:nvSpPr>
        <p:spPr/>
        <p:txBody>
          <a:bodyPr/>
          <a:lstStyle/>
          <a:p>
            <a:fld id="{18468D82-99D3-4AA5-B6FE-EEFEFE0B1F6E}" type="datetimeFigureOut">
              <a:rPr kumimoji="1" lang="ja-JP" altLang="en-US" smtClean="0"/>
              <a:t>2026/2/23</a:t>
            </a:fld>
            <a:endParaRPr kumimoji="1" lang="ja-JP" altLang="en-US"/>
          </a:p>
        </p:txBody>
      </p:sp>
      <p:sp>
        <p:nvSpPr>
          <p:cNvPr id="5" name="フッター プレースホルダー 4">
            <a:extLst>
              <a:ext uri="{FF2B5EF4-FFF2-40B4-BE49-F238E27FC236}">
                <a16:creationId xmlns:a16="http://schemas.microsoft.com/office/drawing/2014/main" id="{AA573476-4119-367C-5C05-C25A79736A1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AC62472-01AE-AE0C-0E0E-33A9D2E7BE40}"/>
              </a:ext>
            </a:extLst>
          </p:cNvPr>
          <p:cNvSpPr>
            <a:spLocks noGrp="1"/>
          </p:cNvSpPr>
          <p:nvPr>
            <p:ph type="sldNum" sz="quarter" idx="12"/>
          </p:nvPr>
        </p:nvSpPr>
        <p:spPr/>
        <p:txBody>
          <a:body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3832186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7A71AD7-C90D-2B69-982B-8C06D064F984}"/>
              </a:ext>
            </a:extLst>
          </p:cNvPr>
          <p:cNvSpPr>
            <a:spLocks noGrp="1"/>
          </p:cNvSpPr>
          <p:nvPr>
            <p:ph type="title"/>
          </p:nvPr>
        </p:nvSpPr>
        <p:spPr>
          <a:xfrm>
            <a:off x="623888" y="1709739"/>
            <a:ext cx="78867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FB2B1BF-4189-B72E-9B35-974470E78556}"/>
              </a:ext>
            </a:extLst>
          </p:cNvPr>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6A9E43B-100F-FCC4-4BCF-8C6F673EA165}"/>
              </a:ext>
            </a:extLst>
          </p:cNvPr>
          <p:cNvSpPr>
            <a:spLocks noGrp="1"/>
          </p:cNvSpPr>
          <p:nvPr>
            <p:ph type="dt" sz="half" idx="10"/>
          </p:nvPr>
        </p:nvSpPr>
        <p:spPr/>
        <p:txBody>
          <a:bodyPr/>
          <a:lstStyle/>
          <a:p>
            <a:fld id="{18468D82-99D3-4AA5-B6FE-EEFEFE0B1F6E}" type="datetimeFigureOut">
              <a:rPr kumimoji="1" lang="ja-JP" altLang="en-US" smtClean="0"/>
              <a:t>2026/2/23</a:t>
            </a:fld>
            <a:endParaRPr kumimoji="1" lang="ja-JP" altLang="en-US"/>
          </a:p>
        </p:txBody>
      </p:sp>
      <p:sp>
        <p:nvSpPr>
          <p:cNvPr id="5" name="フッター プレースホルダー 4">
            <a:extLst>
              <a:ext uri="{FF2B5EF4-FFF2-40B4-BE49-F238E27FC236}">
                <a16:creationId xmlns:a16="http://schemas.microsoft.com/office/drawing/2014/main" id="{D7B70078-A790-530F-6D4E-8CA955F8840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ED29B9E-1618-3FBA-209E-F6E26D25D530}"/>
              </a:ext>
            </a:extLst>
          </p:cNvPr>
          <p:cNvSpPr>
            <a:spLocks noGrp="1"/>
          </p:cNvSpPr>
          <p:nvPr>
            <p:ph type="sldNum" sz="quarter" idx="12"/>
          </p:nvPr>
        </p:nvSpPr>
        <p:spPr/>
        <p:txBody>
          <a:body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3677950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581A175-9862-D5D3-3F60-C5D54A9C390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F5801F4-08BA-9755-84F5-93F2609D8CA2}"/>
              </a:ext>
            </a:extLst>
          </p:cNvPr>
          <p:cNvSpPr>
            <a:spLocks noGrp="1"/>
          </p:cNvSpPr>
          <p:nvPr>
            <p:ph sz="half" idx="1"/>
          </p:nvPr>
        </p:nvSpPr>
        <p:spPr>
          <a:xfrm>
            <a:off x="6286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23B395E-E769-C5DF-83E1-E1B1C3539446}"/>
              </a:ext>
            </a:extLst>
          </p:cNvPr>
          <p:cNvSpPr>
            <a:spLocks noGrp="1"/>
          </p:cNvSpPr>
          <p:nvPr>
            <p:ph sz="half" idx="2"/>
          </p:nvPr>
        </p:nvSpPr>
        <p:spPr>
          <a:xfrm>
            <a:off x="4629150" y="1825625"/>
            <a:ext cx="38862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0B20D92-ECC1-927A-8270-4DFA940B71FE}"/>
              </a:ext>
            </a:extLst>
          </p:cNvPr>
          <p:cNvSpPr>
            <a:spLocks noGrp="1"/>
          </p:cNvSpPr>
          <p:nvPr>
            <p:ph type="dt" sz="half" idx="10"/>
          </p:nvPr>
        </p:nvSpPr>
        <p:spPr/>
        <p:txBody>
          <a:bodyPr/>
          <a:lstStyle/>
          <a:p>
            <a:fld id="{18468D82-99D3-4AA5-B6FE-EEFEFE0B1F6E}" type="datetimeFigureOut">
              <a:rPr kumimoji="1" lang="ja-JP" altLang="en-US" smtClean="0"/>
              <a:t>2026/2/23</a:t>
            </a:fld>
            <a:endParaRPr kumimoji="1" lang="ja-JP" altLang="en-US"/>
          </a:p>
        </p:txBody>
      </p:sp>
      <p:sp>
        <p:nvSpPr>
          <p:cNvPr id="6" name="フッター プレースホルダー 5">
            <a:extLst>
              <a:ext uri="{FF2B5EF4-FFF2-40B4-BE49-F238E27FC236}">
                <a16:creationId xmlns:a16="http://schemas.microsoft.com/office/drawing/2014/main" id="{A3A8B463-8F6C-1422-0D53-9D66D44257C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B8C24A7-0686-CD62-0D58-EB8128E85649}"/>
              </a:ext>
            </a:extLst>
          </p:cNvPr>
          <p:cNvSpPr>
            <a:spLocks noGrp="1"/>
          </p:cNvSpPr>
          <p:nvPr>
            <p:ph type="sldNum" sz="quarter" idx="12"/>
          </p:nvPr>
        </p:nvSpPr>
        <p:spPr/>
        <p:txBody>
          <a:body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3677752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806ED3-1636-0BFF-B7F9-01DB544C0E86}"/>
              </a:ext>
            </a:extLst>
          </p:cNvPr>
          <p:cNvSpPr>
            <a:spLocks noGrp="1"/>
          </p:cNvSpPr>
          <p:nvPr>
            <p:ph type="title"/>
          </p:nvPr>
        </p:nvSpPr>
        <p:spPr>
          <a:xfrm>
            <a:off x="629841" y="365126"/>
            <a:ext cx="78867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9D67EAE-6DBC-E0D7-A861-E899B2B0D570}"/>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B13C3B3-026C-5192-2E5B-A88977A08931}"/>
              </a:ext>
            </a:extLst>
          </p:cNvPr>
          <p:cNvSpPr>
            <a:spLocks noGrp="1"/>
          </p:cNvSpPr>
          <p:nvPr>
            <p:ph sz="half" idx="2"/>
          </p:nvPr>
        </p:nvSpPr>
        <p:spPr>
          <a:xfrm>
            <a:off x="629842" y="2505075"/>
            <a:ext cx="3868340"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ED187B8-713D-2181-56F5-2CCE5C2C0D79}"/>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5557E01-274C-3F07-4460-86F84D4853C8}"/>
              </a:ext>
            </a:extLst>
          </p:cNvPr>
          <p:cNvSpPr>
            <a:spLocks noGrp="1"/>
          </p:cNvSpPr>
          <p:nvPr>
            <p:ph sz="quarter" idx="4"/>
          </p:nvPr>
        </p:nvSpPr>
        <p:spPr>
          <a:xfrm>
            <a:off x="4629150" y="2505075"/>
            <a:ext cx="3887391"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B6D0FBA-518F-5B91-E152-3087281CA593}"/>
              </a:ext>
            </a:extLst>
          </p:cNvPr>
          <p:cNvSpPr>
            <a:spLocks noGrp="1"/>
          </p:cNvSpPr>
          <p:nvPr>
            <p:ph type="dt" sz="half" idx="10"/>
          </p:nvPr>
        </p:nvSpPr>
        <p:spPr/>
        <p:txBody>
          <a:bodyPr/>
          <a:lstStyle/>
          <a:p>
            <a:fld id="{18468D82-99D3-4AA5-B6FE-EEFEFE0B1F6E}" type="datetimeFigureOut">
              <a:rPr kumimoji="1" lang="ja-JP" altLang="en-US" smtClean="0"/>
              <a:t>2026/2/23</a:t>
            </a:fld>
            <a:endParaRPr kumimoji="1" lang="ja-JP" altLang="en-US"/>
          </a:p>
        </p:txBody>
      </p:sp>
      <p:sp>
        <p:nvSpPr>
          <p:cNvPr id="8" name="フッター プレースホルダー 7">
            <a:extLst>
              <a:ext uri="{FF2B5EF4-FFF2-40B4-BE49-F238E27FC236}">
                <a16:creationId xmlns:a16="http://schemas.microsoft.com/office/drawing/2014/main" id="{C5F72AF8-1541-25FE-0D5B-56BBD3D5C46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B917DA1E-F2BC-554C-A2F6-26B665B52861}"/>
              </a:ext>
            </a:extLst>
          </p:cNvPr>
          <p:cNvSpPr>
            <a:spLocks noGrp="1"/>
          </p:cNvSpPr>
          <p:nvPr>
            <p:ph type="sldNum" sz="quarter" idx="12"/>
          </p:nvPr>
        </p:nvSpPr>
        <p:spPr/>
        <p:txBody>
          <a:body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39015328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81C1B2-31CF-341E-0FA5-81F871E794BF}"/>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0EB14E5-51F8-6DDD-A49C-1A9284140A77}"/>
              </a:ext>
            </a:extLst>
          </p:cNvPr>
          <p:cNvSpPr>
            <a:spLocks noGrp="1"/>
          </p:cNvSpPr>
          <p:nvPr>
            <p:ph type="dt" sz="half" idx="10"/>
          </p:nvPr>
        </p:nvSpPr>
        <p:spPr/>
        <p:txBody>
          <a:bodyPr/>
          <a:lstStyle/>
          <a:p>
            <a:fld id="{18468D82-99D3-4AA5-B6FE-EEFEFE0B1F6E}" type="datetimeFigureOut">
              <a:rPr kumimoji="1" lang="ja-JP" altLang="en-US" smtClean="0"/>
              <a:t>2026/2/23</a:t>
            </a:fld>
            <a:endParaRPr kumimoji="1" lang="ja-JP" altLang="en-US"/>
          </a:p>
        </p:txBody>
      </p:sp>
      <p:sp>
        <p:nvSpPr>
          <p:cNvPr id="4" name="フッター プレースホルダー 3">
            <a:extLst>
              <a:ext uri="{FF2B5EF4-FFF2-40B4-BE49-F238E27FC236}">
                <a16:creationId xmlns:a16="http://schemas.microsoft.com/office/drawing/2014/main" id="{E9252C05-C921-9229-8C0B-52A3AC6A7D5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6C550C42-3EE9-23AD-0B9D-98341CBB075E}"/>
              </a:ext>
            </a:extLst>
          </p:cNvPr>
          <p:cNvSpPr>
            <a:spLocks noGrp="1"/>
          </p:cNvSpPr>
          <p:nvPr>
            <p:ph type="sldNum" sz="quarter" idx="12"/>
          </p:nvPr>
        </p:nvSpPr>
        <p:spPr/>
        <p:txBody>
          <a:body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3812422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A2C2E1C3-9CD4-87E9-B6A5-FA5ACAAF41DD}"/>
              </a:ext>
            </a:extLst>
          </p:cNvPr>
          <p:cNvSpPr>
            <a:spLocks noGrp="1"/>
          </p:cNvSpPr>
          <p:nvPr>
            <p:ph type="dt" sz="half" idx="10"/>
          </p:nvPr>
        </p:nvSpPr>
        <p:spPr/>
        <p:txBody>
          <a:bodyPr/>
          <a:lstStyle/>
          <a:p>
            <a:fld id="{18468D82-99D3-4AA5-B6FE-EEFEFE0B1F6E}" type="datetimeFigureOut">
              <a:rPr kumimoji="1" lang="ja-JP" altLang="en-US" smtClean="0"/>
              <a:t>2026/2/23</a:t>
            </a:fld>
            <a:endParaRPr kumimoji="1" lang="ja-JP" altLang="en-US"/>
          </a:p>
        </p:txBody>
      </p:sp>
      <p:sp>
        <p:nvSpPr>
          <p:cNvPr id="3" name="フッター プレースホルダー 2">
            <a:extLst>
              <a:ext uri="{FF2B5EF4-FFF2-40B4-BE49-F238E27FC236}">
                <a16:creationId xmlns:a16="http://schemas.microsoft.com/office/drawing/2014/main" id="{FE092CDD-4E9E-8836-1EA6-4CA9EADE8125}"/>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E7D659E-CC81-ED5D-9B06-6121D092807E}"/>
              </a:ext>
            </a:extLst>
          </p:cNvPr>
          <p:cNvSpPr>
            <a:spLocks noGrp="1"/>
          </p:cNvSpPr>
          <p:nvPr>
            <p:ph type="sldNum" sz="quarter" idx="12"/>
          </p:nvPr>
        </p:nvSpPr>
        <p:spPr/>
        <p:txBody>
          <a:body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3981205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B31AFFE-E62A-C169-2215-ABF8289B247D}"/>
              </a:ext>
            </a:extLst>
          </p:cNvPr>
          <p:cNvSpPr>
            <a:spLocks noGrp="1"/>
          </p:cNvSpPr>
          <p:nvPr>
            <p:ph type="title"/>
          </p:nvPr>
        </p:nvSpPr>
        <p:spPr>
          <a:xfrm>
            <a:off x="629841" y="457200"/>
            <a:ext cx="2949178"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CE4756E-F9FA-18FB-018F-1F5CFCBBAD01}"/>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320AAF1D-0C83-75E2-EE9B-CACE9CC0C786}"/>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35CA1F7-22CB-A445-120D-4FE76A6859C8}"/>
              </a:ext>
            </a:extLst>
          </p:cNvPr>
          <p:cNvSpPr>
            <a:spLocks noGrp="1"/>
          </p:cNvSpPr>
          <p:nvPr>
            <p:ph type="dt" sz="half" idx="10"/>
          </p:nvPr>
        </p:nvSpPr>
        <p:spPr/>
        <p:txBody>
          <a:bodyPr/>
          <a:lstStyle/>
          <a:p>
            <a:fld id="{18468D82-99D3-4AA5-B6FE-EEFEFE0B1F6E}" type="datetimeFigureOut">
              <a:rPr kumimoji="1" lang="ja-JP" altLang="en-US" smtClean="0"/>
              <a:t>2026/2/23</a:t>
            </a:fld>
            <a:endParaRPr kumimoji="1" lang="ja-JP" altLang="en-US"/>
          </a:p>
        </p:txBody>
      </p:sp>
      <p:sp>
        <p:nvSpPr>
          <p:cNvPr id="6" name="フッター プレースホルダー 5">
            <a:extLst>
              <a:ext uri="{FF2B5EF4-FFF2-40B4-BE49-F238E27FC236}">
                <a16:creationId xmlns:a16="http://schemas.microsoft.com/office/drawing/2014/main" id="{491517BE-4DBD-0E9E-E5C7-CCE41655E57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692CD7F-92FC-8624-4B65-14DEC508D761}"/>
              </a:ext>
            </a:extLst>
          </p:cNvPr>
          <p:cNvSpPr>
            <a:spLocks noGrp="1"/>
          </p:cNvSpPr>
          <p:nvPr>
            <p:ph type="sldNum" sz="quarter" idx="12"/>
          </p:nvPr>
        </p:nvSpPr>
        <p:spPr/>
        <p:txBody>
          <a:body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34988285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212DD6-2A03-BA78-1616-3E78A51F39F3}"/>
              </a:ext>
            </a:extLst>
          </p:cNvPr>
          <p:cNvSpPr>
            <a:spLocks noGrp="1"/>
          </p:cNvSpPr>
          <p:nvPr>
            <p:ph type="title"/>
          </p:nvPr>
        </p:nvSpPr>
        <p:spPr>
          <a:xfrm>
            <a:off x="629841" y="457200"/>
            <a:ext cx="2949178"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17CE641-4D0D-C298-AD91-FBB844954F09}"/>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F5EDA27-C274-67B5-2766-556C4A47F884}"/>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07D2887-6907-BDD6-51DD-ED13B0CC9F8A}"/>
              </a:ext>
            </a:extLst>
          </p:cNvPr>
          <p:cNvSpPr>
            <a:spLocks noGrp="1"/>
          </p:cNvSpPr>
          <p:nvPr>
            <p:ph type="dt" sz="half" idx="10"/>
          </p:nvPr>
        </p:nvSpPr>
        <p:spPr/>
        <p:txBody>
          <a:bodyPr/>
          <a:lstStyle/>
          <a:p>
            <a:fld id="{18468D82-99D3-4AA5-B6FE-EEFEFE0B1F6E}" type="datetimeFigureOut">
              <a:rPr kumimoji="1" lang="ja-JP" altLang="en-US" smtClean="0"/>
              <a:t>2026/2/23</a:t>
            </a:fld>
            <a:endParaRPr kumimoji="1" lang="ja-JP" altLang="en-US"/>
          </a:p>
        </p:txBody>
      </p:sp>
      <p:sp>
        <p:nvSpPr>
          <p:cNvPr id="6" name="フッター プレースホルダー 5">
            <a:extLst>
              <a:ext uri="{FF2B5EF4-FFF2-40B4-BE49-F238E27FC236}">
                <a16:creationId xmlns:a16="http://schemas.microsoft.com/office/drawing/2014/main" id="{8D0F2BA3-ABF8-3705-961F-2E944CB711C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D8A1693-6BE1-7303-A352-BB31CF3B9ED3}"/>
              </a:ext>
            </a:extLst>
          </p:cNvPr>
          <p:cNvSpPr>
            <a:spLocks noGrp="1"/>
          </p:cNvSpPr>
          <p:nvPr>
            <p:ph type="sldNum" sz="quarter" idx="12"/>
          </p:nvPr>
        </p:nvSpPr>
        <p:spPr/>
        <p:txBody>
          <a:body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121879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18994D-E781-FDB6-3B9B-2BEF713B577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8E81BA7-82E4-B2FD-C3C0-61781F04135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D5A1A8A-16F8-0A12-A4F0-CC42746471F9}"/>
              </a:ext>
            </a:extLst>
          </p:cNvPr>
          <p:cNvSpPr>
            <a:spLocks noGrp="1"/>
          </p:cNvSpPr>
          <p:nvPr>
            <p:ph type="dt" sz="half" idx="10"/>
          </p:nvPr>
        </p:nvSpPr>
        <p:spPr/>
        <p:txBody>
          <a:bodyPr/>
          <a:lstStyle/>
          <a:p>
            <a:fld id="{18468D82-99D3-4AA5-B6FE-EEFEFE0B1F6E}" type="datetimeFigureOut">
              <a:rPr kumimoji="1" lang="ja-JP" altLang="en-US" smtClean="0"/>
              <a:t>2026/2/23</a:t>
            </a:fld>
            <a:endParaRPr kumimoji="1" lang="ja-JP" altLang="en-US"/>
          </a:p>
        </p:txBody>
      </p:sp>
      <p:sp>
        <p:nvSpPr>
          <p:cNvPr id="5" name="フッター プレースホルダー 4">
            <a:extLst>
              <a:ext uri="{FF2B5EF4-FFF2-40B4-BE49-F238E27FC236}">
                <a16:creationId xmlns:a16="http://schemas.microsoft.com/office/drawing/2014/main" id="{96A99BDB-D8D5-9406-8FED-C6CA6C31374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CABE802-B352-5A99-066B-D238BA5DEBC6}"/>
              </a:ext>
            </a:extLst>
          </p:cNvPr>
          <p:cNvSpPr>
            <a:spLocks noGrp="1"/>
          </p:cNvSpPr>
          <p:nvPr>
            <p:ph type="sldNum" sz="quarter" idx="12"/>
          </p:nvPr>
        </p:nvSpPr>
        <p:spPr/>
        <p:txBody>
          <a:body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3268964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D41BAE8-8FAD-E775-429E-A30EED06428F}"/>
              </a:ext>
            </a:extLst>
          </p:cNvPr>
          <p:cNvSpPr>
            <a:spLocks noGrp="1"/>
          </p:cNvSpPr>
          <p:nvPr>
            <p:ph type="title" orient="vert"/>
          </p:nvPr>
        </p:nvSpPr>
        <p:spPr>
          <a:xfrm>
            <a:off x="6543675" y="365125"/>
            <a:ext cx="1971675"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8CE8A92-9465-6CDD-FC84-0448F618269F}"/>
              </a:ext>
            </a:extLst>
          </p:cNvPr>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E008344-7514-C2FF-3725-7A2670F59CF6}"/>
              </a:ext>
            </a:extLst>
          </p:cNvPr>
          <p:cNvSpPr>
            <a:spLocks noGrp="1"/>
          </p:cNvSpPr>
          <p:nvPr>
            <p:ph type="dt" sz="half" idx="10"/>
          </p:nvPr>
        </p:nvSpPr>
        <p:spPr/>
        <p:txBody>
          <a:bodyPr/>
          <a:lstStyle/>
          <a:p>
            <a:fld id="{18468D82-99D3-4AA5-B6FE-EEFEFE0B1F6E}" type="datetimeFigureOut">
              <a:rPr kumimoji="1" lang="ja-JP" altLang="en-US" smtClean="0"/>
              <a:t>2026/2/23</a:t>
            </a:fld>
            <a:endParaRPr kumimoji="1" lang="ja-JP" altLang="en-US"/>
          </a:p>
        </p:txBody>
      </p:sp>
      <p:sp>
        <p:nvSpPr>
          <p:cNvPr id="5" name="フッター プレースホルダー 4">
            <a:extLst>
              <a:ext uri="{FF2B5EF4-FFF2-40B4-BE49-F238E27FC236}">
                <a16:creationId xmlns:a16="http://schemas.microsoft.com/office/drawing/2014/main" id="{B4765B08-A2D7-BDDD-CCFC-0535EB126AA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2632102-5E37-4165-A3D2-3472A22052AF}"/>
              </a:ext>
            </a:extLst>
          </p:cNvPr>
          <p:cNvSpPr>
            <a:spLocks noGrp="1"/>
          </p:cNvSpPr>
          <p:nvPr>
            <p:ph type="sldNum" sz="quarter" idx="12"/>
          </p:nvPr>
        </p:nvSpPr>
        <p:spPr/>
        <p:txBody>
          <a:body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605790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DAB990E-AAD4-34C3-F638-0D7BCEC4690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35581BC-BD1B-675B-7786-F5E9A2AEC8D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7DECA05-CB26-1C75-B895-A27495561BA0}"/>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8468D82-99D3-4AA5-B6FE-EEFEFE0B1F6E}" type="datetimeFigureOut">
              <a:rPr kumimoji="1" lang="ja-JP" altLang="en-US" smtClean="0"/>
              <a:t>2026/2/23</a:t>
            </a:fld>
            <a:endParaRPr kumimoji="1" lang="ja-JP" altLang="en-US"/>
          </a:p>
        </p:txBody>
      </p:sp>
      <p:sp>
        <p:nvSpPr>
          <p:cNvPr id="5" name="フッター プレースホルダー 4">
            <a:extLst>
              <a:ext uri="{FF2B5EF4-FFF2-40B4-BE49-F238E27FC236}">
                <a16:creationId xmlns:a16="http://schemas.microsoft.com/office/drawing/2014/main" id="{AE5B49BE-51DB-2494-B626-086303E28AC3}"/>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E043C91-0FD6-AA66-2E6D-E2BD3052DA2E}"/>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77CDFA4-C24C-4B5A-8794-8594580CD498}" type="slidenum">
              <a:rPr kumimoji="1" lang="ja-JP" altLang="en-US" smtClean="0"/>
              <a:t>‹#›</a:t>
            </a:fld>
            <a:endParaRPr kumimoji="1" lang="ja-JP" altLang="en-US"/>
          </a:p>
        </p:txBody>
      </p:sp>
    </p:spTree>
    <p:extLst>
      <p:ext uri="{BB962C8B-B14F-4D97-AF65-F5344CB8AC3E}">
        <p14:creationId xmlns:p14="http://schemas.microsoft.com/office/powerpoint/2010/main" val="1980510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0630FB-44F5-FBDB-55CA-D7C952DB8211}"/>
              </a:ext>
            </a:extLst>
          </p:cNvPr>
          <p:cNvSpPr>
            <a:spLocks noGrp="1"/>
          </p:cNvSpPr>
          <p:nvPr>
            <p:ph type="ctrTitle"/>
          </p:nvPr>
        </p:nvSpPr>
        <p:spPr/>
        <p:txBody>
          <a:bodyPr>
            <a:normAutofit/>
          </a:bodyPr>
          <a:lstStyle/>
          <a:p>
            <a:r>
              <a:rPr kumimoji="1" lang="en-US" altLang="ja-JP" sz="4800" b="1" dirty="0">
                <a:latin typeface="+mn-lt"/>
              </a:rPr>
              <a:t>GPPU Experiment P1</a:t>
            </a:r>
            <a:br>
              <a:rPr kumimoji="1" lang="en-US" altLang="ja-JP" sz="4800" b="1" dirty="0">
                <a:latin typeface="+mn-lt"/>
              </a:rPr>
            </a:br>
            <a:r>
              <a:rPr kumimoji="1" lang="en-US" altLang="ja-JP" sz="4800" b="1" dirty="0">
                <a:latin typeface="+mn-lt"/>
              </a:rPr>
              <a:t>(2025)</a:t>
            </a:r>
            <a:endParaRPr kumimoji="1" lang="ja-JP" altLang="en-US" sz="4800" b="1" dirty="0">
              <a:latin typeface="+mn-lt"/>
            </a:endParaRPr>
          </a:p>
        </p:txBody>
      </p:sp>
      <p:sp>
        <p:nvSpPr>
          <p:cNvPr id="3" name="字幕 2">
            <a:extLst>
              <a:ext uri="{FF2B5EF4-FFF2-40B4-BE49-F238E27FC236}">
                <a16:creationId xmlns:a16="http://schemas.microsoft.com/office/drawing/2014/main" id="{440E7026-A183-537B-7142-1E49BFBDE056}"/>
              </a:ext>
            </a:extLst>
          </p:cNvPr>
          <p:cNvSpPr>
            <a:spLocks noGrp="1"/>
          </p:cNvSpPr>
          <p:nvPr>
            <p:ph type="subTitle" idx="1"/>
          </p:nvPr>
        </p:nvSpPr>
        <p:spPr>
          <a:xfrm>
            <a:off x="1143000" y="3602038"/>
            <a:ext cx="6858000" cy="952033"/>
          </a:xfrm>
        </p:spPr>
        <p:txBody>
          <a:bodyPr/>
          <a:lstStyle/>
          <a:p>
            <a:r>
              <a:rPr kumimoji="1" lang="en-US" altLang="ja-JP" b="1" dirty="0"/>
              <a:t>2026/2/24 – 2/26</a:t>
            </a:r>
          </a:p>
          <a:p>
            <a:r>
              <a:rPr lang="en-US" altLang="ja-JP" b="1" dirty="0"/>
              <a:t>RCNS I-03</a:t>
            </a:r>
          </a:p>
        </p:txBody>
      </p:sp>
      <p:sp>
        <p:nvSpPr>
          <p:cNvPr id="4" name="テキスト ボックス 3">
            <a:extLst>
              <a:ext uri="{FF2B5EF4-FFF2-40B4-BE49-F238E27FC236}">
                <a16:creationId xmlns:a16="http://schemas.microsoft.com/office/drawing/2014/main" id="{B296FFB3-E6D3-FA84-D8BC-AC2C6CC7116B}"/>
              </a:ext>
            </a:extLst>
          </p:cNvPr>
          <p:cNvSpPr txBox="1"/>
          <p:nvPr/>
        </p:nvSpPr>
        <p:spPr>
          <a:xfrm>
            <a:off x="1275735" y="5198806"/>
            <a:ext cx="3541354" cy="923330"/>
          </a:xfrm>
          <a:prstGeom prst="rect">
            <a:avLst/>
          </a:prstGeom>
          <a:noFill/>
        </p:spPr>
        <p:txBody>
          <a:bodyPr wrap="none" rtlCol="0">
            <a:spAutoFit/>
          </a:bodyPr>
          <a:lstStyle/>
          <a:p>
            <a:r>
              <a:rPr kumimoji="1" lang="en-US" altLang="ja-JP" dirty="0">
                <a:highlight>
                  <a:srgbClr val="FFFF00"/>
                </a:highlight>
              </a:rPr>
              <a:t>Name:</a:t>
            </a:r>
          </a:p>
          <a:p>
            <a:r>
              <a:rPr lang="en-US" altLang="ja-JP" dirty="0">
                <a:highlight>
                  <a:srgbClr val="FFFF00"/>
                </a:highlight>
              </a:rPr>
              <a:t>E-mail:</a:t>
            </a:r>
          </a:p>
          <a:p>
            <a:r>
              <a:rPr kumimoji="1" lang="en-US" altLang="ja-JP" dirty="0">
                <a:highlight>
                  <a:srgbClr val="FFFF00"/>
                </a:highlight>
              </a:rPr>
              <a:t>Finish date/time : 2026/2/    :   </a:t>
            </a:r>
            <a:endParaRPr kumimoji="1" lang="ja-JP" altLang="en-US" dirty="0">
              <a:highlight>
                <a:srgbClr val="FFFF00"/>
              </a:highlight>
            </a:endParaRPr>
          </a:p>
        </p:txBody>
      </p:sp>
    </p:spTree>
    <p:extLst>
      <p:ext uri="{BB962C8B-B14F-4D97-AF65-F5344CB8AC3E}">
        <p14:creationId xmlns:p14="http://schemas.microsoft.com/office/powerpoint/2010/main" val="1873628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FDC139-5DA5-3839-352E-61C516AF2BC1}"/>
              </a:ext>
            </a:extLst>
          </p:cNvPr>
          <p:cNvSpPr>
            <a:spLocks noGrp="1"/>
          </p:cNvSpPr>
          <p:nvPr>
            <p:ph type="title"/>
          </p:nvPr>
        </p:nvSpPr>
        <p:spPr/>
        <p:txBody>
          <a:bodyPr/>
          <a:lstStyle/>
          <a:p>
            <a:r>
              <a:rPr kumimoji="1" lang="en-US" altLang="ja-JP" dirty="0"/>
              <a:t>Rule</a:t>
            </a:r>
            <a:endParaRPr kumimoji="1" lang="ja-JP" altLang="en-US" dirty="0"/>
          </a:p>
        </p:txBody>
      </p:sp>
      <p:sp>
        <p:nvSpPr>
          <p:cNvPr id="3" name="コンテンツ プレースホルダー 2">
            <a:extLst>
              <a:ext uri="{FF2B5EF4-FFF2-40B4-BE49-F238E27FC236}">
                <a16:creationId xmlns:a16="http://schemas.microsoft.com/office/drawing/2014/main" id="{A952ADA1-BBFE-1727-093C-D17C4EA71D58}"/>
              </a:ext>
            </a:extLst>
          </p:cNvPr>
          <p:cNvSpPr>
            <a:spLocks noGrp="1"/>
          </p:cNvSpPr>
          <p:nvPr>
            <p:ph idx="1"/>
          </p:nvPr>
        </p:nvSpPr>
        <p:spPr/>
        <p:txBody>
          <a:bodyPr/>
          <a:lstStyle/>
          <a:p>
            <a:r>
              <a:rPr kumimoji="1" lang="en-US" altLang="ja-JP" dirty="0"/>
              <a:t>Do not </a:t>
            </a:r>
            <a:r>
              <a:rPr lang="en-US" altLang="ja-JP" dirty="0"/>
              <a:t>rewrite</a:t>
            </a:r>
            <a:r>
              <a:rPr kumimoji="1" lang="en-US" altLang="ja-JP" dirty="0"/>
              <a:t> </a:t>
            </a:r>
            <a:r>
              <a:rPr lang="en-US" altLang="ja-JP" dirty="0"/>
              <a:t>program codes used in your laboratory or written by your senior students.</a:t>
            </a:r>
          </a:p>
          <a:p>
            <a:r>
              <a:rPr lang="en-US" altLang="ja-JP" dirty="0"/>
              <a:t>Please write your code by yourself or using the base codes in the laptop PC.</a:t>
            </a:r>
          </a:p>
          <a:p>
            <a:pPr marL="0" indent="0">
              <a:buNone/>
            </a:pPr>
            <a:endParaRPr kumimoji="1" lang="ja-JP" altLang="en-US" dirty="0"/>
          </a:p>
        </p:txBody>
      </p:sp>
    </p:spTree>
    <p:extLst>
      <p:ext uri="{BB962C8B-B14F-4D97-AF65-F5344CB8AC3E}">
        <p14:creationId xmlns:p14="http://schemas.microsoft.com/office/powerpoint/2010/main" val="3209680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グループ化 22"/>
          <p:cNvGrpSpPr/>
          <p:nvPr/>
        </p:nvGrpSpPr>
        <p:grpSpPr>
          <a:xfrm>
            <a:off x="1115616" y="1340768"/>
            <a:ext cx="6336704" cy="3537103"/>
            <a:chOff x="971600" y="188640"/>
            <a:chExt cx="6336704" cy="3537103"/>
          </a:xfrm>
        </p:grpSpPr>
        <p:sp>
          <p:nvSpPr>
            <p:cNvPr id="4" name="楕円 3"/>
            <p:cNvSpPr/>
            <p:nvPr/>
          </p:nvSpPr>
          <p:spPr>
            <a:xfrm>
              <a:off x="3491880" y="1988840"/>
              <a:ext cx="720080" cy="720080"/>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tx1"/>
                  </a:solidFill>
                </a:rPr>
                <a:t>e-</a:t>
              </a:r>
              <a:endParaRPr kumimoji="1" lang="ja-JP" altLang="en-US" sz="2400" dirty="0">
                <a:solidFill>
                  <a:schemeClr val="tx1"/>
                </a:solidFill>
              </a:endParaRPr>
            </a:p>
          </p:txBody>
        </p:sp>
        <p:cxnSp>
          <p:nvCxnSpPr>
            <p:cNvPr id="6" name="直線矢印コネクタ 5"/>
            <p:cNvCxnSpPr>
              <a:endCxn id="4" idx="0"/>
            </p:cNvCxnSpPr>
            <p:nvPr/>
          </p:nvCxnSpPr>
          <p:spPr>
            <a:xfrm>
              <a:off x="971600" y="1988840"/>
              <a:ext cx="2880320"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直線矢印コネクタ 7"/>
            <p:cNvCxnSpPr>
              <a:stCxn id="4" idx="0"/>
            </p:cNvCxnSpPr>
            <p:nvPr/>
          </p:nvCxnSpPr>
          <p:spPr>
            <a:xfrm flipV="1">
              <a:off x="3851920" y="548680"/>
              <a:ext cx="2160240" cy="144016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直線矢印コネクタ 10"/>
            <p:cNvCxnSpPr>
              <a:stCxn id="4" idx="5"/>
            </p:cNvCxnSpPr>
            <p:nvPr/>
          </p:nvCxnSpPr>
          <p:spPr>
            <a:xfrm>
              <a:off x="4106507" y="2603467"/>
              <a:ext cx="1113565" cy="825533"/>
            </a:xfrm>
            <a:prstGeom prst="straightConnector1">
              <a:avLst/>
            </a:prstGeom>
            <a:ln w="3810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a:stCxn id="4" idx="0"/>
            </p:cNvCxnSpPr>
            <p:nvPr/>
          </p:nvCxnSpPr>
          <p:spPr>
            <a:xfrm>
              <a:off x="3851920" y="1988840"/>
              <a:ext cx="3456384" cy="0"/>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16" name="円弧 15"/>
            <p:cNvSpPr/>
            <p:nvPr/>
          </p:nvSpPr>
          <p:spPr>
            <a:xfrm>
              <a:off x="3131840" y="1268760"/>
              <a:ext cx="1440160" cy="1440160"/>
            </a:xfrm>
            <a:prstGeom prst="arc">
              <a:avLst>
                <a:gd name="adj1" fmla="val 19616377"/>
                <a:gd name="adj2" fmla="val 0"/>
              </a:avLst>
            </a:prstGeom>
            <a:ln w="508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dirty="0"/>
            </a:p>
          </p:txBody>
        </p:sp>
        <p:sp>
          <p:nvSpPr>
            <p:cNvPr id="17" name="テキスト ボックス 16"/>
            <p:cNvSpPr txBox="1"/>
            <p:nvPr/>
          </p:nvSpPr>
          <p:spPr>
            <a:xfrm>
              <a:off x="4673382" y="1476073"/>
              <a:ext cx="402674" cy="584775"/>
            </a:xfrm>
            <a:prstGeom prst="rect">
              <a:avLst/>
            </a:prstGeom>
            <a:noFill/>
          </p:spPr>
          <p:txBody>
            <a:bodyPr wrap="none" rtlCol="0">
              <a:spAutoFit/>
            </a:bodyPr>
            <a:lstStyle/>
            <a:p>
              <a:r>
                <a:rPr lang="en-US" altLang="ja-JP" sz="3200" dirty="0"/>
                <a:t>θ</a:t>
              </a:r>
              <a:endParaRPr kumimoji="1" lang="ja-JP" altLang="en-US" sz="3200" dirty="0"/>
            </a:p>
          </p:txBody>
        </p:sp>
        <p:sp>
          <p:nvSpPr>
            <p:cNvPr id="18" name="テキスト ボックス 17"/>
            <p:cNvSpPr txBox="1"/>
            <p:nvPr/>
          </p:nvSpPr>
          <p:spPr>
            <a:xfrm>
              <a:off x="1115616" y="1412776"/>
              <a:ext cx="490840" cy="584775"/>
            </a:xfrm>
            <a:prstGeom prst="rect">
              <a:avLst/>
            </a:prstGeom>
            <a:noFill/>
          </p:spPr>
          <p:txBody>
            <a:bodyPr wrap="none" rtlCol="0">
              <a:spAutoFit/>
            </a:bodyPr>
            <a:lstStyle/>
            <a:p>
              <a:r>
                <a:rPr kumimoji="1" lang="en-US" altLang="ja-JP" sz="3200" i="1" dirty="0" err="1"/>
                <a:t>E</a:t>
              </a:r>
              <a:r>
                <a:rPr kumimoji="1" lang="en-US" altLang="ja-JP" sz="2000" i="1" dirty="0" err="1">
                  <a:latin typeface="Symbol" panose="05050102010706020507" pitchFamily="18" charset="2"/>
                </a:rPr>
                <a:t>g</a:t>
              </a:r>
              <a:endParaRPr kumimoji="1" lang="ja-JP" altLang="en-US" sz="2000" i="1" dirty="0">
                <a:latin typeface="Symbol" panose="05050102010706020507" pitchFamily="18" charset="2"/>
              </a:endParaRPr>
            </a:p>
          </p:txBody>
        </p:sp>
        <p:sp>
          <p:nvSpPr>
            <p:cNvPr id="19" name="テキスト ボックス 18"/>
            <p:cNvSpPr txBox="1"/>
            <p:nvPr/>
          </p:nvSpPr>
          <p:spPr>
            <a:xfrm>
              <a:off x="6156176" y="188640"/>
              <a:ext cx="593432" cy="584775"/>
            </a:xfrm>
            <a:prstGeom prst="rect">
              <a:avLst/>
            </a:prstGeom>
            <a:noFill/>
          </p:spPr>
          <p:txBody>
            <a:bodyPr wrap="none" rtlCol="0">
              <a:spAutoFit/>
            </a:bodyPr>
            <a:lstStyle/>
            <a:p>
              <a:r>
                <a:rPr kumimoji="1" lang="en-US" altLang="ja-JP" sz="3200" i="1" dirty="0" err="1"/>
                <a:t>E’</a:t>
              </a:r>
              <a:r>
                <a:rPr kumimoji="1" lang="en-US" altLang="ja-JP" sz="2000" i="1" dirty="0" err="1">
                  <a:latin typeface="Symbol" panose="05050102010706020507" pitchFamily="18" charset="2"/>
                </a:rPr>
                <a:t>g</a:t>
              </a:r>
              <a:endParaRPr kumimoji="1" lang="ja-JP" altLang="en-US" sz="2000" i="1" dirty="0">
                <a:latin typeface="Symbol" panose="05050102010706020507" pitchFamily="18" charset="2"/>
              </a:endParaRPr>
            </a:p>
          </p:txBody>
        </p:sp>
        <p:sp>
          <p:nvSpPr>
            <p:cNvPr id="20" name="テキスト ボックス 19"/>
            <p:cNvSpPr txBox="1"/>
            <p:nvPr/>
          </p:nvSpPr>
          <p:spPr>
            <a:xfrm>
              <a:off x="5292080" y="3140968"/>
              <a:ext cx="609462" cy="584775"/>
            </a:xfrm>
            <a:prstGeom prst="rect">
              <a:avLst/>
            </a:prstGeom>
            <a:noFill/>
          </p:spPr>
          <p:txBody>
            <a:bodyPr wrap="none" rtlCol="0">
              <a:spAutoFit/>
            </a:bodyPr>
            <a:lstStyle/>
            <a:p>
              <a:r>
                <a:rPr kumimoji="1" lang="en-US" altLang="ja-JP" sz="3200" i="1" dirty="0" err="1"/>
                <a:t>E’</a:t>
              </a:r>
              <a:r>
                <a:rPr lang="en-US" altLang="ja-JP" sz="2000" i="1" dirty="0" err="1">
                  <a:latin typeface="+mj-lt"/>
                </a:rPr>
                <a:t>e</a:t>
              </a:r>
              <a:endParaRPr kumimoji="1" lang="ja-JP" altLang="en-US" sz="2000" i="1" dirty="0">
                <a:latin typeface="Symbol" panose="05050102010706020507" pitchFamily="18" charset="2"/>
              </a:endParaRPr>
            </a:p>
          </p:txBody>
        </p:sp>
        <p:sp>
          <p:nvSpPr>
            <p:cNvPr id="21" name="テキスト ボックス 20"/>
            <p:cNvSpPr txBox="1"/>
            <p:nvPr/>
          </p:nvSpPr>
          <p:spPr>
            <a:xfrm>
              <a:off x="3131840" y="2348880"/>
              <a:ext cx="641522" cy="584775"/>
            </a:xfrm>
            <a:prstGeom prst="rect">
              <a:avLst/>
            </a:prstGeom>
            <a:noFill/>
          </p:spPr>
          <p:txBody>
            <a:bodyPr wrap="none" rtlCol="0">
              <a:spAutoFit/>
            </a:bodyPr>
            <a:lstStyle/>
            <a:p>
              <a:r>
                <a:rPr lang="en-US" altLang="ja-JP" sz="3200" i="1" dirty="0"/>
                <a:t>m</a:t>
              </a:r>
              <a:r>
                <a:rPr lang="en-US" altLang="ja-JP" sz="2000" dirty="0">
                  <a:latin typeface="+mj-lt"/>
                </a:rPr>
                <a:t>e</a:t>
              </a:r>
              <a:endParaRPr kumimoji="1" lang="ja-JP" altLang="en-US" sz="2000" dirty="0">
                <a:latin typeface="Symbol" panose="05050102010706020507" pitchFamily="18" charset="2"/>
              </a:endParaRPr>
            </a:p>
          </p:txBody>
        </p:sp>
      </p:grpSp>
      <p:sp>
        <p:nvSpPr>
          <p:cNvPr id="24" name="テキスト ボックス 23"/>
          <p:cNvSpPr txBox="1"/>
          <p:nvPr/>
        </p:nvSpPr>
        <p:spPr>
          <a:xfrm>
            <a:off x="36250" y="476672"/>
            <a:ext cx="8490233" cy="830993"/>
          </a:xfrm>
          <a:prstGeom prst="rect">
            <a:avLst/>
          </a:prstGeom>
          <a:noFill/>
        </p:spPr>
        <p:txBody>
          <a:bodyPr wrap="square" rtlCol="0">
            <a:spAutoFit/>
          </a:bodyPr>
          <a:lstStyle/>
          <a:p>
            <a:r>
              <a:rPr kumimoji="1" lang="en-US" altLang="ja-JP" sz="2400" dirty="0"/>
              <a:t>1.1 Considering Compton scattering, </a:t>
            </a:r>
            <a:r>
              <a:rPr lang="en-US" altLang="ja-JP" sz="2400" dirty="0"/>
              <a:t>s</a:t>
            </a:r>
            <a:r>
              <a:rPr kumimoji="1" lang="en-US" altLang="ja-JP" sz="2400" dirty="0"/>
              <a:t>how </a:t>
            </a:r>
            <a:r>
              <a:rPr kumimoji="1" lang="en-US" altLang="ja-JP" sz="2400" b="1" i="1" dirty="0" err="1"/>
              <a:t>E’</a:t>
            </a:r>
            <a:r>
              <a:rPr kumimoji="1" lang="en-US" altLang="ja-JP" b="1" i="1" dirty="0" err="1">
                <a:latin typeface="Symbol" panose="05050102010706020507" pitchFamily="18" charset="2"/>
              </a:rPr>
              <a:t>g</a:t>
            </a:r>
            <a:r>
              <a:rPr kumimoji="1" lang="en-US" altLang="ja-JP" sz="2400" dirty="0"/>
              <a:t> and </a:t>
            </a:r>
            <a:r>
              <a:rPr kumimoji="1" lang="en-US" altLang="ja-JP" sz="2400" b="1" i="1" dirty="0" err="1"/>
              <a:t>E’</a:t>
            </a:r>
            <a:r>
              <a:rPr kumimoji="1" lang="en-US" altLang="ja-JP" b="1" i="1" dirty="0" err="1"/>
              <a:t>e</a:t>
            </a:r>
            <a:r>
              <a:rPr kumimoji="1" lang="en-US" altLang="ja-JP" sz="2400" dirty="0"/>
              <a:t> using </a:t>
            </a:r>
            <a:r>
              <a:rPr kumimoji="1" lang="en-US" altLang="ja-JP" sz="2400" b="1" i="1" dirty="0"/>
              <a:t>E</a:t>
            </a:r>
            <a:r>
              <a:rPr kumimoji="1" lang="en-US" altLang="ja-JP" b="1" i="1" dirty="0">
                <a:latin typeface="Symbol" panose="05050102010706020507" pitchFamily="18" charset="2"/>
              </a:rPr>
              <a:t>g</a:t>
            </a:r>
            <a:r>
              <a:rPr lang="en-US" altLang="ja-JP" sz="2400" dirty="0"/>
              <a:t>, </a:t>
            </a:r>
            <a:r>
              <a:rPr lang="en-US" altLang="ja-JP" sz="2400" b="1" i="1" dirty="0"/>
              <a:t>m</a:t>
            </a:r>
            <a:r>
              <a:rPr lang="en-US" altLang="ja-JP" b="1" i="1" dirty="0"/>
              <a:t>e</a:t>
            </a:r>
            <a:r>
              <a:rPr lang="en-US" altLang="ja-JP" sz="2400" dirty="0"/>
              <a:t> and </a:t>
            </a:r>
            <a:r>
              <a:rPr lang="en-US" altLang="ja-JP" sz="2400" b="1" i="1" dirty="0">
                <a:latin typeface="Symbol" panose="05050102010706020507" pitchFamily="18" charset="2"/>
              </a:rPr>
              <a:t>q</a:t>
            </a:r>
            <a:r>
              <a:rPr kumimoji="1" lang="en-US" altLang="ja-JP" sz="2400" dirty="0"/>
              <a:t> .</a:t>
            </a:r>
            <a:endParaRPr kumimoji="1" lang="ja-JP" altLang="en-US" sz="2400" dirty="0"/>
          </a:p>
        </p:txBody>
      </p:sp>
      <p:sp>
        <p:nvSpPr>
          <p:cNvPr id="25" name="テキスト ボックス 24"/>
          <p:cNvSpPr txBox="1"/>
          <p:nvPr/>
        </p:nvSpPr>
        <p:spPr>
          <a:xfrm>
            <a:off x="36250" y="5229200"/>
            <a:ext cx="8784222" cy="830997"/>
          </a:xfrm>
          <a:prstGeom prst="rect">
            <a:avLst/>
          </a:prstGeom>
          <a:noFill/>
        </p:spPr>
        <p:txBody>
          <a:bodyPr wrap="square" rtlCol="0">
            <a:spAutoFit/>
          </a:bodyPr>
          <a:lstStyle/>
          <a:p>
            <a:r>
              <a:rPr lang="en-US" altLang="ja-JP" sz="2400" dirty="0"/>
              <a:t>1.2</a:t>
            </a:r>
            <a:r>
              <a:rPr kumimoji="1" lang="en-US" altLang="ja-JP" sz="2400" dirty="0"/>
              <a:t> Calculate  </a:t>
            </a:r>
            <a:r>
              <a:rPr kumimoji="1" lang="en-US" altLang="ja-JP" sz="2400" b="1" i="1" dirty="0" err="1"/>
              <a:t>E’</a:t>
            </a:r>
            <a:r>
              <a:rPr kumimoji="1" lang="en-US" altLang="ja-JP" b="1" i="1" dirty="0" err="1">
                <a:latin typeface="Symbol" panose="05050102010706020507" pitchFamily="18" charset="2"/>
              </a:rPr>
              <a:t>g</a:t>
            </a:r>
            <a:r>
              <a:rPr kumimoji="1" lang="en-US" altLang="ja-JP" sz="2400" dirty="0"/>
              <a:t> and </a:t>
            </a:r>
            <a:r>
              <a:rPr kumimoji="1" lang="en-US" altLang="ja-JP" sz="2400" b="1" i="1" dirty="0" err="1"/>
              <a:t>E’</a:t>
            </a:r>
            <a:r>
              <a:rPr kumimoji="1" lang="en-US" altLang="ja-JP" b="1" i="1" dirty="0" err="1"/>
              <a:t>e</a:t>
            </a:r>
            <a:r>
              <a:rPr kumimoji="1" lang="en-US" altLang="ja-JP" sz="2400" dirty="0"/>
              <a:t>  </a:t>
            </a:r>
            <a:r>
              <a:rPr lang="en-US" altLang="ja-JP" sz="2400" dirty="0"/>
              <a:t>when </a:t>
            </a:r>
            <a:r>
              <a:rPr kumimoji="1" lang="en-US" altLang="ja-JP" sz="2400" dirty="0"/>
              <a:t> </a:t>
            </a:r>
            <a:r>
              <a:rPr kumimoji="1" lang="en-US" altLang="ja-JP" sz="2400" b="1" i="1" dirty="0"/>
              <a:t>E</a:t>
            </a:r>
            <a:r>
              <a:rPr kumimoji="1" lang="en-US" altLang="ja-JP" b="1" i="1" dirty="0">
                <a:latin typeface="Symbol" panose="05050102010706020507" pitchFamily="18" charset="2"/>
              </a:rPr>
              <a:t>g </a:t>
            </a:r>
            <a:r>
              <a:rPr lang="en-US" altLang="ja-JP" sz="2400" dirty="0"/>
              <a:t>=1.0[MeV], </a:t>
            </a:r>
            <a:r>
              <a:rPr lang="en-US" altLang="ja-JP" sz="2400" b="1" i="1" dirty="0"/>
              <a:t>m</a:t>
            </a:r>
            <a:r>
              <a:rPr lang="en-US" altLang="ja-JP" b="1" i="1" dirty="0"/>
              <a:t>e</a:t>
            </a:r>
            <a:r>
              <a:rPr lang="en-US" altLang="ja-JP" sz="2400" dirty="0"/>
              <a:t> =0.511 [MeV/c</a:t>
            </a:r>
            <a:r>
              <a:rPr lang="en-US" altLang="ja-JP" sz="2400" baseline="30000" dirty="0"/>
              <a:t>2</a:t>
            </a:r>
            <a:r>
              <a:rPr lang="en-US" altLang="ja-JP" sz="2400" dirty="0"/>
              <a:t>] and </a:t>
            </a:r>
            <a:r>
              <a:rPr lang="en-US" altLang="ja-JP" sz="2400" b="1" i="1" dirty="0">
                <a:latin typeface="Symbol" panose="05050102010706020507" pitchFamily="18" charset="2"/>
              </a:rPr>
              <a:t>q</a:t>
            </a:r>
            <a:r>
              <a:rPr kumimoji="1" lang="en-US" altLang="ja-JP" sz="2400" dirty="0"/>
              <a:t> =180</a:t>
            </a:r>
            <a:r>
              <a:rPr kumimoji="1" lang="en-US" altLang="ja-JP" sz="2400" baseline="30000" dirty="0"/>
              <a:t>o</a:t>
            </a:r>
            <a:r>
              <a:rPr kumimoji="1" lang="en-US" altLang="ja-JP" sz="2400" dirty="0"/>
              <a:t>.</a:t>
            </a:r>
            <a:endParaRPr kumimoji="1" lang="ja-JP" altLang="en-US" sz="2400" dirty="0"/>
          </a:p>
        </p:txBody>
      </p:sp>
    </p:spTree>
    <p:extLst>
      <p:ext uri="{BB962C8B-B14F-4D97-AF65-F5344CB8AC3E}">
        <p14:creationId xmlns:p14="http://schemas.microsoft.com/office/powerpoint/2010/main" val="1362802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0573C72-59FB-40AF-A8AA-2620916B5A3D}"/>
              </a:ext>
            </a:extLst>
          </p:cNvPr>
          <p:cNvSpPr/>
          <p:nvPr/>
        </p:nvSpPr>
        <p:spPr>
          <a:xfrm>
            <a:off x="107504" y="116632"/>
            <a:ext cx="8856984" cy="6552728"/>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8D96B8CD-DBBB-4769-9D28-35B7E2E79E0D}"/>
              </a:ext>
            </a:extLst>
          </p:cNvPr>
          <p:cNvSpPr txBox="1"/>
          <p:nvPr/>
        </p:nvSpPr>
        <p:spPr>
          <a:xfrm>
            <a:off x="83956" y="170190"/>
            <a:ext cx="2319892" cy="369332"/>
          </a:xfrm>
          <a:prstGeom prst="rect">
            <a:avLst/>
          </a:prstGeom>
          <a:noFill/>
        </p:spPr>
        <p:txBody>
          <a:bodyPr wrap="square" rtlCol="0">
            <a:spAutoFit/>
          </a:bodyPr>
          <a:lstStyle/>
          <a:p>
            <a:r>
              <a:rPr kumimoji="1" lang="en-US" altLang="ja-JP" dirty="0"/>
              <a:t>Calculation page</a:t>
            </a:r>
            <a:endParaRPr kumimoji="1" lang="ja-JP" altLang="en-US" dirty="0"/>
          </a:p>
        </p:txBody>
      </p:sp>
    </p:spTree>
    <p:extLst>
      <p:ext uri="{BB962C8B-B14F-4D97-AF65-F5344CB8AC3E}">
        <p14:creationId xmlns:p14="http://schemas.microsoft.com/office/powerpoint/2010/main" val="15115121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グループ化 13">
            <a:extLst>
              <a:ext uri="{FF2B5EF4-FFF2-40B4-BE49-F238E27FC236}">
                <a16:creationId xmlns:a16="http://schemas.microsoft.com/office/drawing/2014/main" id="{4C8BC269-0DC1-23F5-EFC4-9F4E2B47D4C6}"/>
              </a:ext>
            </a:extLst>
          </p:cNvPr>
          <p:cNvGrpSpPr>
            <a:grpSpLocks noChangeAspect="1"/>
          </p:cNvGrpSpPr>
          <p:nvPr/>
        </p:nvGrpSpPr>
        <p:grpSpPr>
          <a:xfrm>
            <a:off x="3312533" y="1800959"/>
            <a:ext cx="2518935" cy="3256083"/>
            <a:chOff x="2063313" y="178520"/>
            <a:chExt cx="5029197" cy="6500955"/>
          </a:xfrm>
        </p:grpSpPr>
        <p:sp>
          <p:nvSpPr>
            <p:cNvPr id="10" name="正方形/長方形 9">
              <a:extLst>
                <a:ext uri="{FF2B5EF4-FFF2-40B4-BE49-F238E27FC236}">
                  <a16:creationId xmlns:a16="http://schemas.microsoft.com/office/drawing/2014/main" id="{894F2CD5-1984-36FD-C1F1-C76089054CC7}"/>
                </a:ext>
              </a:extLst>
            </p:cNvPr>
            <p:cNvSpPr/>
            <p:nvPr/>
          </p:nvSpPr>
          <p:spPr>
            <a:xfrm>
              <a:off x="2063313" y="178520"/>
              <a:ext cx="5029197" cy="6500955"/>
            </a:xfrm>
            <a:prstGeom prst="rect">
              <a:avLst/>
            </a:prstGeom>
            <a:solidFill>
              <a:schemeClr val="bg2">
                <a:lumMod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正方形/長方形 10">
              <a:extLst>
                <a:ext uri="{FF2B5EF4-FFF2-40B4-BE49-F238E27FC236}">
                  <a16:creationId xmlns:a16="http://schemas.microsoft.com/office/drawing/2014/main" id="{093ECF4F-0F3D-A73D-CCD8-5A2CB85D6759}"/>
                </a:ext>
              </a:extLst>
            </p:cNvPr>
            <p:cNvSpPr/>
            <p:nvPr/>
          </p:nvSpPr>
          <p:spPr>
            <a:xfrm>
              <a:off x="3494895" y="1623845"/>
              <a:ext cx="2166030" cy="3610299"/>
            </a:xfrm>
            <a:prstGeom prst="rect">
              <a:avLst/>
            </a:prstGeom>
            <a:solidFill>
              <a:schemeClr val="accent2">
                <a:lumMod val="60000"/>
                <a:lumOff val="40000"/>
              </a:schemeClr>
            </a:solidFill>
            <a:ln w="63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1F9C2CF4-FB8E-9385-B443-CD21F06D0F53}"/>
                </a:ext>
              </a:extLst>
            </p:cNvPr>
            <p:cNvSpPr/>
            <p:nvPr/>
          </p:nvSpPr>
          <p:spPr>
            <a:xfrm>
              <a:off x="3858609" y="1982509"/>
              <a:ext cx="1438603" cy="2892973"/>
            </a:xfrm>
            <a:prstGeom prst="rect">
              <a:avLst/>
            </a:prstGeom>
            <a:solidFill>
              <a:schemeClr val="accent4">
                <a:lumMod val="20000"/>
                <a:lumOff val="80000"/>
              </a:schemeClr>
            </a:solidFill>
            <a:ln w="635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75408031-C7B7-82CC-2355-9902B22AD4DE}"/>
              </a:ext>
            </a:extLst>
          </p:cNvPr>
          <p:cNvGrpSpPr/>
          <p:nvPr/>
        </p:nvGrpSpPr>
        <p:grpSpPr>
          <a:xfrm>
            <a:off x="967609" y="547852"/>
            <a:ext cx="7208782" cy="5762296"/>
            <a:chOff x="973521" y="547852"/>
            <a:chExt cx="7208782" cy="5762296"/>
          </a:xfrm>
        </p:grpSpPr>
        <p:cxnSp>
          <p:nvCxnSpPr>
            <p:cNvPr id="3" name="直線矢印コネクタ 2">
              <a:extLst>
                <a:ext uri="{FF2B5EF4-FFF2-40B4-BE49-F238E27FC236}">
                  <a16:creationId xmlns:a16="http://schemas.microsoft.com/office/drawing/2014/main" id="{49D9ECF0-B631-86EB-72F5-1B2A6683C1A9}"/>
                </a:ext>
              </a:extLst>
            </p:cNvPr>
            <p:cNvCxnSpPr/>
            <p:nvPr/>
          </p:nvCxnSpPr>
          <p:spPr>
            <a:xfrm>
              <a:off x="973521" y="3429000"/>
              <a:ext cx="7208782" cy="0"/>
            </a:xfrm>
            <a:prstGeom prst="straightConnector1">
              <a:avLst/>
            </a:prstGeom>
            <a:ln w="12700">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4" name="直線矢印コネクタ 3">
              <a:extLst>
                <a:ext uri="{FF2B5EF4-FFF2-40B4-BE49-F238E27FC236}">
                  <a16:creationId xmlns:a16="http://schemas.microsoft.com/office/drawing/2014/main" id="{0C21DE8C-9BF6-B548-4137-D3371F94906F}"/>
                </a:ext>
              </a:extLst>
            </p:cNvPr>
            <p:cNvCxnSpPr>
              <a:cxnSpLocks/>
            </p:cNvCxnSpPr>
            <p:nvPr/>
          </p:nvCxnSpPr>
          <p:spPr>
            <a:xfrm flipV="1">
              <a:off x="4572000" y="547852"/>
              <a:ext cx="0" cy="5762296"/>
            </a:xfrm>
            <a:prstGeom prst="straightConnector1">
              <a:avLst/>
            </a:prstGeom>
            <a:ln w="12700">
              <a:solidFill>
                <a:srgbClr val="FF0000"/>
              </a:solidFill>
              <a:tailEnd type="arrow"/>
            </a:ln>
          </p:spPr>
          <p:style>
            <a:lnRef idx="2">
              <a:schemeClr val="dk1"/>
            </a:lnRef>
            <a:fillRef idx="0">
              <a:schemeClr val="dk1"/>
            </a:fillRef>
            <a:effectRef idx="1">
              <a:schemeClr val="dk1"/>
            </a:effectRef>
            <a:fontRef idx="minor">
              <a:schemeClr val="tx1"/>
            </a:fontRef>
          </p:style>
        </p:cxnSp>
      </p:grpSp>
      <p:cxnSp>
        <p:nvCxnSpPr>
          <p:cNvPr id="16" name="直線コネクタ 15">
            <a:extLst>
              <a:ext uri="{FF2B5EF4-FFF2-40B4-BE49-F238E27FC236}">
                <a16:creationId xmlns:a16="http://schemas.microsoft.com/office/drawing/2014/main" id="{D2299B51-3A1A-4B70-6E3E-8EA4F94C14E0}"/>
              </a:ext>
            </a:extLst>
          </p:cNvPr>
          <p:cNvCxnSpPr>
            <a:cxnSpLocks/>
          </p:cNvCxnSpPr>
          <p:nvPr/>
        </p:nvCxnSpPr>
        <p:spPr>
          <a:xfrm>
            <a:off x="3312533" y="547852"/>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6EC343A2-A339-2E76-AB9C-B8F92C17459C}"/>
              </a:ext>
            </a:extLst>
          </p:cNvPr>
          <p:cNvCxnSpPr>
            <a:cxnSpLocks/>
          </p:cNvCxnSpPr>
          <p:nvPr/>
        </p:nvCxnSpPr>
        <p:spPr>
          <a:xfrm>
            <a:off x="5831468" y="547852"/>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5186BD37-A881-1A75-D954-1920A4FD38E6}"/>
              </a:ext>
            </a:extLst>
          </p:cNvPr>
          <p:cNvCxnSpPr>
            <a:cxnSpLocks/>
          </p:cNvCxnSpPr>
          <p:nvPr/>
        </p:nvCxnSpPr>
        <p:spPr>
          <a:xfrm>
            <a:off x="4029558" y="917028"/>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D8989FCB-ADA6-C185-DB9E-BDF13530D57C}"/>
              </a:ext>
            </a:extLst>
          </p:cNvPr>
          <p:cNvCxnSpPr>
            <a:cxnSpLocks/>
          </p:cNvCxnSpPr>
          <p:nvPr/>
        </p:nvCxnSpPr>
        <p:spPr>
          <a:xfrm>
            <a:off x="5116913" y="917028"/>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F4F12995-13CB-0657-5C9B-0AABB2F71B44}"/>
              </a:ext>
            </a:extLst>
          </p:cNvPr>
          <p:cNvCxnSpPr>
            <a:cxnSpLocks/>
          </p:cNvCxnSpPr>
          <p:nvPr/>
        </p:nvCxnSpPr>
        <p:spPr>
          <a:xfrm>
            <a:off x="4211729" y="1272342"/>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18F150FD-C8DD-C792-1D46-DCA51EDE5B4A}"/>
              </a:ext>
            </a:extLst>
          </p:cNvPr>
          <p:cNvCxnSpPr>
            <a:cxnSpLocks/>
          </p:cNvCxnSpPr>
          <p:nvPr/>
        </p:nvCxnSpPr>
        <p:spPr>
          <a:xfrm>
            <a:off x="4932271" y="1272341"/>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4A6DD58A-7A08-A8FF-3834-D2B17F506722}"/>
              </a:ext>
            </a:extLst>
          </p:cNvPr>
          <p:cNvCxnSpPr/>
          <p:nvPr/>
        </p:nvCxnSpPr>
        <p:spPr>
          <a:xfrm>
            <a:off x="3312533" y="760686"/>
            <a:ext cx="2518935" cy="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F33B8F63-FE75-BF04-72FB-4E76D3F1DAB6}"/>
              </a:ext>
            </a:extLst>
          </p:cNvPr>
          <p:cNvSpPr txBox="1"/>
          <p:nvPr/>
        </p:nvSpPr>
        <p:spPr>
          <a:xfrm>
            <a:off x="5083282" y="452515"/>
            <a:ext cx="758541" cy="369332"/>
          </a:xfrm>
          <a:prstGeom prst="rect">
            <a:avLst/>
          </a:prstGeom>
          <a:noFill/>
        </p:spPr>
        <p:txBody>
          <a:bodyPr wrap="none" rtlCol="0">
            <a:spAutoFit/>
          </a:bodyPr>
          <a:lstStyle/>
          <a:p>
            <a:r>
              <a:rPr kumimoji="1" lang="en-US" altLang="ja-JP" dirty="0"/>
              <a:t>70cm</a:t>
            </a:r>
            <a:endParaRPr kumimoji="1" lang="ja-JP" altLang="en-US" dirty="0"/>
          </a:p>
        </p:txBody>
      </p:sp>
      <p:cxnSp>
        <p:nvCxnSpPr>
          <p:cNvPr id="27" name="直線矢印コネクタ 26">
            <a:extLst>
              <a:ext uri="{FF2B5EF4-FFF2-40B4-BE49-F238E27FC236}">
                <a16:creationId xmlns:a16="http://schemas.microsoft.com/office/drawing/2014/main" id="{AD039CC7-7E12-553D-E6C5-9B82612D8814}"/>
              </a:ext>
            </a:extLst>
          </p:cNvPr>
          <p:cNvCxnSpPr>
            <a:cxnSpLocks/>
          </p:cNvCxnSpPr>
          <p:nvPr/>
        </p:nvCxnSpPr>
        <p:spPr>
          <a:xfrm>
            <a:off x="4029558" y="1047094"/>
            <a:ext cx="1084883" cy="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3D68AD10-53A5-E0FD-D6B3-1DBDB6EFBA21}"/>
              </a:ext>
            </a:extLst>
          </p:cNvPr>
          <p:cNvSpPr txBox="1"/>
          <p:nvPr/>
        </p:nvSpPr>
        <p:spPr>
          <a:xfrm>
            <a:off x="5061102" y="842718"/>
            <a:ext cx="758541" cy="369332"/>
          </a:xfrm>
          <a:prstGeom prst="rect">
            <a:avLst/>
          </a:prstGeom>
          <a:noFill/>
        </p:spPr>
        <p:txBody>
          <a:bodyPr wrap="none" rtlCol="0">
            <a:spAutoFit/>
          </a:bodyPr>
          <a:lstStyle/>
          <a:p>
            <a:r>
              <a:rPr lang="en-US" altLang="ja-JP" dirty="0"/>
              <a:t>3</a:t>
            </a:r>
            <a:r>
              <a:rPr kumimoji="1" lang="en-US" altLang="ja-JP" dirty="0"/>
              <a:t>0cm</a:t>
            </a:r>
            <a:endParaRPr kumimoji="1" lang="ja-JP" altLang="en-US" dirty="0"/>
          </a:p>
        </p:txBody>
      </p:sp>
      <p:cxnSp>
        <p:nvCxnSpPr>
          <p:cNvPr id="30" name="直線矢印コネクタ 29">
            <a:extLst>
              <a:ext uri="{FF2B5EF4-FFF2-40B4-BE49-F238E27FC236}">
                <a16:creationId xmlns:a16="http://schemas.microsoft.com/office/drawing/2014/main" id="{B0DEF318-DA36-F8BB-1310-F350469624CA}"/>
              </a:ext>
            </a:extLst>
          </p:cNvPr>
          <p:cNvCxnSpPr>
            <a:cxnSpLocks/>
          </p:cNvCxnSpPr>
          <p:nvPr/>
        </p:nvCxnSpPr>
        <p:spPr>
          <a:xfrm>
            <a:off x="4211729" y="1420212"/>
            <a:ext cx="720542" cy="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32" name="テキスト ボックス 31">
            <a:extLst>
              <a:ext uri="{FF2B5EF4-FFF2-40B4-BE49-F238E27FC236}">
                <a16:creationId xmlns:a16="http://schemas.microsoft.com/office/drawing/2014/main" id="{3CA2FF64-2F03-E745-14D5-10B131CEAABD}"/>
              </a:ext>
            </a:extLst>
          </p:cNvPr>
          <p:cNvSpPr txBox="1"/>
          <p:nvPr/>
        </p:nvSpPr>
        <p:spPr>
          <a:xfrm>
            <a:off x="5061102" y="1231760"/>
            <a:ext cx="758541" cy="369332"/>
          </a:xfrm>
          <a:prstGeom prst="rect">
            <a:avLst/>
          </a:prstGeom>
          <a:noFill/>
        </p:spPr>
        <p:txBody>
          <a:bodyPr wrap="none" rtlCol="0">
            <a:spAutoFit/>
          </a:bodyPr>
          <a:lstStyle/>
          <a:p>
            <a:r>
              <a:rPr kumimoji="1" lang="en-US" altLang="ja-JP" dirty="0"/>
              <a:t>20cm</a:t>
            </a:r>
            <a:endParaRPr kumimoji="1" lang="ja-JP" altLang="en-US" dirty="0"/>
          </a:p>
        </p:txBody>
      </p:sp>
      <p:cxnSp>
        <p:nvCxnSpPr>
          <p:cNvPr id="33" name="直線コネクタ 32">
            <a:extLst>
              <a:ext uri="{FF2B5EF4-FFF2-40B4-BE49-F238E27FC236}">
                <a16:creationId xmlns:a16="http://schemas.microsoft.com/office/drawing/2014/main" id="{000D066D-5042-CCF0-0370-0F6CAE5B05B4}"/>
              </a:ext>
            </a:extLst>
          </p:cNvPr>
          <p:cNvCxnSpPr>
            <a:cxnSpLocks/>
          </p:cNvCxnSpPr>
          <p:nvPr/>
        </p:nvCxnSpPr>
        <p:spPr>
          <a:xfrm>
            <a:off x="1682968" y="1800959"/>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C51E9A4B-9E9D-11D5-99C0-DBBC5591EC08}"/>
              </a:ext>
            </a:extLst>
          </p:cNvPr>
          <p:cNvCxnSpPr>
            <a:cxnSpLocks/>
          </p:cNvCxnSpPr>
          <p:nvPr/>
        </p:nvCxnSpPr>
        <p:spPr>
          <a:xfrm>
            <a:off x="1682968" y="5057042"/>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B911B9BA-08A6-90CC-DDC1-4442747119B4}"/>
              </a:ext>
            </a:extLst>
          </p:cNvPr>
          <p:cNvCxnSpPr>
            <a:cxnSpLocks/>
          </p:cNvCxnSpPr>
          <p:nvPr/>
        </p:nvCxnSpPr>
        <p:spPr>
          <a:xfrm>
            <a:off x="2047105" y="4333131"/>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7277E569-979D-90DE-10BA-51356C546404}"/>
              </a:ext>
            </a:extLst>
          </p:cNvPr>
          <p:cNvCxnSpPr>
            <a:cxnSpLocks/>
          </p:cNvCxnSpPr>
          <p:nvPr/>
        </p:nvCxnSpPr>
        <p:spPr>
          <a:xfrm>
            <a:off x="2047105" y="2524868"/>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2FF12CF3-6F89-E033-FDE1-AF152E3A2926}"/>
              </a:ext>
            </a:extLst>
          </p:cNvPr>
          <p:cNvCxnSpPr>
            <a:cxnSpLocks/>
          </p:cNvCxnSpPr>
          <p:nvPr/>
        </p:nvCxnSpPr>
        <p:spPr>
          <a:xfrm>
            <a:off x="2401464" y="2704509"/>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F943E0A1-072B-A671-1C2D-289FC5A69536}"/>
              </a:ext>
            </a:extLst>
          </p:cNvPr>
          <p:cNvCxnSpPr>
            <a:cxnSpLocks/>
          </p:cNvCxnSpPr>
          <p:nvPr/>
        </p:nvCxnSpPr>
        <p:spPr>
          <a:xfrm>
            <a:off x="2401464" y="4152899"/>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85E83CBB-5065-02B6-95EC-A4CBD0741579}"/>
              </a:ext>
            </a:extLst>
          </p:cNvPr>
          <p:cNvCxnSpPr>
            <a:cxnSpLocks/>
          </p:cNvCxnSpPr>
          <p:nvPr/>
        </p:nvCxnSpPr>
        <p:spPr>
          <a:xfrm>
            <a:off x="1766200" y="1800959"/>
            <a:ext cx="0" cy="3256083"/>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43" name="直線矢印コネクタ 42">
            <a:extLst>
              <a:ext uri="{FF2B5EF4-FFF2-40B4-BE49-F238E27FC236}">
                <a16:creationId xmlns:a16="http://schemas.microsoft.com/office/drawing/2014/main" id="{1B0CACCF-0EAF-68EC-3531-3B6FEEE4732C}"/>
              </a:ext>
            </a:extLst>
          </p:cNvPr>
          <p:cNvCxnSpPr>
            <a:cxnSpLocks/>
          </p:cNvCxnSpPr>
          <p:nvPr/>
        </p:nvCxnSpPr>
        <p:spPr>
          <a:xfrm>
            <a:off x="2127494" y="2524567"/>
            <a:ext cx="0" cy="1808274"/>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45" name="直線矢印コネクタ 44">
            <a:extLst>
              <a:ext uri="{FF2B5EF4-FFF2-40B4-BE49-F238E27FC236}">
                <a16:creationId xmlns:a16="http://schemas.microsoft.com/office/drawing/2014/main" id="{C5712959-D604-A6A5-2F05-DE757C64C922}"/>
              </a:ext>
            </a:extLst>
          </p:cNvPr>
          <p:cNvCxnSpPr>
            <a:cxnSpLocks/>
          </p:cNvCxnSpPr>
          <p:nvPr/>
        </p:nvCxnSpPr>
        <p:spPr>
          <a:xfrm>
            <a:off x="2512435" y="2699977"/>
            <a:ext cx="0" cy="144839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47" name="テキスト ボックス 46">
            <a:extLst>
              <a:ext uri="{FF2B5EF4-FFF2-40B4-BE49-F238E27FC236}">
                <a16:creationId xmlns:a16="http://schemas.microsoft.com/office/drawing/2014/main" id="{0F0B0E35-B12A-EEE2-005F-00A700B026B0}"/>
              </a:ext>
            </a:extLst>
          </p:cNvPr>
          <p:cNvSpPr txBox="1"/>
          <p:nvPr/>
        </p:nvSpPr>
        <p:spPr>
          <a:xfrm rot="16200000">
            <a:off x="1189465" y="2864918"/>
            <a:ext cx="758541" cy="369332"/>
          </a:xfrm>
          <a:prstGeom prst="rect">
            <a:avLst/>
          </a:prstGeom>
          <a:noFill/>
        </p:spPr>
        <p:txBody>
          <a:bodyPr wrap="none" rtlCol="0">
            <a:spAutoFit/>
          </a:bodyPr>
          <a:lstStyle/>
          <a:p>
            <a:r>
              <a:rPr lang="en-US" altLang="ja-JP" dirty="0"/>
              <a:t>9</a:t>
            </a:r>
            <a:r>
              <a:rPr kumimoji="1" lang="en-US" altLang="ja-JP" dirty="0"/>
              <a:t>0cm</a:t>
            </a:r>
            <a:endParaRPr kumimoji="1" lang="ja-JP" altLang="en-US" dirty="0"/>
          </a:p>
        </p:txBody>
      </p:sp>
      <p:sp>
        <p:nvSpPr>
          <p:cNvPr id="48" name="テキスト ボックス 47">
            <a:extLst>
              <a:ext uri="{FF2B5EF4-FFF2-40B4-BE49-F238E27FC236}">
                <a16:creationId xmlns:a16="http://schemas.microsoft.com/office/drawing/2014/main" id="{1C63D13A-EC25-47E5-421F-8A9122E4CA4F}"/>
              </a:ext>
            </a:extLst>
          </p:cNvPr>
          <p:cNvSpPr txBox="1"/>
          <p:nvPr/>
        </p:nvSpPr>
        <p:spPr>
          <a:xfrm rot="16200000">
            <a:off x="1578058" y="2864918"/>
            <a:ext cx="758541" cy="369332"/>
          </a:xfrm>
          <a:prstGeom prst="rect">
            <a:avLst/>
          </a:prstGeom>
          <a:noFill/>
        </p:spPr>
        <p:txBody>
          <a:bodyPr wrap="none" rtlCol="0">
            <a:spAutoFit/>
          </a:bodyPr>
          <a:lstStyle/>
          <a:p>
            <a:r>
              <a:rPr kumimoji="1" lang="en-US" altLang="ja-JP" dirty="0"/>
              <a:t>50cm</a:t>
            </a:r>
            <a:endParaRPr kumimoji="1" lang="ja-JP" altLang="en-US" dirty="0"/>
          </a:p>
        </p:txBody>
      </p:sp>
      <p:sp>
        <p:nvSpPr>
          <p:cNvPr id="49" name="テキスト ボックス 48">
            <a:extLst>
              <a:ext uri="{FF2B5EF4-FFF2-40B4-BE49-F238E27FC236}">
                <a16:creationId xmlns:a16="http://schemas.microsoft.com/office/drawing/2014/main" id="{4E531CF0-A14A-8C1D-C04D-B7A3DEAE0F45}"/>
              </a:ext>
            </a:extLst>
          </p:cNvPr>
          <p:cNvSpPr txBox="1"/>
          <p:nvPr/>
        </p:nvSpPr>
        <p:spPr>
          <a:xfrm rot="16200000">
            <a:off x="1966651" y="2864918"/>
            <a:ext cx="758541" cy="369332"/>
          </a:xfrm>
          <a:prstGeom prst="rect">
            <a:avLst/>
          </a:prstGeom>
          <a:noFill/>
        </p:spPr>
        <p:txBody>
          <a:bodyPr wrap="none" rtlCol="0">
            <a:spAutoFit/>
          </a:bodyPr>
          <a:lstStyle/>
          <a:p>
            <a:r>
              <a:rPr lang="en-US" altLang="ja-JP" dirty="0"/>
              <a:t>4</a:t>
            </a:r>
            <a:r>
              <a:rPr kumimoji="1" lang="en-US" altLang="ja-JP" dirty="0"/>
              <a:t>0cm</a:t>
            </a:r>
            <a:endParaRPr kumimoji="1" lang="ja-JP" altLang="en-US" dirty="0"/>
          </a:p>
        </p:txBody>
      </p:sp>
      <p:sp>
        <p:nvSpPr>
          <p:cNvPr id="50" name="テキスト ボックス 49">
            <a:extLst>
              <a:ext uri="{FF2B5EF4-FFF2-40B4-BE49-F238E27FC236}">
                <a16:creationId xmlns:a16="http://schemas.microsoft.com/office/drawing/2014/main" id="{97026E23-39AD-8A3E-9094-6F7E96E66912}"/>
              </a:ext>
            </a:extLst>
          </p:cNvPr>
          <p:cNvSpPr txBox="1"/>
          <p:nvPr/>
        </p:nvSpPr>
        <p:spPr>
          <a:xfrm>
            <a:off x="8214868" y="3167388"/>
            <a:ext cx="359394" cy="523220"/>
          </a:xfrm>
          <a:prstGeom prst="rect">
            <a:avLst/>
          </a:prstGeom>
          <a:noFill/>
        </p:spPr>
        <p:txBody>
          <a:bodyPr wrap="none" rtlCol="0">
            <a:spAutoFit/>
          </a:bodyPr>
          <a:lstStyle/>
          <a:p>
            <a:r>
              <a:rPr kumimoji="1" lang="en-US" altLang="ja-JP" sz="2800" dirty="0">
                <a:solidFill>
                  <a:srgbClr val="FF0000"/>
                </a:solidFill>
              </a:rPr>
              <a:t>x</a:t>
            </a:r>
            <a:endParaRPr kumimoji="1" lang="ja-JP" altLang="en-US" sz="2800" dirty="0">
              <a:solidFill>
                <a:srgbClr val="FF0000"/>
              </a:solidFill>
            </a:endParaRPr>
          </a:p>
        </p:txBody>
      </p:sp>
      <p:sp>
        <p:nvSpPr>
          <p:cNvPr id="52" name="テキスト ボックス 51">
            <a:extLst>
              <a:ext uri="{FF2B5EF4-FFF2-40B4-BE49-F238E27FC236}">
                <a16:creationId xmlns:a16="http://schemas.microsoft.com/office/drawing/2014/main" id="{09ABAD51-953F-0426-4D53-979E38E3D256}"/>
              </a:ext>
            </a:extLst>
          </p:cNvPr>
          <p:cNvSpPr txBox="1"/>
          <p:nvPr/>
        </p:nvSpPr>
        <p:spPr>
          <a:xfrm>
            <a:off x="4385590" y="52801"/>
            <a:ext cx="349776" cy="523220"/>
          </a:xfrm>
          <a:prstGeom prst="rect">
            <a:avLst/>
          </a:prstGeom>
          <a:noFill/>
        </p:spPr>
        <p:txBody>
          <a:bodyPr wrap="none" rtlCol="0">
            <a:spAutoFit/>
          </a:bodyPr>
          <a:lstStyle/>
          <a:p>
            <a:r>
              <a:rPr lang="en-US" altLang="ja-JP" sz="2800" dirty="0">
                <a:solidFill>
                  <a:srgbClr val="FF0000"/>
                </a:solidFill>
              </a:rPr>
              <a:t>z</a:t>
            </a:r>
            <a:endParaRPr kumimoji="1" lang="ja-JP" altLang="en-US" sz="2800" dirty="0">
              <a:solidFill>
                <a:srgbClr val="FF0000"/>
              </a:solidFill>
            </a:endParaRPr>
          </a:p>
        </p:txBody>
      </p:sp>
      <p:sp>
        <p:nvSpPr>
          <p:cNvPr id="53" name="テキスト ボックス 52">
            <a:extLst>
              <a:ext uri="{FF2B5EF4-FFF2-40B4-BE49-F238E27FC236}">
                <a16:creationId xmlns:a16="http://schemas.microsoft.com/office/drawing/2014/main" id="{877A04C5-CE28-E1FD-0720-7C3B5FEF7571}"/>
              </a:ext>
            </a:extLst>
          </p:cNvPr>
          <p:cNvSpPr txBox="1"/>
          <p:nvPr/>
        </p:nvSpPr>
        <p:spPr>
          <a:xfrm>
            <a:off x="66610" y="47433"/>
            <a:ext cx="3861955" cy="646331"/>
          </a:xfrm>
          <a:prstGeom prst="rect">
            <a:avLst/>
          </a:prstGeom>
          <a:noFill/>
        </p:spPr>
        <p:txBody>
          <a:bodyPr wrap="none" rtlCol="0">
            <a:spAutoFit/>
          </a:bodyPr>
          <a:lstStyle/>
          <a:p>
            <a:r>
              <a:rPr lang="en-US" altLang="ja-JP" dirty="0"/>
              <a:t>2.1  Basic detector design z-x view</a:t>
            </a:r>
          </a:p>
          <a:p>
            <a:r>
              <a:rPr kumimoji="1" lang="en-US" altLang="ja-JP" dirty="0"/>
              <a:t>        (@ y=0)</a:t>
            </a:r>
            <a:endParaRPr kumimoji="1" lang="ja-JP" altLang="en-US" dirty="0"/>
          </a:p>
        </p:txBody>
      </p:sp>
    </p:spTree>
    <p:extLst>
      <p:ext uri="{BB962C8B-B14F-4D97-AF65-F5344CB8AC3E}">
        <p14:creationId xmlns:p14="http://schemas.microsoft.com/office/powerpoint/2010/main" val="19564637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DF368-9420-A168-1E14-BC56B92F3B7C}"/>
            </a:ext>
          </a:extLst>
        </p:cNvPr>
        <p:cNvGrpSpPr/>
        <p:nvPr/>
      </p:nvGrpSpPr>
      <p:grpSpPr>
        <a:xfrm>
          <a:off x="0" y="0"/>
          <a:ext cx="0" cy="0"/>
          <a:chOff x="0" y="0"/>
          <a:chExt cx="0" cy="0"/>
        </a:xfrm>
      </p:grpSpPr>
      <p:grpSp>
        <p:nvGrpSpPr>
          <p:cNvPr id="14" name="グループ化 13">
            <a:extLst>
              <a:ext uri="{FF2B5EF4-FFF2-40B4-BE49-F238E27FC236}">
                <a16:creationId xmlns:a16="http://schemas.microsoft.com/office/drawing/2014/main" id="{E389567D-A925-7E43-A613-281D7B5898A9}"/>
              </a:ext>
            </a:extLst>
          </p:cNvPr>
          <p:cNvGrpSpPr>
            <a:grpSpLocks noChangeAspect="1"/>
          </p:cNvGrpSpPr>
          <p:nvPr/>
        </p:nvGrpSpPr>
        <p:grpSpPr>
          <a:xfrm>
            <a:off x="3312533" y="2169000"/>
            <a:ext cx="2518935" cy="2520000"/>
            <a:chOff x="2063313" y="913335"/>
            <a:chExt cx="5029197" cy="5031323"/>
          </a:xfrm>
        </p:grpSpPr>
        <p:sp>
          <p:nvSpPr>
            <p:cNvPr id="10" name="正方形/長方形 9">
              <a:extLst>
                <a:ext uri="{FF2B5EF4-FFF2-40B4-BE49-F238E27FC236}">
                  <a16:creationId xmlns:a16="http://schemas.microsoft.com/office/drawing/2014/main" id="{BF369812-2A45-5FAC-A583-3CA51F571298}"/>
                </a:ext>
              </a:extLst>
            </p:cNvPr>
            <p:cNvSpPr/>
            <p:nvPr/>
          </p:nvSpPr>
          <p:spPr>
            <a:xfrm>
              <a:off x="2063313" y="913335"/>
              <a:ext cx="5029197" cy="5031323"/>
            </a:xfrm>
            <a:prstGeom prst="rect">
              <a:avLst/>
            </a:prstGeom>
            <a:solidFill>
              <a:schemeClr val="bg2">
                <a:lumMod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正方形/長方形 10">
              <a:extLst>
                <a:ext uri="{FF2B5EF4-FFF2-40B4-BE49-F238E27FC236}">
                  <a16:creationId xmlns:a16="http://schemas.microsoft.com/office/drawing/2014/main" id="{6D1D51E8-B9DA-6AF4-9E2B-4AE97C00E837}"/>
                </a:ext>
              </a:extLst>
            </p:cNvPr>
            <p:cNvSpPr/>
            <p:nvPr/>
          </p:nvSpPr>
          <p:spPr>
            <a:xfrm>
              <a:off x="3494894" y="2347262"/>
              <a:ext cx="2166031" cy="2163469"/>
            </a:xfrm>
            <a:prstGeom prst="rect">
              <a:avLst/>
            </a:prstGeom>
            <a:solidFill>
              <a:schemeClr val="accent2">
                <a:lumMod val="60000"/>
                <a:lumOff val="40000"/>
              </a:schemeClr>
            </a:solidFill>
            <a:ln w="63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CEA36F21-5CD0-B436-A6DB-6A9318B15916}"/>
                </a:ext>
              </a:extLst>
            </p:cNvPr>
            <p:cNvSpPr/>
            <p:nvPr/>
          </p:nvSpPr>
          <p:spPr>
            <a:xfrm>
              <a:off x="3858609" y="2710236"/>
              <a:ext cx="1438603" cy="1437521"/>
            </a:xfrm>
            <a:prstGeom prst="rect">
              <a:avLst/>
            </a:prstGeom>
            <a:solidFill>
              <a:schemeClr val="accent4">
                <a:lumMod val="20000"/>
                <a:lumOff val="80000"/>
              </a:schemeClr>
            </a:solidFill>
            <a:ln w="635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497C8F8D-65DE-E6B0-F01E-C9517B416BDC}"/>
              </a:ext>
            </a:extLst>
          </p:cNvPr>
          <p:cNvGrpSpPr/>
          <p:nvPr/>
        </p:nvGrpSpPr>
        <p:grpSpPr>
          <a:xfrm>
            <a:off x="967609" y="547852"/>
            <a:ext cx="7208782" cy="5762296"/>
            <a:chOff x="973521" y="547852"/>
            <a:chExt cx="7208782" cy="5762296"/>
          </a:xfrm>
        </p:grpSpPr>
        <p:cxnSp>
          <p:nvCxnSpPr>
            <p:cNvPr id="3" name="直線矢印コネクタ 2">
              <a:extLst>
                <a:ext uri="{FF2B5EF4-FFF2-40B4-BE49-F238E27FC236}">
                  <a16:creationId xmlns:a16="http://schemas.microsoft.com/office/drawing/2014/main" id="{B7F7F1AF-5425-1F87-76E2-8F23C378F114}"/>
                </a:ext>
              </a:extLst>
            </p:cNvPr>
            <p:cNvCxnSpPr/>
            <p:nvPr/>
          </p:nvCxnSpPr>
          <p:spPr>
            <a:xfrm>
              <a:off x="973521" y="3429000"/>
              <a:ext cx="7208782" cy="0"/>
            </a:xfrm>
            <a:prstGeom prst="straightConnector1">
              <a:avLst/>
            </a:prstGeom>
            <a:ln w="12700">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4" name="直線矢印コネクタ 3">
              <a:extLst>
                <a:ext uri="{FF2B5EF4-FFF2-40B4-BE49-F238E27FC236}">
                  <a16:creationId xmlns:a16="http://schemas.microsoft.com/office/drawing/2014/main" id="{0FB76DB6-F07D-615F-E485-B6240DE52475}"/>
                </a:ext>
              </a:extLst>
            </p:cNvPr>
            <p:cNvCxnSpPr>
              <a:cxnSpLocks/>
            </p:cNvCxnSpPr>
            <p:nvPr/>
          </p:nvCxnSpPr>
          <p:spPr>
            <a:xfrm flipV="1">
              <a:off x="4572000" y="547852"/>
              <a:ext cx="0" cy="5762296"/>
            </a:xfrm>
            <a:prstGeom prst="straightConnector1">
              <a:avLst/>
            </a:prstGeom>
            <a:ln w="12700">
              <a:solidFill>
                <a:srgbClr val="FF0000"/>
              </a:solidFill>
              <a:tailEnd type="arrow"/>
            </a:ln>
          </p:spPr>
          <p:style>
            <a:lnRef idx="2">
              <a:schemeClr val="dk1"/>
            </a:lnRef>
            <a:fillRef idx="0">
              <a:schemeClr val="dk1"/>
            </a:fillRef>
            <a:effectRef idx="1">
              <a:schemeClr val="dk1"/>
            </a:effectRef>
            <a:fontRef idx="minor">
              <a:schemeClr val="tx1"/>
            </a:fontRef>
          </p:style>
        </p:cxnSp>
      </p:grpSp>
      <p:cxnSp>
        <p:nvCxnSpPr>
          <p:cNvPr id="16" name="直線コネクタ 15">
            <a:extLst>
              <a:ext uri="{FF2B5EF4-FFF2-40B4-BE49-F238E27FC236}">
                <a16:creationId xmlns:a16="http://schemas.microsoft.com/office/drawing/2014/main" id="{A62D68A4-53F5-CA61-1D02-847589840358}"/>
              </a:ext>
            </a:extLst>
          </p:cNvPr>
          <p:cNvCxnSpPr>
            <a:cxnSpLocks/>
          </p:cNvCxnSpPr>
          <p:nvPr/>
        </p:nvCxnSpPr>
        <p:spPr>
          <a:xfrm>
            <a:off x="3312533" y="547852"/>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1D37AD86-757D-AA08-0C4E-256B9060A077}"/>
              </a:ext>
            </a:extLst>
          </p:cNvPr>
          <p:cNvCxnSpPr>
            <a:cxnSpLocks/>
          </p:cNvCxnSpPr>
          <p:nvPr/>
        </p:nvCxnSpPr>
        <p:spPr>
          <a:xfrm>
            <a:off x="5831468" y="547852"/>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0" name="直線コネクタ 19">
            <a:extLst>
              <a:ext uri="{FF2B5EF4-FFF2-40B4-BE49-F238E27FC236}">
                <a16:creationId xmlns:a16="http://schemas.microsoft.com/office/drawing/2014/main" id="{297E04B8-4B33-114A-BEE0-757CBCF7B4CC}"/>
              </a:ext>
            </a:extLst>
          </p:cNvPr>
          <p:cNvCxnSpPr>
            <a:cxnSpLocks/>
          </p:cNvCxnSpPr>
          <p:nvPr/>
        </p:nvCxnSpPr>
        <p:spPr>
          <a:xfrm>
            <a:off x="4029558" y="917028"/>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1" name="直線コネクタ 20">
            <a:extLst>
              <a:ext uri="{FF2B5EF4-FFF2-40B4-BE49-F238E27FC236}">
                <a16:creationId xmlns:a16="http://schemas.microsoft.com/office/drawing/2014/main" id="{EB0B4449-2DC1-ADF8-C592-1C34D808B3C5}"/>
              </a:ext>
            </a:extLst>
          </p:cNvPr>
          <p:cNvCxnSpPr>
            <a:cxnSpLocks/>
          </p:cNvCxnSpPr>
          <p:nvPr/>
        </p:nvCxnSpPr>
        <p:spPr>
          <a:xfrm>
            <a:off x="5116913" y="917028"/>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2" name="直線コネクタ 21">
            <a:extLst>
              <a:ext uri="{FF2B5EF4-FFF2-40B4-BE49-F238E27FC236}">
                <a16:creationId xmlns:a16="http://schemas.microsoft.com/office/drawing/2014/main" id="{684C9EB5-9814-6DF5-C696-819737CEFDC9}"/>
              </a:ext>
            </a:extLst>
          </p:cNvPr>
          <p:cNvCxnSpPr>
            <a:cxnSpLocks/>
          </p:cNvCxnSpPr>
          <p:nvPr/>
        </p:nvCxnSpPr>
        <p:spPr>
          <a:xfrm>
            <a:off x="4211729" y="1272342"/>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3" name="直線コネクタ 22">
            <a:extLst>
              <a:ext uri="{FF2B5EF4-FFF2-40B4-BE49-F238E27FC236}">
                <a16:creationId xmlns:a16="http://schemas.microsoft.com/office/drawing/2014/main" id="{77160901-E434-948C-C080-C0D2FA524902}"/>
              </a:ext>
            </a:extLst>
          </p:cNvPr>
          <p:cNvCxnSpPr>
            <a:cxnSpLocks/>
          </p:cNvCxnSpPr>
          <p:nvPr/>
        </p:nvCxnSpPr>
        <p:spPr>
          <a:xfrm>
            <a:off x="4932271" y="1272341"/>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3E50BD27-11EB-E0B4-0CAA-EB245F7B17F5}"/>
              </a:ext>
            </a:extLst>
          </p:cNvPr>
          <p:cNvCxnSpPr/>
          <p:nvPr/>
        </p:nvCxnSpPr>
        <p:spPr>
          <a:xfrm>
            <a:off x="3312533" y="760686"/>
            <a:ext cx="2518935" cy="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FE579665-A26B-7100-B240-635E4FC1092B}"/>
              </a:ext>
            </a:extLst>
          </p:cNvPr>
          <p:cNvSpPr txBox="1"/>
          <p:nvPr/>
        </p:nvSpPr>
        <p:spPr>
          <a:xfrm>
            <a:off x="5083282" y="452515"/>
            <a:ext cx="758541" cy="369332"/>
          </a:xfrm>
          <a:prstGeom prst="rect">
            <a:avLst/>
          </a:prstGeom>
          <a:noFill/>
        </p:spPr>
        <p:txBody>
          <a:bodyPr wrap="none" rtlCol="0">
            <a:spAutoFit/>
          </a:bodyPr>
          <a:lstStyle/>
          <a:p>
            <a:r>
              <a:rPr kumimoji="1" lang="en-US" altLang="ja-JP" dirty="0"/>
              <a:t>70cm</a:t>
            </a:r>
            <a:endParaRPr kumimoji="1" lang="ja-JP" altLang="en-US" dirty="0"/>
          </a:p>
        </p:txBody>
      </p:sp>
      <p:cxnSp>
        <p:nvCxnSpPr>
          <p:cNvPr id="27" name="直線矢印コネクタ 26">
            <a:extLst>
              <a:ext uri="{FF2B5EF4-FFF2-40B4-BE49-F238E27FC236}">
                <a16:creationId xmlns:a16="http://schemas.microsoft.com/office/drawing/2014/main" id="{6115B765-61D2-0551-3171-D43062777E49}"/>
              </a:ext>
            </a:extLst>
          </p:cNvPr>
          <p:cNvCxnSpPr>
            <a:cxnSpLocks/>
          </p:cNvCxnSpPr>
          <p:nvPr/>
        </p:nvCxnSpPr>
        <p:spPr>
          <a:xfrm>
            <a:off x="4029558" y="1047094"/>
            <a:ext cx="1084883" cy="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9" name="テキスト ボックス 28">
            <a:extLst>
              <a:ext uri="{FF2B5EF4-FFF2-40B4-BE49-F238E27FC236}">
                <a16:creationId xmlns:a16="http://schemas.microsoft.com/office/drawing/2014/main" id="{6AB3E689-BEDB-58AE-99CA-4F0FC2EB26CD}"/>
              </a:ext>
            </a:extLst>
          </p:cNvPr>
          <p:cNvSpPr txBox="1"/>
          <p:nvPr/>
        </p:nvSpPr>
        <p:spPr>
          <a:xfrm>
            <a:off x="5061102" y="842718"/>
            <a:ext cx="758541" cy="369332"/>
          </a:xfrm>
          <a:prstGeom prst="rect">
            <a:avLst/>
          </a:prstGeom>
          <a:noFill/>
        </p:spPr>
        <p:txBody>
          <a:bodyPr wrap="none" rtlCol="0">
            <a:spAutoFit/>
          </a:bodyPr>
          <a:lstStyle/>
          <a:p>
            <a:r>
              <a:rPr lang="en-US" altLang="ja-JP" dirty="0"/>
              <a:t>3</a:t>
            </a:r>
            <a:r>
              <a:rPr kumimoji="1" lang="en-US" altLang="ja-JP" dirty="0"/>
              <a:t>0cm</a:t>
            </a:r>
            <a:endParaRPr kumimoji="1" lang="ja-JP" altLang="en-US" dirty="0"/>
          </a:p>
        </p:txBody>
      </p:sp>
      <p:cxnSp>
        <p:nvCxnSpPr>
          <p:cNvPr id="30" name="直線矢印コネクタ 29">
            <a:extLst>
              <a:ext uri="{FF2B5EF4-FFF2-40B4-BE49-F238E27FC236}">
                <a16:creationId xmlns:a16="http://schemas.microsoft.com/office/drawing/2014/main" id="{7404A5F0-E816-AF58-2F9F-5DFD78EF81DC}"/>
              </a:ext>
            </a:extLst>
          </p:cNvPr>
          <p:cNvCxnSpPr>
            <a:cxnSpLocks/>
          </p:cNvCxnSpPr>
          <p:nvPr/>
        </p:nvCxnSpPr>
        <p:spPr>
          <a:xfrm>
            <a:off x="4211729" y="1420212"/>
            <a:ext cx="720542" cy="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32" name="テキスト ボックス 31">
            <a:extLst>
              <a:ext uri="{FF2B5EF4-FFF2-40B4-BE49-F238E27FC236}">
                <a16:creationId xmlns:a16="http://schemas.microsoft.com/office/drawing/2014/main" id="{5AB00DAC-F636-3E2D-91DB-36B77C76503D}"/>
              </a:ext>
            </a:extLst>
          </p:cNvPr>
          <p:cNvSpPr txBox="1"/>
          <p:nvPr/>
        </p:nvSpPr>
        <p:spPr>
          <a:xfrm>
            <a:off x="5061102" y="1231760"/>
            <a:ext cx="758541" cy="369332"/>
          </a:xfrm>
          <a:prstGeom prst="rect">
            <a:avLst/>
          </a:prstGeom>
          <a:noFill/>
        </p:spPr>
        <p:txBody>
          <a:bodyPr wrap="none" rtlCol="0">
            <a:spAutoFit/>
          </a:bodyPr>
          <a:lstStyle/>
          <a:p>
            <a:r>
              <a:rPr kumimoji="1" lang="en-US" altLang="ja-JP" dirty="0"/>
              <a:t>20cm</a:t>
            </a:r>
            <a:endParaRPr kumimoji="1" lang="ja-JP" altLang="en-US" dirty="0"/>
          </a:p>
        </p:txBody>
      </p:sp>
      <p:cxnSp>
        <p:nvCxnSpPr>
          <p:cNvPr id="33" name="直線コネクタ 32">
            <a:extLst>
              <a:ext uri="{FF2B5EF4-FFF2-40B4-BE49-F238E27FC236}">
                <a16:creationId xmlns:a16="http://schemas.microsoft.com/office/drawing/2014/main" id="{FFA71F1C-C2D2-6AD2-2FF2-BD9FF6D19890}"/>
              </a:ext>
            </a:extLst>
          </p:cNvPr>
          <p:cNvCxnSpPr>
            <a:cxnSpLocks/>
          </p:cNvCxnSpPr>
          <p:nvPr/>
        </p:nvCxnSpPr>
        <p:spPr>
          <a:xfrm>
            <a:off x="1682968" y="2169000"/>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6" name="直線コネクタ 35">
            <a:extLst>
              <a:ext uri="{FF2B5EF4-FFF2-40B4-BE49-F238E27FC236}">
                <a16:creationId xmlns:a16="http://schemas.microsoft.com/office/drawing/2014/main" id="{B0C61CE9-EBC9-0BC3-835D-B2F205DA0DDE}"/>
              </a:ext>
            </a:extLst>
          </p:cNvPr>
          <p:cNvCxnSpPr>
            <a:cxnSpLocks/>
          </p:cNvCxnSpPr>
          <p:nvPr/>
        </p:nvCxnSpPr>
        <p:spPr>
          <a:xfrm>
            <a:off x="1682968" y="4697135"/>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7" name="直線コネクタ 36">
            <a:extLst>
              <a:ext uri="{FF2B5EF4-FFF2-40B4-BE49-F238E27FC236}">
                <a16:creationId xmlns:a16="http://schemas.microsoft.com/office/drawing/2014/main" id="{72098DA6-46C6-48EE-4AA9-170098EA92EB}"/>
              </a:ext>
            </a:extLst>
          </p:cNvPr>
          <p:cNvCxnSpPr>
            <a:cxnSpLocks/>
          </p:cNvCxnSpPr>
          <p:nvPr/>
        </p:nvCxnSpPr>
        <p:spPr>
          <a:xfrm>
            <a:off x="2047105" y="3970800"/>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8" name="直線コネクタ 37">
            <a:extLst>
              <a:ext uri="{FF2B5EF4-FFF2-40B4-BE49-F238E27FC236}">
                <a16:creationId xmlns:a16="http://schemas.microsoft.com/office/drawing/2014/main" id="{F4F3D65B-43AA-529C-6F7B-03E3CD41AB14}"/>
              </a:ext>
            </a:extLst>
          </p:cNvPr>
          <p:cNvCxnSpPr>
            <a:cxnSpLocks/>
          </p:cNvCxnSpPr>
          <p:nvPr/>
        </p:nvCxnSpPr>
        <p:spPr>
          <a:xfrm>
            <a:off x="2007691" y="2887200"/>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9" name="直線コネクタ 38">
            <a:extLst>
              <a:ext uri="{FF2B5EF4-FFF2-40B4-BE49-F238E27FC236}">
                <a16:creationId xmlns:a16="http://schemas.microsoft.com/office/drawing/2014/main" id="{CD1DAE28-590C-EE1C-941C-19813BF97DF2}"/>
              </a:ext>
            </a:extLst>
          </p:cNvPr>
          <p:cNvCxnSpPr>
            <a:cxnSpLocks/>
          </p:cNvCxnSpPr>
          <p:nvPr/>
        </p:nvCxnSpPr>
        <p:spPr>
          <a:xfrm>
            <a:off x="2401464" y="3069000"/>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0" name="直線コネクタ 39">
            <a:extLst>
              <a:ext uri="{FF2B5EF4-FFF2-40B4-BE49-F238E27FC236}">
                <a16:creationId xmlns:a16="http://schemas.microsoft.com/office/drawing/2014/main" id="{8F763479-33C8-CA68-9B60-299405BEF2B5}"/>
              </a:ext>
            </a:extLst>
          </p:cNvPr>
          <p:cNvCxnSpPr>
            <a:cxnSpLocks/>
          </p:cNvCxnSpPr>
          <p:nvPr/>
        </p:nvCxnSpPr>
        <p:spPr>
          <a:xfrm>
            <a:off x="2401464" y="3789000"/>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1" name="直線矢印コネクタ 40">
            <a:extLst>
              <a:ext uri="{FF2B5EF4-FFF2-40B4-BE49-F238E27FC236}">
                <a16:creationId xmlns:a16="http://schemas.microsoft.com/office/drawing/2014/main" id="{D5BA07E6-16AA-7C66-B7F8-D733DF845B00}"/>
              </a:ext>
            </a:extLst>
          </p:cNvPr>
          <p:cNvCxnSpPr>
            <a:cxnSpLocks/>
          </p:cNvCxnSpPr>
          <p:nvPr/>
        </p:nvCxnSpPr>
        <p:spPr>
          <a:xfrm>
            <a:off x="1769183" y="2169000"/>
            <a:ext cx="0" cy="2528135"/>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43" name="直線矢印コネクタ 42">
            <a:extLst>
              <a:ext uri="{FF2B5EF4-FFF2-40B4-BE49-F238E27FC236}">
                <a16:creationId xmlns:a16="http://schemas.microsoft.com/office/drawing/2014/main" id="{F00C4ADB-C69E-AFA4-C47F-B8428ADAE222}"/>
              </a:ext>
            </a:extLst>
          </p:cNvPr>
          <p:cNvCxnSpPr>
            <a:cxnSpLocks/>
          </p:cNvCxnSpPr>
          <p:nvPr/>
        </p:nvCxnSpPr>
        <p:spPr>
          <a:xfrm>
            <a:off x="2127494" y="2887200"/>
            <a:ext cx="0" cy="108360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45" name="直線矢印コネクタ 44">
            <a:extLst>
              <a:ext uri="{FF2B5EF4-FFF2-40B4-BE49-F238E27FC236}">
                <a16:creationId xmlns:a16="http://schemas.microsoft.com/office/drawing/2014/main" id="{05126D66-0453-CEF8-4563-03378A3B5BB4}"/>
              </a:ext>
            </a:extLst>
          </p:cNvPr>
          <p:cNvCxnSpPr>
            <a:cxnSpLocks/>
          </p:cNvCxnSpPr>
          <p:nvPr/>
        </p:nvCxnSpPr>
        <p:spPr>
          <a:xfrm>
            <a:off x="2492559" y="3069000"/>
            <a:ext cx="0" cy="72000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47" name="テキスト ボックス 46">
            <a:extLst>
              <a:ext uri="{FF2B5EF4-FFF2-40B4-BE49-F238E27FC236}">
                <a16:creationId xmlns:a16="http://schemas.microsoft.com/office/drawing/2014/main" id="{2DABDE82-14AE-86D1-12E2-9767A9583D9D}"/>
              </a:ext>
            </a:extLst>
          </p:cNvPr>
          <p:cNvSpPr txBox="1"/>
          <p:nvPr/>
        </p:nvSpPr>
        <p:spPr>
          <a:xfrm rot="16200000">
            <a:off x="1166769" y="2355470"/>
            <a:ext cx="758541" cy="369332"/>
          </a:xfrm>
          <a:prstGeom prst="rect">
            <a:avLst/>
          </a:prstGeom>
          <a:noFill/>
        </p:spPr>
        <p:txBody>
          <a:bodyPr wrap="none" rtlCol="0">
            <a:spAutoFit/>
          </a:bodyPr>
          <a:lstStyle/>
          <a:p>
            <a:r>
              <a:rPr kumimoji="1" lang="en-US" altLang="ja-JP" dirty="0"/>
              <a:t>70cm</a:t>
            </a:r>
            <a:endParaRPr kumimoji="1" lang="ja-JP" altLang="en-US" dirty="0"/>
          </a:p>
        </p:txBody>
      </p:sp>
      <p:sp>
        <p:nvSpPr>
          <p:cNvPr id="48" name="テキスト ボックス 47">
            <a:extLst>
              <a:ext uri="{FF2B5EF4-FFF2-40B4-BE49-F238E27FC236}">
                <a16:creationId xmlns:a16="http://schemas.microsoft.com/office/drawing/2014/main" id="{69637A22-A248-B391-BE32-709A79BEF308}"/>
              </a:ext>
            </a:extLst>
          </p:cNvPr>
          <p:cNvSpPr txBox="1"/>
          <p:nvPr/>
        </p:nvSpPr>
        <p:spPr>
          <a:xfrm rot="16200000">
            <a:off x="1773674" y="2319195"/>
            <a:ext cx="758541" cy="369332"/>
          </a:xfrm>
          <a:prstGeom prst="rect">
            <a:avLst/>
          </a:prstGeom>
          <a:noFill/>
        </p:spPr>
        <p:txBody>
          <a:bodyPr wrap="none" rtlCol="0">
            <a:spAutoFit/>
          </a:bodyPr>
          <a:lstStyle/>
          <a:p>
            <a:r>
              <a:rPr lang="en-US" altLang="ja-JP" dirty="0"/>
              <a:t>3</a:t>
            </a:r>
            <a:r>
              <a:rPr kumimoji="1" lang="en-US" altLang="ja-JP" dirty="0"/>
              <a:t>0cm</a:t>
            </a:r>
            <a:endParaRPr kumimoji="1" lang="ja-JP" altLang="en-US" dirty="0"/>
          </a:p>
        </p:txBody>
      </p:sp>
      <p:sp>
        <p:nvSpPr>
          <p:cNvPr id="49" name="テキスト ボックス 48">
            <a:extLst>
              <a:ext uri="{FF2B5EF4-FFF2-40B4-BE49-F238E27FC236}">
                <a16:creationId xmlns:a16="http://schemas.microsoft.com/office/drawing/2014/main" id="{4A7DE0BE-6F06-AF69-D584-4695E6CDEF86}"/>
              </a:ext>
            </a:extLst>
          </p:cNvPr>
          <p:cNvSpPr txBox="1"/>
          <p:nvPr/>
        </p:nvSpPr>
        <p:spPr>
          <a:xfrm rot="16200000">
            <a:off x="2162267" y="2319195"/>
            <a:ext cx="758541" cy="369332"/>
          </a:xfrm>
          <a:prstGeom prst="rect">
            <a:avLst/>
          </a:prstGeom>
          <a:noFill/>
        </p:spPr>
        <p:txBody>
          <a:bodyPr wrap="none" rtlCol="0">
            <a:spAutoFit/>
          </a:bodyPr>
          <a:lstStyle/>
          <a:p>
            <a:r>
              <a:rPr kumimoji="1" lang="en-US" altLang="ja-JP" dirty="0"/>
              <a:t>20cm</a:t>
            </a:r>
            <a:endParaRPr kumimoji="1" lang="ja-JP" altLang="en-US" dirty="0"/>
          </a:p>
        </p:txBody>
      </p:sp>
      <p:sp>
        <p:nvSpPr>
          <p:cNvPr id="18" name="テキスト ボックス 17">
            <a:extLst>
              <a:ext uri="{FF2B5EF4-FFF2-40B4-BE49-F238E27FC236}">
                <a16:creationId xmlns:a16="http://schemas.microsoft.com/office/drawing/2014/main" id="{98395856-7D73-4363-7732-3D3AF5821C2F}"/>
              </a:ext>
            </a:extLst>
          </p:cNvPr>
          <p:cNvSpPr txBox="1"/>
          <p:nvPr/>
        </p:nvSpPr>
        <p:spPr>
          <a:xfrm>
            <a:off x="8214868" y="3167388"/>
            <a:ext cx="359394" cy="523220"/>
          </a:xfrm>
          <a:prstGeom prst="rect">
            <a:avLst/>
          </a:prstGeom>
          <a:noFill/>
        </p:spPr>
        <p:txBody>
          <a:bodyPr wrap="none" rtlCol="0">
            <a:spAutoFit/>
          </a:bodyPr>
          <a:lstStyle/>
          <a:p>
            <a:r>
              <a:rPr kumimoji="1" lang="en-US" altLang="ja-JP" sz="2800" dirty="0">
                <a:solidFill>
                  <a:srgbClr val="FF0000"/>
                </a:solidFill>
              </a:rPr>
              <a:t>x</a:t>
            </a:r>
            <a:endParaRPr kumimoji="1" lang="ja-JP" altLang="en-US" sz="2800" dirty="0">
              <a:solidFill>
                <a:srgbClr val="FF0000"/>
              </a:solidFill>
            </a:endParaRPr>
          </a:p>
        </p:txBody>
      </p:sp>
      <p:sp>
        <p:nvSpPr>
          <p:cNvPr id="24" name="テキスト ボックス 23">
            <a:extLst>
              <a:ext uri="{FF2B5EF4-FFF2-40B4-BE49-F238E27FC236}">
                <a16:creationId xmlns:a16="http://schemas.microsoft.com/office/drawing/2014/main" id="{EB7E7800-BD9C-5349-808F-E27C92B92688}"/>
              </a:ext>
            </a:extLst>
          </p:cNvPr>
          <p:cNvSpPr txBox="1"/>
          <p:nvPr/>
        </p:nvSpPr>
        <p:spPr>
          <a:xfrm>
            <a:off x="4385590" y="52801"/>
            <a:ext cx="360996" cy="523220"/>
          </a:xfrm>
          <a:prstGeom prst="rect">
            <a:avLst/>
          </a:prstGeom>
          <a:noFill/>
        </p:spPr>
        <p:txBody>
          <a:bodyPr wrap="none" rtlCol="0">
            <a:spAutoFit/>
          </a:bodyPr>
          <a:lstStyle/>
          <a:p>
            <a:r>
              <a:rPr kumimoji="1" lang="en-US" altLang="ja-JP" sz="2800" dirty="0">
                <a:solidFill>
                  <a:srgbClr val="FF0000"/>
                </a:solidFill>
              </a:rPr>
              <a:t>y</a:t>
            </a:r>
            <a:endParaRPr kumimoji="1" lang="ja-JP" altLang="en-US" sz="2800" dirty="0">
              <a:solidFill>
                <a:srgbClr val="FF0000"/>
              </a:solidFill>
            </a:endParaRPr>
          </a:p>
        </p:txBody>
      </p:sp>
      <p:sp>
        <p:nvSpPr>
          <p:cNvPr id="28" name="テキスト ボックス 27">
            <a:extLst>
              <a:ext uri="{FF2B5EF4-FFF2-40B4-BE49-F238E27FC236}">
                <a16:creationId xmlns:a16="http://schemas.microsoft.com/office/drawing/2014/main" id="{3C473564-FBF4-43BC-40C5-C4786FFC6448}"/>
              </a:ext>
            </a:extLst>
          </p:cNvPr>
          <p:cNvSpPr txBox="1"/>
          <p:nvPr/>
        </p:nvSpPr>
        <p:spPr>
          <a:xfrm>
            <a:off x="6413406" y="1256486"/>
            <a:ext cx="1762021" cy="646331"/>
          </a:xfrm>
          <a:prstGeom prst="rect">
            <a:avLst/>
          </a:prstGeom>
          <a:noFill/>
          <a:ln w="6350">
            <a:solidFill>
              <a:schemeClr val="tx1"/>
            </a:solidFill>
          </a:ln>
        </p:spPr>
        <p:txBody>
          <a:bodyPr wrap="none" rtlCol="0">
            <a:spAutoFit/>
          </a:bodyPr>
          <a:lstStyle/>
          <a:p>
            <a:r>
              <a:rPr kumimoji="1" lang="en-US" altLang="ja-JP" dirty="0"/>
              <a:t>1 </a:t>
            </a:r>
            <a:r>
              <a:rPr kumimoji="1" lang="en-US" altLang="ja-JP" dirty="0" err="1"/>
              <a:t>LeadShilding</a:t>
            </a:r>
            <a:br>
              <a:rPr kumimoji="1" lang="en-US" altLang="ja-JP" dirty="0"/>
            </a:br>
            <a:r>
              <a:rPr kumimoji="1" lang="en-US" altLang="ja-JP" dirty="0"/>
              <a:t>(G4_Pb)</a:t>
            </a:r>
            <a:endParaRPr kumimoji="1" lang="ja-JP" altLang="en-US" dirty="0"/>
          </a:p>
        </p:txBody>
      </p:sp>
      <p:sp>
        <p:nvSpPr>
          <p:cNvPr id="31" name="テキスト ボックス 30">
            <a:extLst>
              <a:ext uri="{FF2B5EF4-FFF2-40B4-BE49-F238E27FC236}">
                <a16:creationId xmlns:a16="http://schemas.microsoft.com/office/drawing/2014/main" id="{3D036971-9A78-1793-D657-2AA736D6351B}"/>
              </a:ext>
            </a:extLst>
          </p:cNvPr>
          <p:cNvSpPr txBox="1"/>
          <p:nvPr/>
        </p:nvSpPr>
        <p:spPr>
          <a:xfrm>
            <a:off x="6413406" y="2089887"/>
            <a:ext cx="2007281" cy="646331"/>
          </a:xfrm>
          <a:prstGeom prst="rect">
            <a:avLst/>
          </a:prstGeom>
          <a:noFill/>
          <a:ln w="6350">
            <a:solidFill>
              <a:schemeClr val="tx1"/>
            </a:solidFill>
          </a:ln>
        </p:spPr>
        <p:txBody>
          <a:bodyPr wrap="none" rtlCol="0">
            <a:spAutoFit/>
          </a:bodyPr>
          <a:lstStyle/>
          <a:p>
            <a:r>
              <a:rPr lang="en-US" altLang="ja-JP" dirty="0"/>
              <a:t>2</a:t>
            </a:r>
            <a:r>
              <a:rPr kumimoji="1" lang="en-US" altLang="ja-JP" dirty="0"/>
              <a:t> </a:t>
            </a:r>
            <a:r>
              <a:rPr kumimoji="1" lang="en-US" altLang="ja-JP" dirty="0" err="1"/>
              <a:t>CupperShilding</a:t>
            </a:r>
            <a:br>
              <a:rPr kumimoji="1" lang="en-US" altLang="ja-JP" dirty="0"/>
            </a:br>
            <a:r>
              <a:rPr kumimoji="1" lang="en-US" altLang="ja-JP" dirty="0"/>
              <a:t>(G4_Cu)</a:t>
            </a:r>
            <a:endParaRPr kumimoji="1" lang="ja-JP" altLang="en-US" dirty="0"/>
          </a:p>
        </p:txBody>
      </p:sp>
      <p:sp>
        <p:nvSpPr>
          <p:cNvPr id="34" name="テキスト ボックス 33">
            <a:extLst>
              <a:ext uri="{FF2B5EF4-FFF2-40B4-BE49-F238E27FC236}">
                <a16:creationId xmlns:a16="http://schemas.microsoft.com/office/drawing/2014/main" id="{D496D7BD-0C73-EC11-B2B2-8AD0A2EAEE2F}"/>
              </a:ext>
            </a:extLst>
          </p:cNvPr>
          <p:cNvSpPr txBox="1"/>
          <p:nvPr/>
        </p:nvSpPr>
        <p:spPr>
          <a:xfrm>
            <a:off x="6367995" y="3784313"/>
            <a:ext cx="2342308" cy="646331"/>
          </a:xfrm>
          <a:prstGeom prst="rect">
            <a:avLst/>
          </a:prstGeom>
          <a:noFill/>
          <a:ln w="6350">
            <a:solidFill>
              <a:schemeClr val="tx1"/>
            </a:solidFill>
          </a:ln>
        </p:spPr>
        <p:txBody>
          <a:bodyPr wrap="none" rtlCol="0">
            <a:spAutoFit/>
          </a:bodyPr>
          <a:lstStyle/>
          <a:p>
            <a:r>
              <a:rPr kumimoji="1" lang="en-US" altLang="ja-JP" dirty="0"/>
              <a:t>3 </a:t>
            </a:r>
            <a:r>
              <a:rPr kumimoji="1" lang="en-US" altLang="ja-JP" dirty="0" err="1"/>
              <a:t>MeasurementArea</a:t>
            </a:r>
            <a:endParaRPr kumimoji="1" lang="en-US" altLang="ja-JP" dirty="0"/>
          </a:p>
          <a:p>
            <a:r>
              <a:rPr lang="en-US" altLang="ja-JP" dirty="0"/>
              <a:t>(G4_Air)</a:t>
            </a:r>
            <a:endParaRPr kumimoji="1" lang="ja-JP" altLang="en-US" dirty="0"/>
          </a:p>
        </p:txBody>
      </p:sp>
      <p:cxnSp>
        <p:nvCxnSpPr>
          <p:cNvPr id="42" name="直線矢印コネクタ 41">
            <a:extLst>
              <a:ext uri="{FF2B5EF4-FFF2-40B4-BE49-F238E27FC236}">
                <a16:creationId xmlns:a16="http://schemas.microsoft.com/office/drawing/2014/main" id="{1B992C9A-54E7-F1AA-870D-259464A3EE09}"/>
              </a:ext>
            </a:extLst>
          </p:cNvPr>
          <p:cNvCxnSpPr>
            <a:cxnSpLocks/>
            <a:stCxn id="34" idx="1"/>
          </p:cNvCxnSpPr>
          <p:nvPr/>
        </p:nvCxnSpPr>
        <p:spPr>
          <a:xfrm flipH="1" flipV="1">
            <a:off x="4746586" y="3554176"/>
            <a:ext cx="1621409" cy="553303"/>
          </a:xfrm>
          <a:prstGeom prst="straightConnector1">
            <a:avLst/>
          </a:prstGeom>
          <a:ln>
            <a:solidFill>
              <a:schemeClr val="accent4"/>
            </a:solidFill>
            <a:tailEnd type="triangle"/>
          </a:ln>
        </p:spPr>
        <p:style>
          <a:lnRef idx="2">
            <a:schemeClr val="accent1"/>
          </a:lnRef>
          <a:fillRef idx="0">
            <a:schemeClr val="accent1"/>
          </a:fillRef>
          <a:effectRef idx="1">
            <a:schemeClr val="accent1"/>
          </a:effectRef>
          <a:fontRef idx="minor">
            <a:schemeClr val="tx1"/>
          </a:fontRef>
        </p:style>
      </p:cxnSp>
      <p:cxnSp>
        <p:nvCxnSpPr>
          <p:cNvPr id="46" name="直線矢印コネクタ 45">
            <a:extLst>
              <a:ext uri="{FF2B5EF4-FFF2-40B4-BE49-F238E27FC236}">
                <a16:creationId xmlns:a16="http://schemas.microsoft.com/office/drawing/2014/main" id="{517ECF7C-E643-BBB0-CDE0-EDB868AA4943}"/>
              </a:ext>
            </a:extLst>
          </p:cNvPr>
          <p:cNvCxnSpPr>
            <a:stCxn id="31" idx="1"/>
          </p:cNvCxnSpPr>
          <p:nvPr/>
        </p:nvCxnSpPr>
        <p:spPr>
          <a:xfrm flipH="1">
            <a:off x="5017325" y="2413053"/>
            <a:ext cx="1396081" cy="754335"/>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51" name="直線矢印コネクタ 50">
            <a:extLst>
              <a:ext uri="{FF2B5EF4-FFF2-40B4-BE49-F238E27FC236}">
                <a16:creationId xmlns:a16="http://schemas.microsoft.com/office/drawing/2014/main" id="{9501E786-17E2-494C-3607-7CA4E72F967E}"/>
              </a:ext>
            </a:extLst>
          </p:cNvPr>
          <p:cNvCxnSpPr>
            <a:stCxn id="28" idx="1"/>
          </p:cNvCxnSpPr>
          <p:nvPr/>
        </p:nvCxnSpPr>
        <p:spPr>
          <a:xfrm flipH="1">
            <a:off x="5326083" y="1579652"/>
            <a:ext cx="1087323" cy="694901"/>
          </a:xfrm>
          <a:prstGeom prst="straightConnector1">
            <a:avLst/>
          </a:prstGeom>
          <a:ln>
            <a:solidFill>
              <a:schemeClr val="bg1">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3" name="テキスト ボックス 52">
            <a:extLst>
              <a:ext uri="{FF2B5EF4-FFF2-40B4-BE49-F238E27FC236}">
                <a16:creationId xmlns:a16="http://schemas.microsoft.com/office/drawing/2014/main" id="{59CA0947-1F3A-0934-B4C9-B8311FA575AF}"/>
              </a:ext>
            </a:extLst>
          </p:cNvPr>
          <p:cNvSpPr txBox="1"/>
          <p:nvPr/>
        </p:nvSpPr>
        <p:spPr>
          <a:xfrm>
            <a:off x="66610" y="47433"/>
            <a:ext cx="3935693" cy="646331"/>
          </a:xfrm>
          <a:prstGeom prst="rect">
            <a:avLst/>
          </a:prstGeom>
          <a:noFill/>
        </p:spPr>
        <p:txBody>
          <a:bodyPr wrap="none" rtlCol="0">
            <a:spAutoFit/>
          </a:bodyPr>
          <a:lstStyle/>
          <a:p>
            <a:r>
              <a:rPr lang="en-US" altLang="ja-JP" dirty="0"/>
              <a:t>2.2  Basic detector design y-x view </a:t>
            </a:r>
            <a:br>
              <a:rPr lang="en-US" altLang="ja-JP" dirty="0"/>
            </a:br>
            <a:r>
              <a:rPr lang="en-US" altLang="ja-JP" dirty="0"/>
              <a:t>       (@ z=0)</a:t>
            </a:r>
            <a:endParaRPr kumimoji="1" lang="ja-JP" altLang="en-US" dirty="0"/>
          </a:p>
        </p:txBody>
      </p:sp>
      <p:cxnSp>
        <p:nvCxnSpPr>
          <p:cNvPr id="54" name="直線コネクタ 53">
            <a:extLst>
              <a:ext uri="{FF2B5EF4-FFF2-40B4-BE49-F238E27FC236}">
                <a16:creationId xmlns:a16="http://schemas.microsoft.com/office/drawing/2014/main" id="{B13AB32A-29DF-FC0B-8210-C5F4763F0187}"/>
              </a:ext>
            </a:extLst>
          </p:cNvPr>
          <p:cNvCxnSpPr>
            <a:cxnSpLocks/>
          </p:cNvCxnSpPr>
          <p:nvPr/>
        </p:nvCxnSpPr>
        <p:spPr>
          <a:xfrm>
            <a:off x="3464933" y="700252"/>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55" name="直線コネクタ 54">
            <a:extLst>
              <a:ext uri="{FF2B5EF4-FFF2-40B4-BE49-F238E27FC236}">
                <a16:creationId xmlns:a16="http://schemas.microsoft.com/office/drawing/2014/main" id="{DAF09358-BE95-D88E-5307-8B9ADAE5B858}"/>
              </a:ext>
            </a:extLst>
          </p:cNvPr>
          <p:cNvCxnSpPr>
            <a:cxnSpLocks/>
          </p:cNvCxnSpPr>
          <p:nvPr/>
        </p:nvCxnSpPr>
        <p:spPr>
          <a:xfrm>
            <a:off x="5983868" y="700252"/>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18292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82FFF64B-8FAA-AA5D-94E7-D22E1CE2BE99}"/>
              </a:ext>
            </a:extLst>
          </p:cNvPr>
          <p:cNvSpPr txBox="1"/>
          <p:nvPr/>
        </p:nvSpPr>
        <p:spPr>
          <a:xfrm>
            <a:off x="66610" y="47433"/>
            <a:ext cx="2589170" cy="369332"/>
          </a:xfrm>
          <a:prstGeom prst="rect">
            <a:avLst/>
          </a:prstGeom>
          <a:noFill/>
        </p:spPr>
        <p:txBody>
          <a:bodyPr wrap="none" rtlCol="0">
            <a:spAutoFit/>
          </a:bodyPr>
          <a:lstStyle/>
          <a:p>
            <a:r>
              <a:rPr lang="en-US" altLang="ja-JP" dirty="0"/>
              <a:t>3  Ge detector design  </a:t>
            </a:r>
            <a:endParaRPr kumimoji="1" lang="ja-JP" altLang="en-US" dirty="0"/>
          </a:p>
        </p:txBody>
      </p:sp>
      <p:grpSp>
        <p:nvGrpSpPr>
          <p:cNvPr id="13" name="グループ化 12">
            <a:extLst>
              <a:ext uri="{FF2B5EF4-FFF2-40B4-BE49-F238E27FC236}">
                <a16:creationId xmlns:a16="http://schemas.microsoft.com/office/drawing/2014/main" id="{684B21E5-8326-E352-6BC4-6DC5E4F96669}"/>
              </a:ext>
            </a:extLst>
          </p:cNvPr>
          <p:cNvGrpSpPr/>
          <p:nvPr/>
        </p:nvGrpSpPr>
        <p:grpSpPr>
          <a:xfrm>
            <a:off x="3086595" y="1280555"/>
            <a:ext cx="2970810" cy="4437414"/>
            <a:chOff x="211777" y="1209303"/>
            <a:chExt cx="2970810" cy="4437414"/>
          </a:xfrm>
        </p:grpSpPr>
        <p:grpSp>
          <p:nvGrpSpPr>
            <p:cNvPr id="11" name="グループ化 10">
              <a:extLst>
                <a:ext uri="{FF2B5EF4-FFF2-40B4-BE49-F238E27FC236}">
                  <a16:creationId xmlns:a16="http://schemas.microsoft.com/office/drawing/2014/main" id="{47CB2F89-BC1D-450E-C3BB-A763E60981BD}"/>
                </a:ext>
              </a:extLst>
            </p:cNvPr>
            <p:cNvGrpSpPr/>
            <p:nvPr/>
          </p:nvGrpSpPr>
          <p:grpSpPr>
            <a:xfrm>
              <a:off x="211777" y="1209303"/>
              <a:ext cx="2970810" cy="4437414"/>
              <a:chOff x="211777" y="1209303"/>
              <a:chExt cx="2970810" cy="4437414"/>
            </a:xfrm>
          </p:grpSpPr>
          <p:sp>
            <p:nvSpPr>
              <p:cNvPr id="10" name="正方形/長方形 9">
                <a:extLst>
                  <a:ext uri="{FF2B5EF4-FFF2-40B4-BE49-F238E27FC236}">
                    <a16:creationId xmlns:a16="http://schemas.microsoft.com/office/drawing/2014/main" id="{D4A684F2-192A-7299-2D88-6A4F7A216D93}"/>
                  </a:ext>
                </a:extLst>
              </p:cNvPr>
              <p:cNvSpPr/>
              <p:nvPr/>
            </p:nvSpPr>
            <p:spPr>
              <a:xfrm>
                <a:off x="211777" y="1209303"/>
                <a:ext cx="2970810" cy="4437414"/>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B7A0D9BC-1585-E2FB-2C63-A7742151209F}"/>
                  </a:ext>
                </a:extLst>
              </p:cNvPr>
              <p:cNvSpPr/>
              <p:nvPr/>
            </p:nvSpPr>
            <p:spPr>
              <a:xfrm>
                <a:off x="267195" y="1264722"/>
                <a:ext cx="2861953" cy="43166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2" name="グループ化 11">
              <a:extLst>
                <a:ext uri="{FF2B5EF4-FFF2-40B4-BE49-F238E27FC236}">
                  <a16:creationId xmlns:a16="http://schemas.microsoft.com/office/drawing/2014/main" id="{B6C23471-661A-B9A1-5132-4ED38251E3FC}"/>
                </a:ext>
              </a:extLst>
            </p:cNvPr>
            <p:cNvGrpSpPr/>
            <p:nvPr/>
          </p:nvGrpSpPr>
          <p:grpSpPr>
            <a:xfrm>
              <a:off x="440316" y="1376658"/>
              <a:ext cx="2515709" cy="3656483"/>
              <a:chOff x="440316" y="1376658"/>
              <a:chExt cx="2515709" cy="3656483"/>
            </a:xfrm>
          </p:grpSpPr>
          <p:sp>
            <p:nvSpPr>
              <p:cNvPr id="5" name="正方形/長方形 4">
                <a:extLst>
                  <a:ext uri="{FF2B5EF4-FFF2-40B4-BE49-F238E27FC236}">
                    <a16:creationId xmlns:a16="http://schemas.microsoft.com/office/drawing/2014/main" id="{39AE7C61-A03F-7B4D-9942-FF72524D6A4A}"/>
                  </a:ext>
                </a:extLst>
              </p:cNvPr>
              <p:cNvSpPr/>
              <p:nvPr/>
            </p:nvSpPr>
            <p:spPr>
              <a:xfrm>
                <a:off x="440317" y="1422377"/>
                <a:ext cx="2515708" cy="36107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24511265-8506-46B8-55CB-F3056C16A9B3}"/>
                  </a:ext>
                </a:extLst>
              </p:cNvPr>
              <p:cNvSpPr/>
              <p:nvPr/>
            </p:nvSpPr>
            <p:spPr>
              <a:xfrm>
                <a:off x="440316" y="1376658"/>
                <a:ext cx="2515708" cy="4571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FC65ADBA-5071-4F3C-8093-5F71CB9D1DD7}"/>
                  </a:ext>
                </a:extLst>
              </p:cNvPr>
              <p:cNvSpPr/>
              <p:nvPr/>
            </p:nvSpPr>
            <p:spPr>
              <a:xfrm>
                <a:off x="486888" y="1422377"/>
                <a:ext cx="2416629" cy="354744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6" name="正方形/長方形 5">
              <a:extLst>
                <a:ext uri="{FF2B5EF4-FFF2-40B4-BE49-F238E27FC236}">
                  <a16:creationId xmlns:a16="http://schemas.microsoft.com/office/drawing/2014/main" id="{71D7D49A-AD45-2D72-E658-1E24502EA6C2}"/>
                </a:ext>
              </a:extLst>
            </p:cNvPr>
            <p:cNvSpPr/>
            <p:nvPr/>
          </p:nvSpPr>
          <p:spPr>
            <a:xfrm>
              <a:off x="546265" y="1422377"/>
              <a:ext cx="2291938" cy="242178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28A74726-2BE8-1C17-0739-04F3E6FC754D}"/>
                </a:ext>
              </a:extLst>
            </p:cNvPr>
            <p:cNvSpPr/>
            <p:nvPr/>
          </p:nvSpPr>
          <p:spPr>
            <a:xfrm>
              <a:off x="1578339" y="2280063"/>
              <a:ext cx="214835" cy="157597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4" name="テキスト ボックス 13">
            <a:extLst>
              <a:ext uri="{FF2B5EF4-FFF2-40B4-BE49-F238E27FC236}">
                <a16:creationId xmlns:a16="http://schemas.microsoft.com/office/drawing/2014/main" id="{A1AEBEC6-1DD6-9B07-3949-75B881468055}"/>
              </a:ext>
            </a:extLst>
          </p:cNvPr>
          <p:cNvSpPr txBox="1"/>
          <p:nvPr/>
        </p:nvSpPr>
        <p:spPr>
          <a:xfrm>
            <a:off x="6834850" y="281806"/>
            <a:ext cx="1978427" cy="646331"/>
          </a:xfrm>
          <a:prstGeom prst="rect">
            <a:avLst/>
          </a:prstGeom>
          <a:solidFill>
            <a:schemeClr val="bg1">
              <a:lumMod val="50000"/>
            </a:schemeClr>
          </a:solidFill>
          <a:ln>
            <a:solidFill>
              <a:schemeClr val="tx1"/>
            </a:solidFill>
          </a:ln>
        </p:spPr>
        <p:txBody>
          <a:bodyPr wrap="none" rtlCol="0">
            <a:spAutoFit/>
          </a:bodyPr>
          <a:lstStyle/>
          <a:p>
            <a:r>
              <a:rPr kumimoji="1" lang="en-US" altLang="ja-JP" dirty="0">
                <a:solidFill>
                  <a:schemeClr val="bg1"/>
                </a:solidFill>
              </a:rPr>
              <a:t>Al case (G4_Al) </a:t>
            </a:r>
          </a:p>
          <a:p>
            <a:r>
              <a:rPr lang="en-US" altLang="ja-JP" dirty="0">
                <a:solidFill>
                  <a:schemeClr val="bg1"/>
                </a:solidFill>
              </a:rPr>
              <a:t>thickness 0.8mm</a:t>
            </a:r>
            <a:endParaRPr kumimoji="1" lang="ja-JP" altLang="en-US" dirty="0">
              <a:solidFill>
                <a:schemeClr val="bg1"/>
              </a:solidFill>
            </a:endParaRPr>
          </a:p>
        </p:txBody>
      </p:sp>
      <p:cxnSp>
        <p:nvCxnSpPr>
          <p:cNvPr id="15" name="直線コネクタ 14">
            <a:extLst>
              <a:ext uri="{FF2B5EF4-FFF2-40B4-BE49-F238E27FC236}">
                <a16:creationId xmlns:a16="http://schemas.microsoft.com/office/drawing/2014/main" id="{3FED5459-5DC1-5810-3C10-320A9B6F4C32}"/>
              </a:ext>
            </a:extLst>
          </p:cNvPr>
          <p:cNvCxnSpPr>
            <a:cxnSpLocks/>
          </p:cNvCxnSpPr>
          <p:nvPr/>
        </p:nvCxnSpPr>
        <p:spPr>
          <a:xfrm>
            <a:off x="3091850" y="369581"/>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16" name="直線コネクタ 15">
            <a:extLst>
              <a:ext uri="{FF2B5EF4-FFF2-40B4-BE49-F238E27FC236}">
                <a16:creationId xmlns:a16="http://schemas.microsoft.com/office/drawing/2014/main" id="{0B999F5B-E387-4702-CA85-C4CC9C0CB2FC}"/>
              </a:ext>
            </a:extLst>
          </p:cNvPr>
          <p:cNvCxnSpPr>
            <a:cxnSpLocks/>
          </p:cNvCxnSpPr>
          <p:nvPr/>
        </p:nvCxnSpPr>
        <p:spPr>
          <a:xfrm>
            <a:off x="6057405" y="369581"/>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19" name="直線矢印コネクタ 18">
            <a:extLst>
              <a:ext uri="{FF2B5EF4-FFF2-40B4-BE49-F238E27FC236}">
                <a16:creationId xmlns:a16="http://schemas.microsoft.com/office/drawing/2014/main" id="{F16584A9-FAD0-9089-C0D6-2E99531C53E4}"/>
              </a:ext>
            </a:extLst>
          </p:cNvPr>
          <p:cNvCxnSpPr>
            <a:cxnSpLocks/>
          </p:cNvCxnSpPr>
          <p:nvPr/>
        </p:nvCxnSpPr>
        <p:spPr>
          <a:xfrm>
            <a:off x="3081647" y="549553"/>
            <a:ext cx="2970810" cy="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0" name="テキスト ボックス 19">
            <a:extLst>
              <a:ext uri="{FF2B5EF4-FFF2-40B4-BE49-F238E27FC236}">
                <a16:creationId xmlns:a16="http://schemas.microsoft.com/office/drawing/2014/main" id="{D529BDB9-9A0C-555C-E84A-F67AE7988AA5}"/>
              </a:ext>
            </a:extLst>
          </p:cNvPr>
          <p:cNvSpPr txBox="1"/>
          <p:nvPr/>
        </p:nvSpPr>
        <p:spPr>
          <a:xfrm>
            <a:off x="4090674" y="210310"/>
            <a:ext cx="1069524" cy="369332"/>
          </a:xfrm>
          <a:prstGeom prst="rect">
            <a:avLst/>
          </a:prstGeom>
          <a:noFill/>
        </p:spPr>
        <p:txBody>
          <a:bodyPr wrap="none" rtlCol="0">
            <a:spAutoFit/>
          </a:bodyPr>
          <a:lstStyle/>
          <a:p>
            <a:r>
              <a:rPr lang="en-US" altLang="ja-JP" dirty="0"/>
              <a:t>Φ8</a:t>
            </a:r>
            <a:r>
              <a:rPr kumimoji="1" lang="en-US" altLang="ja-JP" dirty="0"/>
              <a:t>0mm</a:t>
            </a:r>
            <a:endParaRPr kumimoji="1" lang="ja-JP" altLang="en-US" dirty="0"/>
          </a:p>
        </p:txBody>
      </p:sp>
      <p:sp>
        <p:nvSpPr>
          <p:cNvPr id="22" name="テキスト ボックス 21">
            <a:extLst>
              <a:ext uri="{FF2B5EF4-FFF2-40B4-BE49-F238E27FC236}">
                <a16:creationId xmlns:a16="http://schemas.microsoft.com/office/drawing/2014/main" id="{80D58C5E-D767-2FF0-DE4A-142F3F6FFBB0}"/>
              </a:ext>
            </a:extLst>
          </p:cNvPr>
          <p:cNvSpPr txBox="1"/>
          <p:nvPr/>
        </p:nvSpPr>
        <p:spPr>
          <a:xfrm>
            <a:off x="6834850" y="1103806"/>
            <a:ext cx="1606530" cy="646331"/>
          </a:xfrm>
          <a:prstGeom prst="rect">
            <a:avLst/>
          </a:prstGeom>
          <a:noFill/>
          <a:ln>
            <a:solidFill>
              <a:schemeClr val="tx1"/>
            </a:solidFill>
          </a:ln>
        </p:spPr>
        <p:txBody>
          <a:bodyPr wrap="none" rtlCol="0">
            <a:spAutoFit/>
          </a:bodyPr>
          <a:lstStyle/>
          <a:p>
            <a:r>
              <a:rPr kumimoji="1" lang="en-US" altLang="ja-JP" dirty="0"/>
              <a:t>Vacuum case</a:t>
            </a:r>
          </a:p>
          <a:p>
            <a:r>
              <a:rPr lang="en-US" altLang="ja-JP" dirty="0"/>
              <a:t>(G4Galactic)</a:t>
            </a:r>
            <a:endParaRPr kumimoji="1" lang="en-US" altLang="ja-JP" dirty="0"/>
          </a:p>
        </p:txBody>
      </p:sp>
      <p:cxnSp>
        <p:nvCxnSpPr>
          <p:cNvPr id="23" name="直線コネクタ 22">
            <a:extLst>
              <a:ext uri="{FF2B5EF4-FFF2-40B4-BE49-F238E27FC236}">
                <a16:creationId xmlns:a16="http://schemas.microsoft.com/office/drawing/2014/main" id="{2E46D0FD-80D0-FAF5-B692-1DAD14D81DAA}"/>
              </a:ext>
            </a:extLst>
          </p:cNvPr>
          <p:cNvCxnSpPr>
            <a:cxnSpLocks/>
          </p:cNvCxnSpPr>
          <p:nvPr/>
        </p:nvCxnSpPr>
        <p:spPr>
          <a:xfrm>
            <a:off x="1414910" y="1280555"/>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4" name="直線コネクタ 23">
            <a:extLst>
              <a:ext uri="{FF2B5EF4-FFF2-40B4-BE49-F238E27FC236}">
                <a16:creationId xmlns:a16="http://schemas.microsoft.com/office/drawing/2014/main" id="{F95A12D6-7CC2-E08C-0354-23AA4560BABF}"/>
              </a:ext>
            </a:extLst>
          </p:cNvPr>
          <p:cNvCxnSpPr>
            <a:cxnSpLocks/>
          </p:cNvCxnSpPr>
          <p:nvPr/>
        </p:nvCxnSpPr>
        <p:spPr>
          <a:xfrm>
            <a:off x="1415695" y="5717969"/>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5" name="直線矢印コネクタ 24">
            <a:extLst>
              <a:ext uri="{FF2B5EF4-FFF2-40B4-BE49-F238E27FC236}">
                <a16:creationId xmlns:a16="http://schemas.microsoft.com/office/drawing/2014/main" id="{78EA40CF-46E2-9A77-9E70-7347B11BD26C}"/>
              </a:ext>
            </a:extLst>
          </p:cNvPr>
          <p:cNvCxnSpPr>
            <a:cxnSpLocks/>
          </p:cNvCxnSpPr>
          <p:nvPr/>
        </p:nvCxnSpPr>
        <p:spPr>
          <a:xfrm>
            <a:off x="1551581" y="1280555"/>
            <a:ext cx="0" cy="4437414"/>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8FD8336F-7F33-D659-39E7-11B9298107D9}"/>
              </a:ext>
            </a:extLst>
          </p:cNvPr>
          <p:cNvSpPr txBox="1"/>
          <p:nvPr/>
        </p:nvSpPr>
        <p:spPr>
          <a:xfrm rot="16200000">
            <a:off x="785346" y="4826504"/>
            <a:ext cx="966931" cy="369332"/>
          </a:xfrm>
          <a:prstGeom prst="rect">
            <a:avLst/>
          </a:prstGeom>
          <a:noFill/>
        </p:spPr>
        <p:txBody>
          <a:bodyPr wrap="none" rtlCol="0">
            <a:spAutoFit/>
          </a:bodyPr>
          <a:lstStyle/>
          <a:p>
            <a:r>
              <a:rPr kumimoji="1" lang="en-US" altLang="ja-JP" dirty="0"/>
              <a:t>100mm</a:t>
            </a:r>
            <a:endParaRPr kumimoji="1" lang="ja-JP" altLang="en-US" dirty="0"/>
          </a:p>
        </p:txBody>
      </p:sp>
      <p:cxnSp>
        <p:nvCxnSpPr>
          <p:cNvPr id="28" name="直線コネクタ 27">
            <a:extLst>
              <a:ext uri="{FF2B5EF4-FFF2-40B4-BE49-F238E27FC236}">
                <a16:creationId xmlns:a16="http://schemas.microsoft.com/office/drawing/2014/main" id="{7F2E5FF2-E936-4A79-8DFE-8002C7C4612E}"/>
              </a:ext>
            </a:extLst>
          </p:cNvPr>
          <p:cNvCxnSpPr>
            <a:cxnSpLocks/>
          </p:cNvCxnSpPr>
          <p:nvPr/>
        </p:nvCxnSpPr>
        <p:spPr>
          <a:xfrm>
            <a:off x="3315134" y="689643"/>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87026DD3-244A-2DED-629F-4DBA6C14A4B7}"/>
              </a:ext>
            </a:extLst>
          </p:cNvPr>
          <p:cNvCxnSpPr>
            <a:cxnSpLocks/>
          </p:cNvCxnSpPr>
          <p:nvPr/>
        </p:nvCxnSpPr>
        <p:spPr>
          <a:xfrm>
            <a:off x="5847723" y="689643"/>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0" name="直線矢印コネクタ 29">
            <a:extLst>
              <a:ext uri="{FF2B5EF4-FFF2-40B4-BE49-F238E27FC236}">
                <a16:creationId xmlns:a16="http://schemas.microsoft.com/office/drawing/2014/main" id="{31B4FBF5-1997-0FC7-011D-89E0514175CA}"/>
              </a:ext>
            </a:extLst>
          </p:cNvPr>
          <p:cNvCxnSpPr>
            <a:cxnSpLocks/>
          </p:cNvCxnSpPr>
          <p:nvPr/>
        </p:nvCxnSpPr>
        <p:spPr>
          <a:xfrm>
            <a:off x="3315134" y="868208"/>
            <a:ext cx="2532589" cy="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32" name="テキスト ボックス 31">
            <a:extLst>
              <a:ext uri="{FF2B5EF4-FFF2-40B4-BE49-F238E27FC236}">
                <a16:creationId xmlns:a16="http://schemas.microsoft.com/office/drawing/2014/main" id="{6483286C-B822-ADFB-6FF6-E4542E84D4AB}"/>
              </a:ext>
            </a:extLst>
          </p:cNvPr>
          <p:cNvSpPr txBox="1"/>
          <p:nvPr/>
        </p:nvSpPr>
        <p:spPr>
          <a:xfrm>
            <a:off x="4090674" y="540249"/>
            <a:ext cx="1069524" cy="369332"/>
          </a:xfrm>
          <a:prstGeom prst="rect">
            <a:avLst/>
          </a:prstGeom>
          <a:noFill/>
        </p:spPr>
        <p:txBody>
          <a:bodyPr wrap="none" rtlCol="0">
            <a:spAutoFit/>
          </a:bodyPr>
          <a:lstStyle/>
          <a:p>
            <a:r>
              <a:rPr lang="en-US" altLang="ja-JP" dirty="0"/>
              <a:t>Φ75</a:t>
            </a:r>
            <a:r>
              <a:rPr kumimoji="1" lang="en-US" altLang="ja-JP" dirty="0"/>
              <a:t>mm</a:t>
            </a:r>
            <a:endParaRPr kumimoji="1" lang="ja-JP" altLang="en-US" dirty="0"/>
          </a:p>
        </p:txBody>
      </p:sp>
      <p:cxnSp>
        <p:nvCxnSpPr>
          <p:cNvPr id="33" name="直線コネクタ 32">
            <a:extLst>
              <a:ext uri="{FF2B5EF4-FFF2-40B4-BE49-F238E27FC236}">
                <a16:creationId xmlns:a16="http://schemas.microsoft.com/office/drawing/2014/main" id="{2BD07EB2-1EC4-9953-5EEE-C9102B84F0F3}"/>
              </a:ext>
            </a:extLst>
          </p:cNvPr>
          <p:cNvCxnSpPr>
            <a:cxnSpLocks/>
          </p:cNvCxnSpPr>
          <p:nvPr/>
        </p:nvCxnSpPr>
        <p:spPr>
          <a:xfrm>
            <a:off x="1630530" y="1501545"/>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4" name="直線矢印コネクタ 33">
            <a:extLst>
              <a:ext uri="{FF2B5EF4-FFF2-40B4-BE49-F238E27FC236}">
                <a16:creationId xmlns:a16="http://schemas.microsoft.com/office/drawing/2014/main" id="{03D837C0-EE7D-CB1D-2F04-A34AECE1646D}"/>
              </a:ext>
            </a:extLst>
          </p:cNvPr>
          <p:cNvCxnSpPr>
            <a:cxnSpLocks/>
          </p:cNvCxnSpPr>
          <p:nvPr/>
        </p:nvCxnSpPr>
        <p:spPr>
          <a:xfrm>
            <a:off x="1911799" y="1280555"/>
            <a:ext cx="0" cy="22099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37" name="テキスト ボックス 36">
            <a:extLst>
              <a:ext uri="{FF2B5EF4-FFF2-40B4-BE49-F238E27FC236}">
                <a16:creationId xmlns:a16="http://schemas.microsoft.com/office/drawing/2014/main" id="{F25B379A-0CEF-0474-7027-EFA9087AD083}"/>
              </a:ext>
            </a:extLst>
          </p:cNvPr>
          <p:cNvSpPr txBox="1"/>
          <p:nvPr/>
        </p:nvSpPr>
        <p:spPr>
          <a:xfrm rot="16200000">
            <a:off x="1556573" y="748580"/>
            <a:ext cx="710451" cy="369332"/>
          </a:xfrm>
          <a:prstGeom prst="rect">
            <a:avLst/>
          </a:prstGeom>
          <a:noFill/>
        </p:spPr>
        <p:txBody>
          <a:bodyPr wrap="none" rtlCol="0">
            <a:spAutoFit/>
          </a:bodyPr>
          <a:lstStyle/>
          <a:p>
            <a:r>
              <a:rPr lang="en-US" altLang="ja-JP" dirty="0"/>
              <a:t>5</a:t>
            </a:r>
            <a:r>
              <a:rPr kumimoji="1" lang="en-US" altLang="ja-JP" dirty="0"/>
              <a:t>mm</a:t>
            </a:r>
            <a:endParaRPr kumimoji="1" lang="ja-JP" altLang="en-US" dirty="0"/>
          </a:p>
        </p:txBody>
      </p:sp>
      <p:cxnSp>
        <p:nvCxnSpPr>
          <p:cNvPr id="38" name="直線コネクタ 37">
            <a:extLst>
              <a:ext uri="{FF2B5EF4-FFF2-40B4-BE49-F238E27FC236}">
                <a16:creationId xmlns:a16="http://schemas.microsoft.com/office/drawing/2014/main" id="{050555F3-B9A8-01C5-40DC-5DB38A73ABF8}"/>
              </a:ext>
            </a:extLst>
          </p:cNvPr>
          <p:cNvCxnSpPr>
            <a:cxnSpLocks/>
          </p:cNvCxnSpPr>
          <p:nvPr/>
        </p:nvCxnSpPr>
        <p:spPr>
          <a:xfrm>
            <a:off x="1724025" y="5104393"/>
            <a:ext cx="2164624" cy="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39" name="直線矢印コネクタ 38">
            <a:extLst>
              <a:ext uri="{FF2B5EF4-FFF2-40B4-BE49-F238E27FC236}">
                <a16:creationId xmlns:a16="http://schemas.microsoft.com/office/drawing/2014/main" id="{1200DDB5-4F55-FABE-51C8-BB8C04250BB4}"/>
              </a:ext>
            </a:extLst>
          </p:cNvPr>
          <p:cNvCxnSpPr>
            <a:cxnSpLocks/>
          </p:cNvCxnSpPr>
          <p:nvPr/>
        </p:nvCxnSpPr>
        <p:spPr>
          <a:xfrm>
            <a:off x="1911798" y="1501545"/>
            <a:ext cx="0" cy="3602848"/>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41" name="テキスト ボックス 40">
            <a:extLst>
              <a:ext uri="{FF2B5EF4-FFF2-40B4-BE49-F238E27FC236}">
                <a16:creationId xmlns:a16="http://schemas.microsoft.com/office/drawing/2014/main" id="{83B19EBC-116A-6311-4649-5247DA8B1E70}"/>
              </a:ext>
            </a:extLst>
          </p:cNvPr>
          <p:cNvSpPr txBox="1"/>
          <p:nvPr/>
        </p:nvSpPr>
        <p:spPr>
          <a:xfrm rot="16200000">
            <a:off x="1354683" y="4155420"/>
            <a:ext cx="838691" cy="369332"/>
          </a:xfrm>
          <a:prstGeom prst="rect">
            <a:avLst/>
          </a:prstGeom>
          <a:noFill/>
        </p:spPr>
        <p:txBody>
          <a:bodyPr wrap="none" rtlCol="0">
            <a:spAutoFit/>
          </a:bodyPr>
          <a:lstStyle/>
          <a:p>
            <a:r>
              <a:rPr kumimoji="1" lang="en-US" altLang="ja-JP" dirty="0"/>
              <a:t>8</a:t>
            </a:r>
            <a:r>
              <a:rPr lang="en-US" altLang="ja-JP" dirty="0"/>
              <a:t>0</a:t>
            </a:r>
            <a:r>
              <a:rPr kumimoji="1" lang="en-US" altLang="ja-JP" dirty="0"/>
              <a:t>mm</a:t>
            </a:r>
            <a:endParaRPr kumimoji="1" lang="ja-JP" altLang="en-US" dirty="0"/>
          </a:p>
        </p:txBody>
      </p:sp>
      <p:sp>
        <p:nvSpPr>
          <p:cNvPr id="42" name="テキスト ボックス 41">
            <a:extLst>
              <a:ext uri="{FF2B5EF4-FFF2-40B4-BE49-F238E27FC236}">
                <a16:creationId xmlns:a16="http://schemas.microsoft.com/office/drawing/2014/main" id="{758D9944-DB9E-B9C4-7420-17A4700AEF54}"/>
              </a:ext>
            </a:extLst>
          </p:cNvPr>
          <p:cNvSpPr txBox="1"/>
          <p:nvPr/>
        </p:nvSpPr>
        <p:spPr>
          <a:xfrm>
            <a:off x="6801479" y="1889650"/>
            <a:ext cx="1978427" cy="923330"/>
          </a:xfrm>
          <a:prstGeom prst="rect">
            <a:avLst/>
          </a:prstGeom>
          <a:solidFill>
            <a:srgbClr val="FFFF00"/>
          </a:solidFill>
          <a:ln>
            <a:solidFill>
              <a:schemeClr val="tx1"/>
            </a:solidFill>
          </a:ln>
        </p:spPr>
        <p:txBody>
          <a:bodyPr wrap="none" rtlCol="0">
            <a:spAutoFit/>
          </a:bodyPr>
          <a:lstStyle/>
          <a:p>
            <a:r>
              <a:rPr lang="en-US" altLang="ja-JP" dirty="0"/>
              <a:t>Kapton window</a:t>
            </a:r>
          </a:p>
          <a:p>
            <a:r>
              <a:rPr kumimoji="1" lang="en-US" altLang="ja-JP" dirty="0"/>
              <a:t>(G4_Kapton)</a:t>
            </a:r>
          </a:p>
          <a:p>
            <a:r>
              <a:rPr lang="en-US" altLang="ja-JP" dirty="0"/>
              <a:t>thickness 0.1mm</a:t>
            </a:r>
            <a:endParaRPr kumimoji="1" lang="en-US" altLang="ja-JP" dirty="0"/>
          </a:p>
        </p:txBody>
      </p:sp>
      <p:cxnSp>
        <p:nvCxnSpPr>
          <p:cNvPr id="43" name="直線コネクタ 42">
            <a:extLst>
              <a:ext uri="{FF2B5EF4-FFF2-40B4-BE49-F238E27FC236}">
                <a16:creationId xmlns:a16="http://schemas.microsoft.com/office/drawing/2014/main" id="{DE8792B3-E304-59C5-8EF3-5EFB45ABAE8E}"/>
              </a:ext>
            </a:extLst>
          </p:cNvPr>
          <p:cNvCxnSpPr>
            <a:cxnSpLocks/>
          </p:cNvCxnSpPr>
          <p:nvPr/>
        </p:nvCxnSpPr>
        <p:spPr>
          <a:xfrm>
            <a:off x="3420030" y="954859"/>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4" name="直線コネクタ 43">
            <a:extLst>
              <a:ext uri="{FF2B5EF4-FFF2-40B4-BE49-F238E27FC236}">
                <a16:creationId xmlns:a16="http://schemas.microsoft.com/office/drawing/2014/main" id="{FB4CFA00-A681-1FC2-AC54-CCA37CAC4106}"/>
              </a:ext>
            </a:extLst>
          </p:cNvPr>
          <p:cNvCxnSpPr>
            <a:cxnSpLocks/>
          </p:cNvCxnSpPr>
          <p:nvPr/>
        </p:nvCxnSpPr>
        <p:spPr>
          <a:xfrm>
            <a:off x="5713021" y="954858"/>
            <a:ext cx="0" cy="2156657"/>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45" name="直線矢印コネクタ 44">
            <a:extLst>
              <a:ext uri="{FF2B5EF4-FFF2-40B4-BE49-F238E27FC236}">
                <a16:creationId xmlns:a16="http://schemas.microsoft.com/office/drawing/2014/main" id="{8D46051C-B54D-0ED4-B1F0-B5BDB917554F}"/>
              </a:ext>
            </a:extLst>
          </p:cNvPr>
          <p:cNvCxnSpPr>
            <a:cxnSpLocks/>
          </p:cNvCxnSpPr>
          <p:nvPr/>
        </p:nvCxnSpPr>
        <p:spPr>
          <a:xfrm>
            <a:off x="3420030" y="1186863"/>
            <a:ext cx="2292991" cy="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46" name="テキスト ボックス 45">
            <a:extLst>
              <a:ext uri="{FF2B5EF4-FFF2-40B4-BE49-F238E27FC236}">
                <a16:creationId xmlns:a16="http://schemas.microsoft.com/office/drawing/2014/main" id="{E6C926D2-266C-CC50-923A-2EE484EC5189}"/>
              </a:ext>
            </a:extLst>
          </p:cNvPr>
          <p:cNvSpPr txBox="1"/>
          <p:nvPr/>
        </p:nvSpPr>
        <p:spPr>
          <a:xfrm>
            <a:off x="4090674" y="870188"/>
            <a:ext cx="1069524" cy="369332"/>
          </a:xfrm>
          <a:prstGeom prst="rect">
            <a:avLst/>
          </a:prstGeom>
          <a:noFill/>
        </p:spPr>
        <p:txBody>
          <a:bodyPr wrap="none" rtlCol="0">
            <a:spAutoFit/>
          </a:bodyPr>
          <a:lstStyle/>
          <a:p>
            <a:r>
              <a:rPr lang="en-US" altLang="ja-JP" dirty="0"/>
              <a:t>Φ70</a:t>
            </a:r>
            <a:r>
              <a:rPr kumimoji="1" lang="en-US" altLang="ja-JP" dirty="0"/>
              <a:t>mm</a:t>
            </a:r>
            <a:endParaRPr kumimoji="1" lang="ja-JP" altLang="en-US" dirty="0"/>
          </a:p>
        </p:txBody>
      </p:sp>
      <p:sp>
        <p:nvSpPr>
          <p:cNvPr id="49" name="テキスト ボックス 48">
            <a:extLst>
              <a:ext uri="{FF2B5EF4-FFF2-40B4-BE49-F238E27FC236}">
                <a16:creationId xmlns:a16="http://schemas.microsoft.com/office/drawing/2014/main" id="{4D228C5A-C938-28CC-F12D-8E89C08170B7}"/>
              </a:ext>
            </a:extLst>
          </p:cNvPr>
          <p:cNvSpPr txBox="1"/>
          <p:nvPr/>
        </p:nvSpPr>
        <p:spPr>
          <a:xfrm>
            <a:off x="6810409" y="2952493"/>
            <a:ext cx="1978427" cy="646331"/>
          </a:xfrm>
          <a:prstGeom prst="rect">
            <a:avLst/>
          </a:prstGeom>
          <a:solidFill>
            <a:schemeClr val="accent2"/>
          </a:solidFill>
          <a:ln>
            <a:solidFill>
              <a:schemeClr val="tx1"/>
            </a:solidFill>
          </a:ln>
        </p:spPr>
        <p:txBody>
          <a:bodyPr wrap="none" rtlCol="0">
            <a:spAutoFit/>
          </a:bodyPr>
          <a:lstStyle/>
          <a:p>
            <a:r>
              <a:rPr lang="en-US" altLang="ja-JP" dirty="0"/>
              <a:t>Cu case </a:t>
            </a:r>
            <a:r>
              <a:rPr kumimoji="1" lang="en-US" altLang="ja-JP" dirty="0"/>
              <a:t>(G4_Cu)</a:t>
            </a:r>
          </a:p>
          <a:p>
            <a:r>
              <a:rPr lang="en-US" altLang="ja-JP" dirty="0"/>
              <a:t>thickness 0.8mm</a:t>
            </a:r>
            <a:endParaRPr kumimoji="1" lang="en-US" altLang="ja-JP" dirty="0"/>
          </a:p>
        </p:txBody>
      </p:sp>
      <p:sp>
        <p:nvSpPr>
          <p:cNvPr id="50" name="テキスト ボックス 49">
            <a:extLst>
              <a:ext uri="{FF2B5EF4-FFF2-40B4-BE49-F238E27FC236}">
                <a16:creationId xmlns:a16="http://schemas.microsoft.com/office/drawing/2014/main" id="{CE405A5C-6A05-E6D2-32E0-2E583915BA7D}"/>
              </a:ext>
            </a:extLst>
          </p:cNvPr>
          <p:cNvSpPr txBox="1"/>
          <p:nvPr/>
        </p:nvSpPr>
        <p:spPr>
          <a:xfrm>
            <a:off x="6801479" y="3774493"/>
            <a:ext cx="1316386" cy="646331"/>
          </a:xfrm>
          <a:prstGeom prst="rect">
            <a:avLst/>
          </a:prstGeom>
          <a:solidFill>
            <a:schemeClr val="accent5">
              <a:lumMod val="40000"/>
              <a:lumOff val="60000"/>
            </a:schemeClr>
          </a:solidFill>
          <a:ln>
            <a:solidFill>
              <a:schemeClr val="tx1"/>
            </a:solidFill>
          </a:ln>
        </p:spPr>
        <p:txBody>
          <a:bodyPr wrap="none" rtlCol="0">
            <a:spAutoFit/>
          </a:bodyPr>
          <a:lstStyle/>
          <a:p>
            <a:r>
              <a:rPr lang="en-US" altLang="ja-JP" dirty="0"/>
              <a:t>Ge crystal </a:t>
            </a:r>
          </a:p>
          <a:p>
            <a:r>
              <a:rPr kumimoji="1" lang="en-US" altLang="ja-JP" dirty="0"/>
              <a:t>(G4_Ge)</a:t>
            </a:r>
          </a:p>
        </p:txBody>
      </p:sp>
      <p:sp>
        <p:nvSpPr>
          <p:cNvPr id="51" name="テキスト ボックス 50">
            <a:extLst>
              <a:ext uri="{FF2B5EF4-FFF2-40B4-BE49-F238E27FC236}">
                <a16:creationId xmlns:a16="http://schemas.microsoft.com/office/drawing/2014/main" id="{97558C58-4B3C-F58A-484B-4C1364A3049F}"/>
              </a:ext>
            </a:extLst>
          </p:cNvPr>
          <p:cNvSpPr txBox="1"/>
          <p:nvPr/>
        </p:nvSpPr>
        <p:spPr>
          <a:xfrm>
            <a:off x="6766726" y="5424169"/>
            <a:ext cx="1768433" cy="646331"/>
          </a:xfrm>
          <a:prstGeom prst="rect">
            <a:avLst/>
          </a:prstGeom>
          <a:solidFill>
            <a:schemeClr val="tx2">
              <a:lumMod val="10000"/>
              <a:lumOff val="90000"/>
            </a:schemeClr>
          </a:solidFill>
          <a:ln>
            <a:solidFill>
              <a:schemeClr val="tx1"/>
            </a:solidFill>
          </a:ln>
        </p:spPr>
        <p:txBody>
          <a:bodyPr wrap="none" rtlCol="0">
            <a:spAutoFit/>
          </a:bodyPr>
          <a:lstStyle/>
          <a:p>
            <a:r>
              <a:rPr kumimoji="1" lang="en-US" altLang="ja-JP" dirty="0"/>
              <a:t>Vacuum Space</a:t>
            </a:r>
          </a:p>
          <a:p>
            <a:r>
              <a:rPr lang="en-US" altLang="ja-JP" dirty="0"/>
              <a:t>(G4Galactic)</a:t>
            </a:r>
            <a:endParaRPr kumimoji="1" lang="en-US" altLang="ja-JP" dirty="0"/>
          </a:p>
        </p:txBody>
      </p:sp>
      <p:cxnSp>
        <p:nvCxnSpPr>
          <p:cNvPr id="52" name="直線コネクタ 51">
            <a:extLst>
              <a:ext uri="{FF2B5EF4-FFF2-40B4-BE49-F238E27FC236}">
                <a16:creationId xmlns:a16="http://schemas.microsoft.com/office/drawing/2014/main" id="{53894863-8B30-D93A-D4F9-947CF0F62D57}"/>
              </a:ext>
            </a:extLst>
          </p:cNvPr>
          <p:cNvCxnSpPr>
            <a:cxnSpLocks/>
          </p:cNvCxnSpPr>
          <p:nvPr/>
        </p:nvCxnSpPr>
        <p:spPr>
          <a:xfrm>
            <a:off x="2167247" y="3909473"/>
            <a:ext cx="2276771" cy="13838"/>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54" name="直線矢印コネクタ 53">
            <a:extLst>
              <a:ext uri="{FF2B5EF4-FFF2-40B4-BE49-F238E27FC236}">
                <a16:creationId xmlns:a16="http://schemas.microsoft.com/office/drawing/2014/main" id="{2ED4C5F8-BF6D-EF5E-E5D5-C1CF0D80F3F1}"/>
              </a:ext>
            </a:extLst>
          </p:cNvPr>
          <p:cNvCxnSpPr>
            <a:cxnSpLocks/>
          </p:cNvCxnSpPr>
          <p:nvPr/>
        </p:nvCxnSpPr>
        <p:spPr>
          <a:xfrm>
            <a:off x="2277954" y="1493629"/>
            <a:ext cx="0" cy="2429682"/>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E15FCF72-85D5-D2E5-797B-311CE59C8ACF}"/>
              </a:ext>
            </a:extLst>
          </p:cNvPr>
          <p:cNvSpPr txBox="1"/>
          <p:nvPr/>
        </p:nvSpPr>
        <p:spPr>
          <a:xfrm rot="16200000">
            <a:off x="1719634" y="3176546"/>
            <a:ext cx="838691" cy="369332"/>
          </a:xfrm>
          <a:prstGeom prst="rect">
            <a:avLst/>
          </a:prstGeom>
          <a:noFill/>
        </p:spPr>
        <p:txBody>
          <a:bodyPr wrap="none" rtlCol="0">
            <a:spAutoFit/>
          </a:bodyPr>
          <a:lstStyle/>
          <a:p>
            <a:r>
              <a:rPr lang="en-US" altLang="ja-JP" dirty="0"/>
              <a:t>60</a:t>
            </a:r>
            <a:r>
              <a:rPr kumimoji="1" lang="en-US" altLang="ja-JP" dirty="0"/>
              <a:t>mm</a:t>
            </a:r>
            <a:endParaRPr kumimoji="1" lang="ja-JP" altLang="en-US" dirty="0"/>
          </a:p>
        </p:txBody>
      </p:sp>
      <p:cxnSp>
        <p:nvCxnSpPr>
          <p:cNvPr id="57" name="直線矢印コネクタ 56">
            <a:extLst>
              <a:ext uri="{FF2B5EF4-FFF2-40B4-BE49-F238E27FC236}">
                <a16:creationId xmlns:a16="http://schemas.microsoft.com/office/drawing/2014/main" id="{AF1F9017-A46D-98AC-7E77-6242BD4A4CE3}"/>
              </a:ext>
            </a:extLst>
          </p:cNvPr>
          <p:cNvCxnSpPr>
            <a:cxnSpLocks/>
          </p:cNvCxnSpPr>
          <p:nvPr/>
        </p:nvCxnSpPr>
        <p:spPr>
          <a:xfrm>
            <a:off x="2806337" y="2351315"/>
            <a:ext cx="0" cy="1568046"/>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cxnSp>
        <p:nvCxnSpPr>
          <p:cNvPr id="59" name="直線コネクタ 58">
            <a:extLst>
              <a:ext uri="{FF2B5EF4-FFF2-40B4-BE49-F238E27FC236}">
                <a16:creationId xmlns:a16="http://schemas.microsoft.com/office/drawing/2014/main" id="{40EF83BC-AAA8-1A35-1E9F-899E8D7E1EEA}"/>
              </a:ext>
            </a:extLst>
          </p:cNvPr>
          <p:cNvCxnSpPr>
            <a:cxnSpLocks/>
          </p:cNvCxnSpPr>
          <p:nvPr/>
        </p:nvCxnSpPr>
        <p:spPr>
          <a:xfrm>
            <a:off x="2397939" y="2345959"/>
            <a:ext cx="2276771" cy="13838"/>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sp>
        <p:nvSpPr>
          <p:cNvPr id="60" name="テキスト ボックス 59">
            <a:extLst>
              <a:ext uri="{FF2B5EF4-FFF2-40B4-BE49-F238E27FC236}">
                <a16:creationId xmlns:a16="http://schemas.microsoft.com/office/drawing/2014/main" id="{AC47454F-6618-1EAB-A8A1-325F39AEA174}"/>
              </a:ext>
            </a:extLst>
          </p:cNvPr>
          <p:cNvSpPr txBox="1"/>
          <p:nvPr/>
        </p:nvSpPr>
        <p:spPr>
          <a:xfrm rot="16200000">
            <a:off x="2191968" y="3200349"/>
            <a:ext cx="838691" cy="369332"/>
          </a:xfrm>
          <a:prstGeom prst="rect">
            <a:avLst/>
          </a:prstGeom>
          <a:noFill/>
        </p:spPr>
        <p:txBody>
          <a:bodyPr wrap="none" rtlCol="0">
            <a:spAutoFit/>
          </a:bodyPr>
          <a:lstStyle/>
          <a:p>
            <a:r>
              <a:rPr kumimoji="1" lang="en-US" altLang="ja-JP" dirty="0"/>
              <a:t>45mm</a:t>
            </a:r>
            <a:endParaRPr kumimoji="1" lang="ja-JP" altLang="en-US" dirty="0"/>
          </a:p>
        </p:txBody>
      </p:sp>
      <p:cxnSp>
        <p:nvCxnSpPr>
          <p:cNvPr id="61" name="直線コネクタ 60">
            <a:extLst>
              <a:ext uri="{FF2B5EF4-FFF2-40B4-BE49-F238E27FC236}">
                <a16:creationId xmlns:a16="http://schemas.microsoft.com/office/drawing/2014/main" id="{7229B40F-9A69-45D9-F4B2-4CCAB551DC31}"/>
              </a:ext>
            </a:extLst>
          </p:cNvPr>
          <p:cNvCxnSpPr>
            <a:cxnSpLocks/>
          </p:cNvCxnSpPr>
          <p:nvPr/>
        </p:nvCxnSpPr>
        <p:spPr>
          <a:xfrm>
            <a:off x="4444018" y="2131621"/>
            <a:ext cx="0" cy="1672740"/>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62" name="直線コネクタ 61">
            <a:extLst>
              <a:ext uri="{FF2B5EF4-FFF2-40B4-BE49-F238E27FC236}">
                <a16:creationId xmlns:a16="http://schemas.microsoft.com/office/drawing/2014/main" id="{8299FB4A-A007-8785-D35F-BBDD6E49E2C0}"/>
              </a:ext>
            </a:extLst>
          </p:cNvPr>
          <p:cNvCxnSpPr>
            <a:cxnSpLocks/>
          </p:cNvCxnSpPr>
          <p:nvPr/>
        </p:nvCxnSpPr>
        <p:spPr>
          <a:xfrm>
            <a:off x="4667992" y="2131621"/>
            <a:ext cx="9713" cy="1642872"/>
          </a:xfrm>
          <a:prstGeom prst="line">
            <a:avLst/>
          </a:prstGeom>
          <a:ln w="9525">
            <a:solidFill>
              <a:schemeClr val="tx1"/>
            </a:solidFill>
            <a:prstDash val="sysDot"/>
          </a:ln>
        </p:spPr>
        <p:style>
          <a:lnRef idx="2">
            <a:schemeClr val="accent1"/>
          </a:lnRef>
          <a:fillRef idx="0">
            <a:schemeClr val="accent1"/>
          </a:fillRef>
          <a:effectRef idx="1">
            <a:schemeClr val="accent1"/>
          </a:effectRef>
          <a:fontRef idx="minor">
            <a:schemeClr val="tx1"/>
          </a:fontRef>
        </p:style>
      </p:cxnSp>
      <p:cxnSp>
        <p:nvCxnSpPr>
          <p:cNvPr id="63" name="直線矢印コネクタ 62">
            <a:extLst>
              <a:ext uri="{FF2B5EF4-FFF2-40B4-BE49-F238E27FC236}">
                <a16:creationId xmlns:a16="http://schemas.microsoft.com/office/drawing/2014/main" id="{A9AFCC03-0C86-DE7B-D687-C8426DDF57D0}"/>
              </a:ext>
            </a:extLst>
          </p:cNvPr>
          <p:cNvCxnSpPr>
            <a:cxnSpLocks/>
          </p:cNvCxnSpPr>
          <p:nvPr/>
        </p:nvCxnSpPr>
        <p:spPr>
          <a:xfrm>
            <a:off x="4444018" y="2241789"/>
            <a:ext cx="230692" cy="0"/>
          </a:xfrm>
          <a:prstGeom prst="straightConnector1">
            <a:avLst/>
          </a:prstGeom>
          <a:ln w="12700">
            <a:solidFill>
              <a:schemeClr val="tx1"/>
            </a:solidFill>
            <a:headEnd type="arrow"/>
            <a:tailEnd type="arrow"/>
          </a:ln>
        </p:spPr>
        <p:style>
          <a:lnRef idx="2">
            <a:schemeClr val="accent1"/>
          </a:lnRef>
          <a:fillRef idx="0">
            <a:schemeClr val="accent1"/>
          </a:fillRef>
          <a:effectRef idx="1">
            <a:schemeClr val="accent1"/>
          </a:effectRef>
          <a:fontRef idx="minor">
            <a:schemeClr val="tx1"/>
          </a:fontRef>
        </p:style>
      </p:cxnSp>
      <p:sp>
        <p:nvSpPr>
          <p:cNvPr id="64" name="テキスト ボックス 63">
            <a:extLst>
              <a:ext uri="{FF2B5EF4-FFF2-40B4-BE49-F238E27FC236}">
                <a16:creationId xmlns:a16="http://schemas.microsoft.com/office/drawing/2014/main" id="{80C1B070-3502-F22A-6F31-473E5795858F}"/>
              </a:ext>
            </a:extLst>
          </p:cNvPr>
          <p:cNvSpPr txBox="1"/>
          <p:nvPr/>
        </p:nvSpPr>
        <p:spPr>
          <a:xfrm>
            <a:off x="4212342" y="1825612"/>
            <a:ext cx="941283" cy="369332"/>
          </a:xfrm>
          <a:prstGeom prst="rect">
            <a:avLst/>
          </a:prstGeom>
          <a:noFill/>
        </p:spPr>
        <p:txBody>
          <a:bodyPr wrap="none" rtlCol="0">
            <a:spAutoFit/>
          </a:bodyPr>
          <a:lstStyle/>
          <a:p>
            <a:r>
              <a:rPr lang="en-US" altLang="ja-JP" dirty="0"/>
              <a:t>Φ8</a:t>
            </a:r>
            <a:r>
              <a:rPr kumimoji="1" lang="en-US" altLang="ja-JP" dirty="0"/>
              <a:t>mm</a:t>
            </a:r>
            <a:endParaRPr kumimoji="1" lang="ja-JP" altLang="en-US" dirty="0"/>
          </a:p>
        </p:txBody>
      </p:sp>
      <p:sp>
        <p:nvSpPr>
          <p:cNvPr id="69" name="テキスト ボックス 68">
            <a:extLst>
              <a:ext uri="{FF2B5EF4-FFF2-40B4-BE49-F238E27FC236}">
                <a16:creationId xmlns:a16="http://schemas.microsoft.com/office/drawing/2014/main" id="{8B5D60EF-C144-F249-E3B0-944B775F8F04}"/>
              </a:ext>
            </a:extLst>
          </p:cNvPr>
          <p:cNvSpPr txBox="1"/>
          <p:nvPr/>
        </p:nvSpPr>
        <p:spPr>
          <a:xfrm>
            <a:off x="6801476" y="4625521"/>
            <a:ext cx="1612942" cy="646331"/>
          </a:xfrm>
          <a:prstGeom prst="rect">
            <a:avLst/>
          </a:prstGeom>
          <a:solidFill>
            <a:schemeClr val="tx2">
              <a:lumMod val="10000"/>
              <a:lumOff val="90000"/>
            </a:schemeClr>
          </a:solidFill>
          <a:ln>
            <a:solidFill>
              <a:schemeClr val="tx1"/>
            </a:solidFill>
          </a:ln>
        </p:spPr>
        <p:txBody>
          <a:bodyPr wrap="none" rtlCol="0">
            <a:spAutoFit/>
          </a:bodyPr>
          <a:lstStyle/>
          <a:p>
            <a:r>
              <a:rPr kumimoji="1" lang="en-US" altLang="ja-JP" dirty="0"/>
              <a:t>Vacuum Core</a:t>
            </a:r>
          </a:p>
          <a:p>
            <a:r>
              <a:rPr lang="en-US" altLang="ja-JP" dirty="0"/>
              <a:t>(G4Galactic)</a:t>
            </a:r>
            <a:endParaRPr kumimoji="1" lang="en-US" altLang="ja-JP" dirty="0"/>
          </a:p>
        </p:txBody>
      </p:sp>
      <p:cxnSp>
        <p:nvCxnSpPr>
          <p:cNvPr id="71" name="直線矢印コネクタ 70">
            <a:extLst>
              <a:ext uri="{FF2B5EF4-FFF2-40B4-BE49-F238E27FC236}">
                <a16:creationId xmlns:a16="http://schemas.microsoft.com/office/drawing/2014/main" id="{DD317C03-941E-FBB5-812B-F0E68501A411}"/>
              </a:ext>
            </a:extLst>
          </p:cNvPr>
          <p:cNvCxnSpPr>
            <a:cxnSpLocks/>
            <a:stCxn id="14" idx="1"/>
          </p:cNvCxnSpPr>
          <p:nvPr/>
        </p:nvCxnSpPr>
        <p:spPr>
          <a:xfrm flipH="1">
            <a:off x="6058899" y="604972"/>
            <a:ext cx="775951" cy="68248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3" name="直線矢印コネクタ 72">
            <a:extLst>
              <a:ext uri="{FF2B5EF4-FFF2-40B4-BE49-F238E27FC236}">
                <a16:creationId xmlns:a16="http://schemas.microsoft.com/office/drawing/2014/main" id="{88638B9F-37A5-A74B-F5AE-BF3301922F43}"/>
              </a:ext>
            </a:extLst>
          </p:cNvPr>
          <p:cNvCxnSpPr>
            <a:cxnSpLocks/>
            <a:stCxn id="22" idx="1"/>
          </p:cNvCxnSpPr>
          <p:nvPr/>
        </p:nvCxnSpPr>
        <p:spPr>
          <a:xfrm flipH="1">
            <a:off x="5909139" y="1426972"/>
            <a:ext cx="925711" cy="6665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5" name="直線矢印コネクタ 74">
            <a:extLst>
              <a:ext uri="{FF2B5EF4-FFF2-40B4-BE49-F238E27FC236}">
                <a16:creationId xmlns:a16="http://schemas.microsoft.com/office/drawing/2014/main" id="{4CAC54AE-1086-C0CC-6138-30DDB128BB9B}"/>
              </a:ext>
            </a:extLst>
          </p:cNvPr>
          <p:cNvCxnSpPr>
            <a:cxnSpLocks/>
            <a:stCxn id="42" idx="1"/>
          </p:cNvCxnSpPr>
          <p:nvPr/>
        </p:nvCxnSpPr>
        <p:spPr>
          <a:xfrm flipH="1" flipV="1">
            <a:off x="5257824" y="1470676"/>
            <a:ext cx="1543655" cy="8806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0" name="直線矢印コネクタ 79">
            <a:extLst>
              <a:ext uri="{FF2B5EF4-FFF2-40B4-BE49-F238E27FC236}">
                <a16:creationId xmlns:a16="http://schemas.microsoft.com/office/drawing/2014/main" id="{B0C5A0CF-4192-0B93-96CF-19A4F52DA38B}"/>
              </a:ext>
            </a:extLst>
          </p:cNvPr>
          <p:cNvCxnSpPr>
            <a:stCxn id="49" idx="1"/>
          </p:cNvCxnSpPr>
          <p:nvPr/>
        </p:nvCxnSpPr>
        <p:spPr>
          <a:xfrm flipH="1">
            <a:off x="5847723" y="3275659"/>
            <a:ext cx="962686" cy="233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2" name="直線矢印コネクタ 81">
            <a:extLst>
              <a:ext uri="{FF2B5EF4-FFF2-40B4-BE49-F238E27FC236}">
                <a16:creationId xmlns:a16="http://schemas.microsoft.com/office/drawing/2014/main" id="{71E38819-132C-2A29-C0CA-2500F52E2B3F}"/>
              </a:ext>
            </a:extLst>
          </p:cNvPr>
          <p:cNvCxnSpPr>
            <a:stCxn id="50" idx="1"/>
          </p:cNvCxnSpPr>
          <p:nvPr/>
        </p:nvCxnSpPr>
        <p:spPr>
          <a:xfrm flipH="1" flipV="1">
            <a:off x="5492338" y="3494314"/>
            <a:ext cx="1309141" cy="6033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4" name="直線矢印コネクタ 83">
            <a:extLst>
              <a:ext uri="{FF2B5EF4-FFF2-40B4-BE49-F238E27FC236}">
                <a16:creationId xmlns:a16="http://schemas.microsoft.com/office/drawing/2014/main" id="{5D64664A-BB08-2D47-EFFF-35A2AC006CB8}"/>
              </a:ext>
            </a:extLst>
          </p:cNvPr>
          <p:cNvCxnSpPr>
            <a:stCxn id="69" idx="1"/>
          </p:cNvCxnSpPr>
          <p:nvPr/>
        </p:nvCxnSpPr>
        <p:spPr>
          <a:xfrm flipH="1" flipV="1">
            <a:off x="4559364" y="3598824"/>
            <a:ext cx="2242112" cy="13498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6" name="直線矢印コネクタ 85">
            <a:extLst>
              <a:ext uri="{FF2B5EF4-FFF2-40B4-BE49-F238E27FC236}">
                <a16:creationId xmlns:a16="http://schemas.microsoft.com/office/drawing/2014/main" id="{BA6A1E5D-65DB-E21B-1601-8330810E9811}"/>
              </a:ext>
            </a:extLst>
          </p:cNvPr>
          <p:cNvCxnSpPr/>
          <p:nvPr/>
        </p:nvCxnSpPr>
        <p:spPr>
          <a:xfrm flipH="1" flipV="1">
            <a:off x="5058888" y="4583875"/>
            <a:ext cx="1668483" cy="11340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88" name="直線矢印コネクタ 87">
            <a:extLst>
              <a:ext uri="{FF2B5EF4-FFF2-40B4-BE49-F238E27FC236}">
                <a16:creationId xmlns:a16="http://schemas.microsoft.com/office/drawing/2014/main" id="{1643A8FF-6B7F-0F63-CD7F-B8769995A7CF}"/>
              </a:ext>
            </a:extLst>
          </p:cNvPr>
          <p:cNvCxnSpPr>
            <a:cxnSpLocks/>
          </p:cNvCxnSpPr>
          <p:nvPr/>
        </p:nvCxnSpPr>
        <p:spPr>
          <a:xfrm flipV="1">
            <a:off x="260393" y="1280555"/>
            <a:ext cx="0" cy="4367725"/>
          </a:xfrm>
          <a:prstGeom prst="straightConnector1">
            <a:avLst/>
          </a:prstGeom>
          <a:ln>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91" name="テキスト ボックス 90">
            <a:extLst>
              <a:ext uri="{FF2B5EF4-FFF2-40B4-BE49-F238E27FC236}">
                <a16:creationId xmlns:a16="http://schemas.microsoft.com/office/drawing/2014/main" id="{3B9C3451-54CC-7524-7FF6-5E214B93D1B0}"/>
              </a:ext>
            </a:extLst>
          </p:cNvPr>
          <p:cNvSpPr txBox="1"/>
          <p:nvPr/>
        </p:nvSpPr>
        <p:spPr>
          <a:xfrm>
            <a:off x="85505" y="687883"/>
            <a:ext cx="349776" cy="523220"/>
          </a:xfrm>
          <a:prstGeom prst="rect">
            <a:avLst/>
          </a:prstGeom>
          <a:noFill/>
        </p:spPr>
        <p:txBody>
          <a:bodyPr wrap="none" rtlCol="0">
            <a:spAutoFit/>
          </a:bodyPr>
          <a:lstStyle/>
          <a:p>
            <a:r>
              <a:rPr lang="en-US" altLang="ja-JP" sz="2800" dirty="0">
                <a:solidFill>
                  <a:srgbClr val="FF0000"/>
                </a:solidFill>
              </a:rPr>
              <a:t>z</a:t>
            </a:r>
            <a:endParaRPr kumimoji="1" lang="ja-JP" altLang="en-US" sz="2800" dirty="0">
              <a:solidFill>
                <a:srgbClr val="FF0000"/>
              </a:solidFill>
            </a:endParaRPr>
          </a:p>
        </p:txBody>
      </p:sp>
    </p:spTree>
    <p:extLst>
      <p:ext uri="{BB962C8B-B14F-4D97-AF65-F5344CB8AC3E}">
        <p14:creationId xmlns:p14="http://schemas.microsoft.com/office/powerpoint/2010/main" val="1714656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図 1" descr="Solids — Book For Application Developers 10.5 documentation - Mozilla Firefox">
            <a:extLst>
              <a:ext uri="{FF2B5EF4-FFF2-40B4-BE49-F238E27FC236}">
                <a16:creationId xmlns:a16="http://schemas.microsoft.com/office/drawing/2014/main" id="{F6D0FE5F-0A1D-8772-08ED-FAEC10FB17E5}"/>
              </a:ext>
            </a:extLst>
          </p:cNvPr>
          <p:cNvPicPr>
            <a:picLocks noChangeAspect="1"/>
          </p:cNvPicPr>
          <p:nvPr/>
        </p:nvPicPr>
        <p:blipFill rotWithShape="1">
          <a:blip r:embed="rId2">
            <a:extLst>
              <a:ext uri="{28A0092B-C50C-407E-A947-70E740481C1C}">
                <a14:useLocalDpi xmlns:a14="http://schemas.microsoft.com/office/drawing/2010/main" val="0"/>
              </a:ext>
            </a:extLst>
          </a:blip>
          <a:srcRect l="36470" t="24190" r="16471" b="10131"/>
          <a:stretch/>
        </p:blipFill>
        <p:spPr>
          <a:xfrm>
            <a:off x="251520" y="129092"/>
            <a:ext cx="8679079" cy="6669741"/>
          </a:xfrm>
          <a:prstGeom prst="rect">
            <a:avLst/>
          </a:prstGeom>
        </p:spPr>
      </p:pic>
    </p:spTree>
    <p:extLst>
      <p:ext uri="{BB962C8B-B14F-4D97-AF65-F5344CB8AC3E}">
        <p14:creationId xmlns:p14="http://schemas.microsoft.com/office/powerpoint/2010/main" val="3820815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8939ED-FC77-FE09-A775-0449F9B20DBF}"/>
              </a:ext>
            </a:extLst>
          </p:cNvPr>
          <p:cNvSpPr txBox="1"/>
          <p:nvPr/>
        </p:nvSpPr>
        <p:spPr>
          <a:xfrm>
            <a:off x="66610" y="47433"/>
            <a:ext cx="2943434" cy="369332"/>
          </a:xfrm>
          <a:prstGeom prst="rect">
            <a:avLst/>
          </a:prstGeom>
          <a:noFill/>
        </p:spPr>
        <p:txBody>
          <a:bodyPr wrap="none" rtlCol="0">
            <a:spAutoFit/>
          </a:bodyPr>
          <a:lstStyle/>
          <a:p>
            <a:r>
              <a:rPr lang="en-US" altLang="ja-JP" dirty="0"/>
              <a:t>3.2  Ge detector Position  </a:t>
            </a:r>
            <a:endParaRPr kumimoji="1" lang="ja-JP" altLang="en-US" dirty="0"/>
          </a:p>
        </p:txBody>
      </p:sp>
      <p:grpSp>
        <p:nvGrpSpPr>
          <p:cNvPr id="69" name="グループ化 68">
            <a:extLst>
              <a:ext uri="{FF2B5EF4-FFF2-40B4-BE49-F238E27FC236}">
                <a16:creationId xmlns:a16="http://schemas.microsoft.com/office/drawing/2014/main" id="{F268183F-539E-2779-BEC5-CFFE1146A165}"/>
              </a:ext>
            </a:extLst>
          </p:cNvPr>
          <p:cNvGrpSpPr/>
          <p:nvPr/>
        </p:nvGrpSpPr>
        <p:grpSpPr>
          <a:xfrm>
            <a:off x="249382" y="743142"/>
            <a:ext cx="4753289" cy="4862011"/>
            <a:chOff x="2434442" y="725329"/>
            <a:chExt cx="4753289" cy="4862011"/>
          </a:xfrm>
        </p:grpSpPr>
        <p:grpSp>
          <p:nvGrpSpPr>
            <p:cNvPr id="31" name="グループ化 30">
              <a:extLst>
                <a:ext uri="{FF2B5EF4-FFF2-40B4-BE49-F238E27FC236}">
                  <a16:creationId xmlns:a16="http://schemas.microsoft.com/office/drawing/2014/main" id="{DEBF8EE3-DDD2-422A-D5AA-45EB5F651EC7}"/>
                </a:ext>
              </a:extLst>
            </p:cNvPr>
            <p:cNvGrpSpPr>
              <a:grpSpLocks noChangeAspect="1"/>
            </p:cNvGrpSpPr>
            <p:nvPr/>
          </p:nvGrpSpPr>
          <p:grpSpPr>
            <a:xfrm>
              <a:off x="3312533" y="1800959"/>
              <a:ext cx="2518935" cy="3256083"/>
              <a:chOff x="2063313" y="178520"/>
              <a:chExt cx="5029197" cy="6500955"/>
            </a:xfrm>
          </p:grpSpPr>
          <p:sp>
            <p:nvSpPr>
              <p:cNvPr id="32" name="正方形/長方形 31">
                <a:extLst>
                  <a:ext uri="{FF2B5EF4-FFF2-40B4-BE49-F238E27FC236}">
                    <a16:creationId xmlns:a16="http://schemas.microsoft.com/office/drawing/2014/main" id="{1FB54D21-CDE8-E55A-8CFB-490D6B3E6DF0}"/>
                  </a:ext>
                </a:extLst>
              </p:cNvPr>
              <p:cNvSpPr/>
              <p:nvPr/>
            </p:nvSpPr>
            <p:spPr>
              <a:xfrm>
                <a:off x="2063313" y="178520"/>
                <a:ext cx="5029197" cy="6500955"/>
              </a:xfrm>
              <a:prstGeom prst="rect">
                <a:avLst/>
              </a:prstGeom>
              <a:solidFill>
                <a:schemeClr val="bg2">
                  <a:lumMod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正方形/長方形 32">
                <a:extLst>
                  <a:ext uri="{FF2B5EF4-FFF2-40B4-BE49-F238E27FC236}">
                    <a16:creationId xmlns:a16="http://schemas.microsoft.com/office/drawing/2014/main" id="{18D9882C-21CE-1F27-E42D-A2B7EF0E0E60}"/>
                  </a:ext>
                </a:extLst>
              </p:cNvPr>
              <p:cNvSpPr/>
              <p:nvPr/>
            </p:nvSpPr>
            <p:spPr>
              <a:xfrm>
                <a:off x="3494895" y="1623845"/>
                <a:ext cx="2166030" cy="3610299"/>
              </a:xfrm>
              <a:prstGeom prst="rect">
                <a:avLst/>
              </a:prstGeom>
              <a:solidFill>
                <a:schemeClr val="accent2">
                  <a:lumMod val="60000"/>
                  <a:lumOff val="40000"/>
                </a:schemeClr>
              </a:solidFill>
              <a:ln w="63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正方形/長方形 33">
                <a:extLst>
                  <a:ext uri="{FF2B5EF4-FFF2-40B4-BE49-F238E27FC236}">
                    <a16:creationId xmlns:a16="http://schemas.microsoft.com/office/drawing/2014/main" id="{612E89F6-9AEF-729A-F7AC-D50EEB91AB42}"/>
                  </a:ext>
                </a:extLst>
              </p:cNvPr>
              <p:cNvSpPr/>
              <p:nvPr/>
            </p:nvSpPr>
            <p:spPr>
              <a:xfrm>
                <a:off x="3858609" y="1982509"/>
                <a:ext cx="1438603" cy="2892973"/>
              </a:xfrm>
              <a:prstGeom prst="rect">
                <a:avLst/>
              </a:prstGeom>
              <a:solidFill>
                <a:schemeClr val="accent4">
                  <a:lumMod val="20000"/>
                  <a:lumOff val="80000"/>
                </a:schemeClr>
              </a:solidFill>
              <a:ln w="635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2" name="テキスト ボックス 61">
              <a:extLst>
                <a:ext uri="{FF2B5EF4-FFF2-40B4-BE49-F238E27FC236}">
                  <a16:creationId xmlns:a16="http://schemas.microsoft.com/office/drawing/2014/main" id="{150AF931-A022-257F-7627-488C36C41FFE}"/>
                </a:ext>
              </a:extLst>
            </p:cNvPr>
            <p:cNvSpPr txBox="1"/>
            <p:nvPr/>
          </p:nvSpPr>
          <p:spPr>
            <a:xfrm>
              <a:off x="6828337" y="3167387"/>
              <a:ext cx="359394" cy="523220"/>
            </a:xfrm>
            <a:prstGeom prst="rect">
              <a:avLst/>
            </a:prstGeom>
            <a:noFill/>
          </p:spPr>
          <p:txBody>
            <a:bodyPr wrap="none" rtlCol="0">
              <a:spAutoFit/>
            </a:bodyPr>
            <a:lstStyle/>
            <a:p>
              <a:r>
                <a:rPr kumimoji="1" lang="en-US" altLang="ja-JP" sz="2800" dirty="0">
                  <a:solidFill>
                    <a:srgbClr val="FF0000"/>
                  </a:solidFill>
                </a:rPr>
                <a:t>x</a:t>
              </a:r>
              <a:endParaRPr kumimoji="1" lang="ja-JP" altLang="en-US" sz="2800" dirty="0">
                <a:solidFill>
                  <a:srgbClr val="FF0000"/>
                </a:solidFill>
              </a:endParaRPr>
            </a:p>
          </p:txBody>
        </p:sp>
        <p:sp>
          <p:nvSpPr>
            <p:cNvPr id="63" name="テキスト ボックス 62">
              <a:extLst>
                <a:ext uri="{FF2B5EF4-FFF2-40B4-BE49-F238E27FC236}">
                  <a16:creationId xmlns:a16="http://schemas.microsoft.com/office/drawing/2014/main" id="{6755E7D4-3E9A-FE61-6E64-548D5BFDB457}"/>
                </a:ext>
              </a:extLst>
            </p:cNvPr>
            <p:cNvSpPr txBox="1"/>
            <p:nvPr/>
          </p:nvSpPr>
          <p:spPr>
            <a:xfrm>
              <a:off x="4391200" y="725329"/>
              <a:ext cx="349776" cy="523220"/>
            </a:xfrm>
            <a:prstGeom prst="rect">
              <a:avLst/>
            </a:prstGeom>
            <a:noFill/>
          </p:spPr>
          <p:txBody>
            <a:bodyPr wrap="none" rtlCol="0">
              <a:spAutoFit/>
            </a:bodyPr>
            <a:lstStyle/>
            <a:p>
              <a:r>
                <a:rPr lang="en-US" altLang="ja-JP" sz="2800" dirty="0">
                  <a:solidFill>
                    <a:srgbClr val="FF0000"/>
                  </a:solidFill>
                </a:rPr>
                <a:t>z</a:t>
              </a:r>
              <a:endParaRPr kumimoji="1" lang="ja-JP" altLang="en-US" sz="2800" dirty="0">
                <a:solidFill>
                  <a:srgbClr val="FF0000"/>
                </a:solidFill>
              </a:endParaRPr>
            </a:p>
          </p:txBody>
        </p:sp>
        <p:sp>
          <p:nvSpPr>
            <p:cNvPr id="64" name="正方形/長方形 63">
              <a:extLst>
                <a:ext uri="{FF2B5EF4-FFF2-40B4-BE49-F238E27FC236}">
                  <a16:creationId xmlns:a16="http://schemas.microsoft.com/office/drawing/2014/main" id="{BDEADB5A-1395-3E32-87CD-318B1FD1AEBC}"/>
                </a:ext>
              </a:extLst>
            </p:cNvPr>
            <p:cNvSpPr/>
            <p:nvPr/>
          </p:nvSpPr>
          <p:spPr>
            <a:xfrm>
              <a:off x="4465122" y="3429000"/>
              <a:ext cx="219694" cy="406727"/>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5" name="グループ化 34">
              <a:extLst>
                <a:ext uri="{FF2B5EF4-FFF2-40B4-BE49-F238E27FC236}">
                  <a16:creationId xmlns:a16="http://schemas.microsoft.com/office/drawing/2014/main" id="{38716E79-1E8A-ED40-3EAF-528F0954CBA1}"/>
                </a:ext>
              </a:extLst>
            </p:cNvPr>
            <p:cNvGrpSpPr/>
            <p:nvPr/>
          </p:nvGrpSpPr>
          <p:grpSpPr>
            <a:xfrm>
              <a:off x="2434442" y="1276597"/>
              <a:ext cx="4292929" cy="4310743"/>
              <a:chOff x="2440354" y="1276597"/>
              <a:chExt cx="4292929" cy="4310743"/>
            </a:xfrm>
          </p:grpSpPr>
          <p:cxnSp>
            <p:nvCxnSpPr>
              <p:cNvPr id="36" name="直線矢印コネクタ 35">
                <a:extLst>
                  <a:ext uri="{FF2B5EF4-FFF2-40B4-BE49-F238E27FC236}">
                    <a16:creationId xmlns:a16="http://schemas.microsoft.com/office/drawing/2014/main" id="{AE1F4181-88C6-C306-9762-BB0948BAEAD9}"/>
                  </a:ext>
                </a:extLst>
              </p:cNvPr>
              <p:cNvCxnSpPr>
                <a:cxnSpLocks/>
              </p:cNvCxnSpPr>
              <p:nvPr/>
            </p:nvCxnSpPr>
            <p:spPr>
              <a:xfrm>
                <a:off x="2440354" y="3429000"/>
                <a:ext cx="4292929" cy="0"/>
              </a:xfrm>
              <a:prstGeom prst="straightConnector1">
                <a:avLst/>
              </a:prstGeom>
              <a:ln w="12700">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37" name="直線矢印コネクタ 36">
                <a:extLst>
                  <a:ext uri="{FF2B5EF4-FFF2-40B4-BE49-F238E27FC236}">
                    <a16:creationId xmlns:a16="http://schemas.microsoft.com/office/drawing/2014/main" id="{2142B12F-11B0-6621-E275-91E0370D263B}"/>
                  </a:ext>
                </a:extLst>
              </p:cNvPr>
              <p:cNvCxnSpPr>
                <a:cxnSpLocks/>
              </p:cNvCxnSpPr>
              <p:nvPr/>
            </p:nvCxnSpPr>
            <p:spPr>
              <a:xfrm flipV="1">
                <a:off x="4572000" y="1276597"/>
                <a:ext cx="0" cy="4310743"/>
              </a:xfrm>
              <a:prstGeom prst="straightConnector1">
                <a:avLst/>
              </a:prstGeom>
              <a:ln w="12700">
                <a:solidFill>
                  <a:srgbClr val="FF0000"/>
                </a:solidFill>
                <a:tailEnd type="arrow"/>
              </a:ln>
            </p:spPr>
            <p:style>
              <a:lnRef idx="2">
                <a:schemeClr val="dk1"/>
              </a:lnRef>
              <a:fillRef idx="0">
                <a:schemeClr val="dk1"/>
              </a:fillRef>
              <a:effectRef idx="1">
                <a:schemeClr val="dk1"/>
              </a:effectRef>
              <a:fontRef idx="minor">
                <a:schemeClr val="tx1"/>
              </a:fontRef>
            </p:style>
          </p:cxnSp>
        </p:grpSp>
      </p:grpSp>
      <p:grpSp>
        <p:nvGrpSpPr>
          <p:cNvPr id="70" name="グループ化 69">
            <a:extLst>
              <a:ext uri="{FF2B5EF4-FFF2-40B4-BE49-F238E27FC236}">
                <a16:creationId xmlns:a16="http://schemas.microsoft.com/office/drawing/2014/main" id="{5915D9B7-EE41-002E-C998-E19ADA9294B4}"/>
              </a:ext>
            </a:extLst>
          </p:cNvPr>
          <p:cNvGrpSpPr>
            <a:grpSpLocks noChangeAspect="1"/>
          </p:cNvGrpSpPr>
          <p:nvPr/>
        </p:nvGrpSpPr>
        <p:grpSpPr>
          <a:xfrm>
            <a:off x="5781422" y="2187168"/>
            <a:ext cx="2518935" cy="2520000"/>
            <a:chOff x="2063313" y="913335"/>
            <a:chExt cx="5029197" cy="5031323"/>
          </a:xfrm>
        </p:grpSpPr>
        <p:sp>
          <p:nvSpPr>
            <p:cNvPr id="71" name="正方形/長方形 70">
              <a:extLst>
                <a:ext uri="{FF2B5EF4-FFF2-40B4-BE49-F238E27FC236}">
                  <a16:creationId xmlns:a16="http://schemas.microsoft.com/office/drawing/2014/main" id="{E771DE40-0327-D812-2685-56520F2A6DF7}"/>
                </a:ext>
              </a:extLst>
            </p:cNvPr>
            <p:cNvSpPr/>
            <p:nvPr/>
          </p:nvSpPr>
          <p:spPr>
            <a:xfrm>
              <a:off x="2063313" y="913335"/>
              <a:ext cx="5029197" cy="5031323"/>
            </a:xfrm>
            <a:prstGeom prst="rect">
              <a:avLst/>
            </a:prstGeom>
            <a:solidFill>
              <a:schemeClr val="bg2">
                <a:lumMod val="9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2" name="正方形/長方形 71">
              <a:extLst>
                <a:ext uri="{FF2B5EF4-FFF2-40B4-BE49-F238E27FC236}">
                  <a16:creationId xmlns:a16="http://schemas.microsoft.com/office/drawing/2014/main" id="{DAB5BE2F-F046-4DAB-F480-F4B5D6C415FC}"/>
                </a:ext>
              </a:extLst>
            </p:cNvPr>
            <p:cNvSpPr/>
            <p:nvPr/>
          </p:nvSpPr>
          <p:spPr>
            <a:xfrm>
              <a:off x="3494894" y="2347262"/>
              <a:ext cx="2166031" cy="2163469"/>
            </a:xfrm>
            <a:prstGeom prst="rect">
              <a:avLst/>
            </a:prstGeom>
            <a:solidFill>
              <a:schemeClr val="accent2">
                <a:lumMod val="60000"/>
                <a:lumOff val="40000"/>
              </a:schemeClr>
            </a:solidFill>
            <a:ln w="6350">
              <a:solidFill>
                <a:schemeClr val="accent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正方形/長方形 72">
              <a:extLst>
                <a:ext uri="{FF2B5EF4-FFF2-40B4-BE49-F238E27FC236}">
                  <a16:creationId xmlns:a16="http://schemas.microsoft.com/office/drawing/2014/main" id="{77995E0A-8BC9-C120-589A-12A3F16846D7}"/>
                </a:ext>
              </a:extLst>
            </p:cNvPr>
            <p:cNvSpPr/>
            <p:nvPr/>
          </p:nvSpPr>
          <p:spPr>
            <a:xfrm>
              <a:off x="3858609" y="2710236"/>
              <a:ext cx="1438603" cy="1437521"/>
            </a:xfrm>
            <a:prstGeom prst="rect">
              <a:avLst/>
            </a:prstGeom>
            <a:solidFill>
              <a:schemeClr val="accent4">
                <a:lumMod val="20000"/>
                <a:lumOff val="80000"/>
              </a:schemeClr>
            </a:solidFill>
            <a:ln w="635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01" name="テキスト ボックス 100">
            <a:extLst>
              <a:ext uri="{FF2B5EF4-FFF2-40B4-BE49-F238E27FC236}">
                <a16:creationId xmlns:a16="http://schemas.microsoft.com/office/drawing/2014/main" id="{9AD8B2B1-822E-E2F6-7ADE-CB40616840FB}"/>
              </a:ext>
            </a:extLst>
          </p:cNvPr>
          <p:cNvSpPr txBox="1"/>
          <p:nvPr/>
        </p:nvSpPr>
        <p:spPr>
          <a:xfrm>
            <a:off x="8844613" y="3167390"/>
            <a:ext cx="359394" cy="523220"/>
          </a:xfrm>
          <a:prstGeom prst="rect">
            <a:avLst/>
          </a:prstGeom>
          <a:noFill/>
        </p:spPr>
        <p:txBody>
          <a:bodyPr wrap="none" rtlCol="0">
            <a:spAutoFit/>
          </a:bodyPr>
          <a:lstStyle/>
          <a:p>
            <a:r>
              <a:rPr kumimoji="1" lang="en-US" altLang="ja-JP" sz="2800" dirty="0">
                <a:solidFill>
                  <a:srgbClr val="FF0000"/>
                </a:solidFill>
              </a:rPr>
              <a:t>x</a:t>
            </a:r>
            <a:endParaRPr kumimoji="1" lang="ja-JP" altLang="en-US" sz="2800" dirty="0">
              <a:solidFill>
                <a:srgbClr val="FF0000"/>
              </a:solidFill>
            </a:endParaRPr>
          </a:p>
        </p:txBody>
      </p:sp>
      <p:sp>
        <p:nvSpPr>
          <p:cNvPr id="102" name="テキスト ボックス 101">
            <a:extLst>
              <a:ext uri="{FF2B5EF4-FFF2-40B4-BE49-F238E27FC236}">
                <a16:creationId xmlns:a16="http://schemas.microsoft.com/office/drawing/2014/main" id="{E62612FC-5984-FE97-2132-F9899F22FB2A}"/>
              </a:ext>
            </a:extLst>
          </p:cNvPr>
          <p:cNvSpPr txBox="1"/>
          <p:nvPr/>
        </p:nvSpPr>
        <p:spPr>
          <a:xfrm>
            <a:off x="6854479" y="612600"/>
            <a:ext cx="360996" cy="523220"/>
          </a:xfrm>
          <a:prstGeom prst="rect">
            <a:avLst/>
          </a:prstGeom>
          <a:noFill/>
        </p:spPr>
        <p:txBody>
          <a:bodyPr wrap="none" rtlCol="0">
            <a:spAutoFit/>
          </a:bodyPr>
          <a:lstStyle/>
          <a:p>
            <a:r>
              <a:rPr kumimoji="1" lang="en-US" altLang="ja-JP" sz="2800" dirty="0">
                <a:solidFill>
                  <a:srgbClr val="FF0000"/>
                </a:solidFill>
              </a:rPr>
              <a:t>y</a:t>
            </a:r>
            <a:endParaRPr kumimoji="1" lang="ja-JP" altLang="en-US" sz="2800" dirty="0">
              <a:solidFill>
                <a:srgbClr val="FF0000"/>
              </a:solidFill>
            </a:endParaRPr>
          </a:p>
        </p:txBody>
      </p:sp>
      <p:sp>
        <p:nvSpPr>
          <p:cNvPr id="113" name="楕円 112">
            <a:extLst>
              <a:ext uri="{FF2B5EF4-FFF2-40B4-BE49-F238E27FC236}">
                <a16:creationId xmlns:a16="http://schemas.microsoft.com/office/drawing/2014/main" id="{E68C1B97-2DAA-D500-E69E-898C7232836F}"/>
              </a:ext>
            </a:extLst>
          </p:cNvPr>
          <p:cNvSpPr/>
          <p:nvPr/>
        </p:nvSpPr>
        <p:spPr>
          <a:xfrm>
            <a:off x="6935667" y="3338168"/>
            <a:ext cx="181664" cy="181664"/>
          </a:xfrm>
          <a:prstGeom prst="ellipse">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4" name="グループ化 73">
            <a:extLst>
              <a:ext uri="{FF2B5EF4-FFF2-40B4-BE49-F238E27FC236}">
                <a16:creationId xmlns:a16="http://schemas.microsoft.com/office/drawing/2014/main" id="{80766277-B025-C6AE-8787-8155B2B85D68}"/>
              </a:ext>
            </a:extLst>
          </p:cNvPr>
          <p:cNvGrpSpPr/>
          <p:nvPr/>
        </p:nvGrpSpPr>
        <p:grpSpPr>
          <a:xfrm>
            <a:off x="5292620" y="1294410"/>
            <a:ext cx="3548599" cy="4310743"/>
            <a:chOff x="2829643" y="1276242"/>
            <a:chExt cx="3548599" cy="4310743"/>
          </a:xfrm>
        </p:grpSpPr>
        <p:cxnSp>
          <p:nvCxnSpPr>
            <p:cNvPr id="75" name="直線矢印コネクタ 74">
              <a:extLst>
                <a:ext uri="{FF2B5EF4-FFF2-40B4-BE49-F238E27FC236}">
                  <a16:creationId xmlns:a16="http://schemas.microsoft.com/office/drawing/2014/main" id="{D2999E14-72AF-CA3F-5871-6E9A19D24BB5}"/>
                </a:ext>
              </a:extLst>
            </p:cNvPr>
            <p:cNvCxnSpPr>
              <a:cxnSpLocks/>
            </p:cNvCxnSpPr>
            <p:nvPr/>
          </p:nvCxnSpPr>
          <p:spPr>
            <a:xfrm>
              <a:off x="2829643" y="3410832"/>
              <a:ext cx="3548599" cy="0"/>
            </a:xfrm>
            <a:prstGeom prst="straightConnector1">
              <a:avLst/>
            </a:prstGeom>
            <a:ln w="12700">
              <a:solidFill>
                <a:srgbClr val="FF0000"/>
              </a:solidFill>
              <a:tailEnd type="arrow"/>
            </a:ln>
          </p:spPr>
          <p:style>
            <a:lnRef idx="2">
              <a:schemeClr val="dk1"/>
            </a:lnRef>
            <a:fillRef idx="0">
              <a:schemeClr val="dk1"/>
            </a:fillRef>
            <a:effectRef idx="1">
              <a:schemeClr val="dk1"/>
            </a:effectRef>
            <a:fontRef idx="minor">
              <a:schemeClr val="tx1"/>
            </a:fontRef>
          </p:style>
        </p:cxnSp>
        <p:cxnSp>
          <p:nvCxnSpPr>
            <p:cNvPr id="76" name="直線矢印コネクタ 75">
              <a:extLst>
                <a:ext uri="{FF2B5EF4-FFF2-40B4-BE49-F238E27FC236}">
                  <a16:creationId xmlns:a16="http://schemas.microsoft.com/office/drawing/2014/main" id="{4BE8F291-EB8B-A94A-4A76-F458B71CF8F0}"/>
                </a:ext>
              </a:extLst>
            </p:cNvPr>
            <p:cNvCxnSpPr>
              <a:cxnSpLocks/>
            </p:cNvCxnSpPr>
            <p:nvPr/>
          </p:nvCxnSpPr>
          <p:spPr>
            <a:xfrm flipV="1">
              <a:off x="4572000" y="1276242"/>
              <a:ext cx="0" cy="4310743"/>
            </a:xfrm>
            <a:prstGeom prst="straightConnector1">
              <a:avLst/>
            </a:prstGeom>
            <a:ln w="12700">
              <a:solidFill>
                <a:srgbClr val="FF0000"/>
              </a:solidFill>
              <a:tailEnd type="arrow"/>
            </a:ln>
          </p:spPr>
          <p:style>
            <a:lnRef idx="2">
              <a:schemeClr val="dk1"/>
            </a:lnRef>
            <a:fillRef idx="0">
              <a:schemeClr val="dk1"/>
            </a:fillRef>
            <a:effectRef idx="1">
              <a:schemeClr val="dk1"/>
            </a:effectRef>
            <a:fontRef idx="minor">
              <a:schemeClr val="tx1"/>
            </a:fontRef>
          </p:style>
        </p:cxnSp>
      </p:grpSp>
      <p:sp>
        <p:nvSpPr>
          <p:cNvPr id="3" name="テキスト ボックス 2">
            <a:extLst>
              <a:ext uri="{FF2B5EF4-FFF2-40B4-BE49-F238E27FC236}">
                <a16:creationId xmlns:a16="http://schemas.microsoft.com/office/drawing/2014/main" id="{5404B846-C8D6-EB66-3328-E40D3843CBF7}"/>
              </a:ext>
            </a:extLst>
          </p:cNvPr>
          <p:cNvSpPr txBox="1"/>
          <p:nvPr/>
        </p:nvSpPr>
        <p:spPr>
          <a:xfrm>
            <a:off x="676894" y="5967351"/>
            <a:ext cx="4487126" cy="369332"/>
          </a:xfrm>
          <a:prstGeom prst="rect">
            <a:avLst/>
          </a:prstGeom>
          <a:noFill/>
        </p:spPr>
        <p:txBody>
          <a:bodyPr wrap="none" rtlCol="0">
            <a:spAutoFit/>
          </a:bodyPr>
          <a:lstStyle/>
          <a:p>
            <a:r>
              <a:rPr kumimoji="1" lang="en-US" altLang="ja-JP" dirty="0"/>
              <a:t>Set top-center part of Al case  to (0,0,0) </a:t>
            </a:r>
            <a:endParaRPr kumimoji="1" lang="ja-JP" altLang="en-US" dirty="0"/>
          </a:p>
        </p:txBody>
      </p:sp>
    </p:spTree>
    <p:extLst>
      <p:ext uri="{BB962C8B-B14F-4D97-AF65-F5344CB8AC3E}">
        <p14:creationId xmlns:p14="http://schemas.microsoft.com/office/powerpoint/2010/main" val="40658746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E3BEC-A7F4-8752-E64A-572AEBAF90A9}"/>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EB49565-AE07-A6BA-B499-7D882EA4D611}"/>
              </a:ext>
            </a:extLst>
          </p:cNvPr>
          <p:cNvSpPr txBox="1"/>
          <p:nvPr/>
        </p:nvSpPr>
        <p:spPr>
          <a:xfrm>
            <a:off x="151391" y="121113"/>
            <a:ext cx="8841218" cy="646331"/>
          </a:xfrm>
          <a:prstGeom prst="rect">
            <a:avLst/>
          </a:prstGeom>
          <a:noFill/>
        </p:spPr>
        <p:txBody>
          <a:bodyPr wrap="square" rtlCol="0">
            <a:spAutoFit/>
          </a:bodyPr>
          <a:lstStyle/>
          <a:p>
            <a:r>
              <a:rPr lang="en-US" altLang="ja-JP" dirty="0"/>
              <a:t>4</a:t>
            </a:r>
            <a:r>
              <a:rPr kumimoji="1" lang="en-US" altLang="ja-JP" dirty="0"/>
              <a:t> Check Geometry </a:t>
            </a:r>
            <a:r>
              <a:rPr lang="en-US" altLang="ja-JP" dirty="0"/>
              <a:t>using</a:t>
            </a:r>
            <a:r>
              <a:rPr lang="ja-JP" altLang="en-US" dirty="0"/>
              <a:t> </a:t>
            </a:r>
            <a:r>
              <a:rPr lang="en-US" altLang="ja-JP" dirty="0" err="1"/>
              <a:t>geantino</a:t>
            </a:r>
            <a:r>
              <a:rPr lang="ja-JP" altLang="en-US" dirty="0"/>
              <a:t> </a:t>
            </a:r>
            <a:endParaRPr lang="en-US" altLang="ja-JP" dirty="0"/>
          </a:p>
          <a:p>
            <a:r>
              <a:rPr lang="en-US" altLang="ja-JP" dirty="0"/>
              <a:t>4.1 Check overlap  </a:t>
            </a:r>
          </a:p>
        </p:txBody>
      </p:sp>
      <p:sp>
        <p:nvSpPr>
          <p:cNvPr id="3" name="テキスト ボックス 2">
            <a:extLst>
              <a:ext uri="{FF2B5EF4-FFF2-40B4-BE49-F238E27FC236}">
                <a16:creationId xmlns:a16="http://schemas.microsoft.com/office/drawing/2014/main" id="{0C8CED37-17CF-40F3-DA98-6D70AAEC18BB}"/>
              </a:ext>
            </a:extLst>
          </p:cNvPr>
          <p:cNvSpPr txBox="1"/>
          <p:nvPr/>
        </p:nvSpPr>
        <p:spPr>
          <a:xfrm>
            <a:off x="329521" y="855022"/>
            <a:ext cx="2164297" cy="369332"/>
          </a:xfrm>
          <a:prstGeom prst="rect">
            <a:avLst/>
          </a:prstGeom>
          <a:noFill/>
          <a:ln>
            <a:solidFill>
              <a:schemeClr val="tx1"/>
            </a:solidFill>
          </a:ln>
        </p:spPr>
        <p:txBody>
          <a:bodyPr wrap="square" rtlCol="0">
            <a:spAutoFit/>
          </a:bodyPr>
          <a:lstStyle/>
          <a:p>
            <a:r>
              <a:rPr lang="en-US" altLang="ja-JP" dirty="0"/>
              <a:t>[Past your output]</a:t>
            </a:r>
            <a:endParaRPr kumimoji="1" lang="ja-JP" altLang="en-US" dirty="0"/>
          </a:p>
        </p:txBody>
      </p:sp>
      <p:sp>
        <p:nvSpPr>
          <p:cNvPr id="5" name="正方形/長方形 4">
            <a:extLst>
              <a:ext uri="{FF2B5EF4-FFF2-40B4-BE49-F238E27FC236}">
                <a16:creationId xmlns:a16="http://schemas.microsoft.com/office/drawing/2014/main" id="{AACCD302-F6BB-71AA-C668-EFBA1C0E9FB8}"/>
              </a:ext>
            </a:extLst>
          </p:cNvPr>
          <p:cNvSpPr/>
          <p:nvPr/>
        </p:nvSpPr>
        <p:spPr>
          <a:xfrm>
            <a:off x="243444" y="767444"/>
            <a:ext cx="8686800" cy="591242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62355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95518B4-145F-907B-2DFA-30797DF93BDD}"/>
              </a:ext>
            </a:extLst>
          </p:cNvPr>
          <p:cNvSpPr txBox="1"/>
          <p:nvPr/>
        </p:nvSpPr>
        <p:spPr>
          <a:xfrm>
            <a:off x="174211" y="118102"/>
            <a:ext cx="5832142" cy="369332"/>
          </a:xfrm>
          <a:prstGeom prst="rect">
            <a:avLst/>
          </a:prstGeom>
          <a:noFill/>
          <a:ln>
            <a:solidFill>
              <a:schemeClr val="tx1"/>
            </a:solidFill>
          </a:ln>
        </p:spPr>
        <p:txBody>
          <a:bodyPr wrap="square" rtlCol="0">
            <a:spAutoFit/>
          </a:bodyPr>
          <a:lstStyle/>
          <a:p>
            <a:r>
              <a:rPr lang="en-US" altLang="ja-JP" dirty="0"/>
              <a:t>[Past your screen capture of Qt viewer]</a:t>
            </a:r>
            <a:endParaRPr kumimoji="1" lang="ja-JP" altLang="en-US" dirty="0"/>
          </a:p>
        </p:txBody>
      </p:sp>
    </p:spTree>
    <p:extLst>
      <p:ext uri="{BB962C8B-B14F-4D97-AF65-F5344CB8AC3E}">
        <p14:creationId xmlns:p14="http://schemas.microsoft.com/office/powerpoint/2010/main" val="1361244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BA11208-C45C-7F5D-97B4-34F9485A03FC}"/>
              </a:ext>
            </a:extLst>
          </p:cNvPr>
          <p:cNvSpPr txBox="1"/>
          <p:nvPr/>
        </p:nvSpPr>
        <p:spPr>
          <a:xfrm>
            <a:off x="151391" y="121113"/>
            <a:ext cx="8841218" cy="1200329"/>
          </a:xfrm>
          <a:prstGeom prst="rect">
            <a:avLst/>
          </a:prstGeom>
          <a:noFill/>
        </p:spPr>
        <p:txBody>
          <a:bodyPr wrap="square" rtlCol="0">
            <a:spAutoFit/>
          </a:bodyPr>
          <a:lstStyle/>
          <a:p>
            <a:r>
              <a:rPr lang="en-US" altLang="ja-JP" dirty="0"/>
              <a:t>4</a:t>
            </a:r>
            <a:r>
              <a:rPr kumimoji="1" lang="en-US" altLang="ja-JP" dirty="0"/>
              <a:t>.2 Show trajectories output of running </a:t>
            </a:r>
            <a:r>
              <a:rPr kumimoji="1" lang="en-US" altLang="ja-JP" dirty="0" err="1"/>
              <a:t>geantino</a:t>
            </a:r>
            <a:r>
              <a:rPr kumimoji="1" lang="en-US" altLang="ja-JP" dirty="0"/>
              <a:t> from position (0,0,490mm)</a:t>
            </a:r>
            <a:br>
              <a:rPr kumimoji="1" lang="en-US" altLang="ja-JP" dirty="0"/>
            </a:br>
            <a:r>
              <a:rPr kumimoji="1" lang="en-US" altLang="ja-JP" dirty="0"/>
              <a:t>      and direction (0,0,-1).  [Past your output /tracking/verbose 1]</a:t>
            </a:r>
            <a:br>
              <a:rPr kumimoji="1" lang="en-US" altLang="ja-JP" dirty="0"/>
            </a:br>
            <a:r>
              <a:rPr kumimoji="1" lang="en-US" altLang="ja-JP" dirty="0"/>
              <a:t>      Check crossing positions of each geometrical elements are same as your</a:t>
            </a:r>
            <a:br>
              <a:rPr kumimoji="1" lang="en-US" altLang="ja-JP" dirty="0"/>
            </a:br>
            <a:r>
              <a:rPr kumimoji="1" lang="en-US" altLang="ja-JP" dirty="0"/>
              <a:t>      expectations. </a:t>
            </a:r>
          </a:p>
        </p:txBody>
      </p:sp>
      <p:sp>
        <p:nvSpPr>
          <p:cNvPr id="4" name="テキスト ボックス 3">
            <a:extLst>
              <a:ext uri="{FF2B5EF4-FFF2-40B4-BE49-F238E27FC236}">
                <a16:creationId xmlns:a16="http://schemas.microsoft.com/office/drawing/2014/main" id="{FCBF57D3-F19C-DDD4-1E96-9DC1CAF9E223}"/>
              </a:ext>
            </a:extLst>
          </p:cNvPr>
          <p:cNvSpPr txBox="1"/>
          <p:nvPr/>
        </p:nvSpPr>
        <p:spPr>
          <a:xfrm>
            <a:off x="317646" y="1409020"/>
            <a:ext cx="2164297" cy="369332"/>
          </a:xfrm>
          <a:prstGeom prst="rect">
            <a:avLst/>
          </a:prstGeom>
          <a:noFill/>
          <a:ln>
            <a:solidFill>
              <a:schemeClr val="tx1"/>
            </a:solidFill>
          </a:ln>
        </p:spPr>
        <p:txBody>
          <a:bodyPr wrap="square" rtlCol="0">
            <a:spAutoFit/>
          </a:bodyPr>
          <a:lstStyle/>
          <a:p>
            <a:r>
              <a:rPr lang="en-US" altLang="ja-JP" dirty="0"/>
              <a:t>[Past your output]</a:t>
            </a:r>
            <a:endParaRPr kumimoji="1" lang="ja-JP" altLang="en-US" dirty="0"/>
          </a:p>
        </p:txBody>
      </p:sp>
      <p:sp>
        <p:nvSpPr>
          <p:cNvPr id="5" name="正方形/長方形 4">
            <a:extLst>
              <a:ext uri="{FF2B5EF4-FFF2-40B4-BE49-F238E27FC236}">
                <a16:creationId xmlns:a16="http://schemas.microsoft.com/office/drawing/2014/main" id="{047A1CBB-E63B-79EE-346C-62D4C7C67F42}"/>
              </a:ext>
            </a:extLst>
          </p:cNvPr>
          <p:cNvSpPr/>
          <p:nvPr/>
        </p:nvSpPr>
        <p:spPr>
          <a:xfrm>
            <a:off x="231569" y="1321442"/>
            <a:ext cx="8686800" cy="54154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15335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EA3A9-CCB8-26C2-B380-DDFF1DF6AF04}"/>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18C8520-2F5C-3EE2-20CC-C222B21B9668}"/>
              </a:ext>
            </a:extLst>
          </p:cNvPr>
          <p:cNvSpPr txBox="1"/>
          <p:nvPr/>
        </p:nvSpPr>
        <p:spPr>
          <a:xfrm>
            <a:off x="151391" y="121113"/>
            <a:ext cx="8841218" cy="1200329"/>
          </a:xfrm>
          <a:prstGeom prst="rect">
            <a:avLst/>
          </a:prstGeom>
          <a:noFill/>
        </p:spPr>
        <p:txBody>
          <a:bodyPr wrap="square" rtlCol="0">
            <a:spAutoFit/>
          </a:bodyPr>
          <a:lstStyle/>
          <a:p>
            <a:r>
              <a:rPr lang="en-US" altLang="ja-JP" dirty="0"/>
              <a:t>4</a:t>
            </a:r>
            <a:r>
              <a:rPr kumimoji="1" lang="en-US" altLang="ja-JP" dirty="0"/>
              <a:t>.3 Show trajectories output of running </a:t>
            </a:r>
            <a:r>
              <a:rPr kumimoji="1" lang="en-US" altLang="ja-JP" dirty="0" err="1"/>
              <a:t>geantino</a:t>
            </a:r>
            <a:r>
              <a:rPr kumimoji="1" lang="en-US" altLang="ja-JP" dirty="0"/>
              <a:t> from position (0,10mm,490mm)</a:t>
            </a:r>
            <a:br>
              <a:rPr kumimoji="1" lang="en-US" altLang="ja-JP" dirty="0"/>
            </a:br>
            <a:r>
              <a:rPr kumimoji="1" lang="en-US" altLang="ja-JP" dirty="0"/>
              <a:t>      and direction (0,0,-1).  </a:t>
            </a:r>
            <a:br>
              <a:rPr kumimoji="1" lang="en-US" altLang="ja-JP" dirty="0"/>
            </a:br>
            <a:r>
              <a:rPr kumimoji="1" lang="en-US" altLang="ja-JP" dirty="0"/>
              <a:t>      Check crossing positions of each geometrical elements are same as your</a:t>
            </a:r>
            <a:br>
              <a:rPr kumimoji="1" lang="en-US" altLang="ja-JP" dirty="0"/>
            </a:br>
            <a:r>
              <a:rPr kumimoji="1" lang="en-US" altLang="ja-JP" dirty="0"/>
              <a:t>      expectations. </a:t>
            </a:r>
          </a:p>
        </p:txBody>
      </p:sp>
      <p:sp>
        <p:nvSpPr>
          <p:cNvPr id="4" name="テキスト ボックス 3">
            <a:extLst>
              <a:ext uri="{FF2B5EF4-FFF2-40B4-BE49-F238E27FC236}">
                <a16:creationId xmlns:a16="http://schemas.microsoft.com/office/drawing/2014/main" id="{21886C65-B675-4D4E-6EA6-DE3B31781D37}"/>
              </a:ext>
            </a:extLst>
          </p:cNvPr>
          <p:cNvSpPr txBox="1"/>
          <p:nvPr/>
        </p:nvSpPr>
        <p:spPr>
          <a:xfrm>
            <a:off x="317646" y="1409020"/>
            <a:ext cx="2164297" cy="369332"/>
          </a:xfrm>
          <a:prstGeom prst="rect">
            <a:avLst/>
          </a:prstGeom>
          <a:noFill/>
          <a:ln>
            <a:solidFill>
              <a:schemeClr val="tx1"/>
            </a:solidFill>
          </a:ln>
        </p:spPr>
        <p:txBody>
          <a:bodyPr wrap="square" rtlCol="0">
            <a:spAutoFit/>
          </a:bodyPr>
          <a:lstStyle/>
          <a:p>
            <a:r>
              <a:rPr lang="en-US" altLang="ja-JP" dirty="0"/>
              <a:t>[Past your output]</a:t>
            </a:r>
            <a:endParaRPr kumimoji="1" lang="ja-JP" altLang="en-US" dirty="0"/>
          </a:p>
        </p:txBody>
      </p:sp>
      <p:sp>
        <p:nvSpPr>
          <p:cNvPr id="5" name="正方形/長方形 4">
            <a:extLst>
              <a:ext uri="{FF2B5EF4-FFF2-40B4-BE49-F238E27FC236}">
                <a16:creationId xmlns:a16="http://schemas.microsoft.com/office/drawing/2014/main" id="{79A32CCA-025B-C56E-6697-1D99BF408227}"/>
              </a:ext>
            </a:extLst>
          </p:cNvPr>
          <p:cNvSpPr/>
          <p:nvPr/>
        </p:nvSpPr>
        <p:spPr>
          <a:xfrm>
            <a:off x="231569" y="1321442"/>
            <a:ext cx="8686800" cy="541544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804056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944ACC7-E450-2281-2065-8D602DA1CECA}"/>
              </a:ext>
            </a:extLst>
          </p:cNvPr>
          <p:cNvSpPr txBox="1"/>
          <p:nvPr/>
        </p:nvSpPr>
        <p:spPr>
          <a:xfrm>
            <a:off x="296726" y="145335"/>
            <a:ext cx="8746334" cy="923330"/>
          </a:xfrm>
          <a:prstGeom prst="rect">
            <a:avLst/>
          </a:prstGeom>
          <a:noFill/>
        </p:spPr>
        <p:txBody>
          <a:bodyPr wrap="square" rtlCol="0">
            <a:spAutoFit/>
          </a:bodyPr>
          <a:lstStyle/>
          <a:p>
            <a:r>
              <a:rPr lang="en-US" altLang="ja-JP" dirty="0"/>
              <a:t>5</a:t>
            </a:r>
            <a:r>
              <a:rPr kumimoji="1" lang="en-US" altLang="ja-JP" dirty="0"/>
              <a:t>.1 Activate Ge detector as a sensitive detecto</a:t>
            </a:r>
            <a:r>
              <a:rPr lang="en-US" altLang="ja-JP" dirty="0"/>
              <a:t>r and record the energy deposition of each events  and primary vertex information into root/csv file with tuple format . </a:t>
            </a:r>
          </a:p>
        </p:txBody>
      </p:sp>
      <p:sp>
        <p:nvSpPr>
          <p:cNvPr id="5" name="テキスト ボックス 4">
            <a:extLst>
              <a:ext uri="{FF2B5EF4-FFF2-40B4-BE49-F238E27FC236}">
                <a16:creationId xmlns:a16="http://schemas.microsoft.com/office/drawing/2014/main" id="{0FE152D5-36DB-4574-2071-DC1320A00581}"/>
              </a:ext>
            </a:extLst>
          </p:cNvPr>
          <p:cNvSpPr txBox="1"/>
          <p:nvPr/>
        </p:nvSpPr>
        <p:spPr>
          <a:xfrm>
            <a:off x="508819" y="1423219"/>
            <a:ext cx="6708888" cy="2862322"/>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kumimoji="1" lang="en-US" altLang="ja-JP" dirty="0"/>
              <a:t>Tuple formant</a:t>
            </a:r>
          </a:p>
          <a:p>
            <a:pPr marL="285750" indent="-285750">
              <a:buFont typeface="Arial" panose="020B0604020202020204" pitchFamily="34" charset="0"/>
              <a:buChar char="•"/>
            </a:pPr>
            <a:r>
              <a:rPr lang="en-US" altLang="ja-JP" dirty="0"/>
              <a:t>Name : </a:t>
            </a:r>
            <a:r>
              <a:rPr lang="en-US" altLang="ja-JP" dirty="0" err="1"/>
              <a:t>Edep</a:t>
            </a:r>
            <a:endParaRPr lang="en-US" altLang="ja-JP" dirty="0"/>
          </a:p>
          <a:p>
            <a:pPr marL="285750" indent="-285750">
              <a:buFont typeface="Arial" panose="020B0604020202020204" pitchFamily="34" charset="0"/>
              <a:buChar char="•"/>
            </a:pPr>
            <a:r>
              <a:rPr kumimoji="1" lang="en-US" altLang="ja-JP" dirty="0"/>
              <a:t>0</a:t>
            </a:r>
            <a:r>
              <a:rPr kumimoji="1" lang="en-US" altLang="ja-JP" baseline="30000" dirty="0"/>
              <a:t>th</a:t>
            </a:r>
            <a:r>
              <a:rPr kumimoji="1" lang="en-US" altLang="ja-JP" dirty="0"/>
              <a:t> column</a:t>
            </a:r>
            <a:r>
              <a:rPr lang="en-US" altLang="ja-JP" dirty="0"/>
              <a:t>	</a:t>
            </a:r>
            <a:r>
              <a:rPr kumimoji="1" lang="en-US" altLang="ja-JP" dirty="0"/>
              <a:t>: Event number (integer)</a:t>
            </a:r>
          </a:p>
          <a:p>
            <a:pPr marL="285750" indent="-285750">
              <a:buFont typeface="Arial" panose="020B0604020202020204" pitchFamily="34" charset="0"/>
              <a:buChar char="•"/>
            </a:pPr>
            <a:r>
              <a:rPr lang="en-US" altLang="ja-JP" dirty="0"/>
              <a:t>1</a:t>
            </a:r>
            <a:r>
              <a:rPr lang="en-US" altLang="ja-JP" baseline="30000" dirty="0"/>
              <a:t>st</a:t>
            </a:r>
            <a:r>
              <a:rPr lang="en-US" altLang="ja-JP" dirty="0"/>
              <a:t> column	: Total energy deposit in Ge crystal (double)</a:t>
            </a:r>
          </a:p>
          <a:p>
            <a:pPr marL="285750" indent="-285750">
              <a:buFont typeface="Arial" panose="020B0604020202020204" pitchFamily="34" charset="0"/>
              <a:buChar char="•"/>
            </a:pPr>
            <a:r>
              <a:rPr kumimoji="1" lang="en-US" altLang="ja-JP" dirty="0"/>
              <a:t>2</a:t>
            </a:r>
            <a:r>
              <a:rPr kumimoji="1" lang="en-US" altLang="ja-JP" baseline="30000" dirty="0"/>
              <a:t>nd</a:t>
            </a:r>
            <a:r>
              <a:rPr kumimoji="1" lang="en-US" altLang="ja-JP" dirty="0"/>
              <a:t> col</a:t>
            </a:r>
            <a:r>
              <a:rPr lang="en-US" altLang="ja-JP" dirty="0"/>
              <a:t>umn	: Primary vertex position x [mm] (double)</a:t>
            </a:r>
          </a:p>
          <a:p>
            <a:pPr marL="285750" indent="-285750">
              <a:buFont typeface="Arial" panose="020B0604020202020204" pitchFamily="34" charset="0"/>
              <a:buChar char="•"/>
            </a:pPr>
            <a:r>
              <a:rPr kumimoji="1" lang="en-US" altLang="ja-JP" dirty="0"/>
              <a:t>3</a:t>
            </a:r>
            <a:r>
              <a:rPr kumimoji="1" lang="en-US" altLang="ja-JP" baseline="30000" dirty="0"/>
              <a:t>rd</a:t>
            </a:r>
            <a:r>
              <a:rPr kumimoji="1" lang="en-US" altLang="ja-JP" dirty="0"/>
              <a:t> column	: </a:t>
            </a:r>
            <a:r>
              <a:rPr lang="en-US" altLang="ja-JP" dirty="0"/>
              <a:t>Primary vertex position y [mm] (double)</a:t>
            </a:r>
          </a:p>
          <a:p>
            <a:pPr marL="285750" indent="-285750">
              <a:buFont typeface="Arial" panose="020B0604020202020204" pitchFamily="34" charset="0"/>
              <a:buChar char="•"/>
            </a:pPr>
            <a:r>
              <a:rPr kumimoji="1" lang="en-US" altLang="ja-JP" dirty="0"/>
              <a:t>4</a:t>
            </a:r>
            <a:r>
              <a:rPr kumimoji="1" lang="en-US" altLang="ja-JP" baseline="30000" dirty="0"/>
              <a:t>th</a:t>
            </a:r>
            <a:r>
              <a:rPr kumimoji="1" lang="en-US" altLang="ja-JP" dirty="0"/>
              <a:t> column	: </a:t>
            </a:r>
            <a:r>
              <a:rPr lang="en-US" altLang="ja-JP" dirty="0"/>
              <a:t>Primary vertex position z [mm] (double)</a:t>
            </a:r>
          </a:p>
          <a:p>
            <a:pPr marL="285750" indent="-285750">
              <a:buFont typeface="Arial" panose="020B0604020202020204" pitchFamily="34" charset="0"/>
              <a:buChar char="•"/>
            </a:pPr>
            <a:r>
              <a:rPr lang="en-US" altLang="ja-JP" dirty="0"/>
              <a:t>5</a:t>
            </a:r>
            <a:r>
              <a:rPr lang="en-US" altLang="ja-JP" baseline="30000" dirty="0"/>
              <a:t>th</a:t>
            </a:r>
            <a:r>
              <a:rPr lang="en-US" altLang="ja-JP" dirty="0"/>
              <a:t> column	: Primary particle direction vector x (double)</a:t>
            </a:r>
          </a:p>
          <a:p>
            <a:pPr marL="285750" indent="-285750">
              <a:buFont typeface="Arial" panose="020B0604020202020204" pitchFamily="34" charset="0"/>
              <a:buChar char="•"/>
            </a:pPr>
            <a:r>
              <a:rPr lang="en-US" altLang="ja-JP" dirty="0"/>
              <a:t>6</a:t>
            </a:r>
            <a:r>
              <a:rPr lang="en-US" altLang="ja-JP" baseline="30000" dirty="0"/>
              <a:t>th</a:t>
            </a:r>
            <a:r>
              <a:rPr lang="en-US" altLang="ja-JP" dirty="0"/>
              <a:t> column	: Primary particle direction vector y (double)</a:t>
            </a:r>
          </a:p>
          <a:p>
            <a:pPr marL="285750" indent="-285750">
              <a:buFont typeface="Arial" panose="020B0604020202020204" pitchFamily="34" charset="0"/>
              <a:buChar char="•"/>
            </a:pPr>
            <a:r>
              <a:rPr lang="en-US" altLang="ja-JP" dirty="0"/>
              <a:t>7</a:t>
            </a:r>
            <a:r>
              <a:rPr lang="en-US" altLang="ja-JP" baseline="30000" dirty="0"/>
              <a:t>th</a:t>
            </a:r>
            <a:r>
              <a:rPr lang="en-US" altLang="ja-JP" dirty="0"/>
              <a:t> column	: Primary particle direction vector z (double)</a:t>
            </a:r>
          </a:p>
        </p:txBody>
      </p:sp>
    </p:spTree>
    <p:extLst>
      <p:ext uri="{BB962C8B-B14F-4D97-AF65-F5344CB8AC3E}">
        <p14:creationId xmlns:p14="http://schemas.microsoft.com/office/powerpoint/2010/main" val="2232195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8EEB2-9B21-4A86-3338-1FA3EF618A0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A3F5B38-18D3-96B6-0521-56E74022CC60}"/>
              </a:ext>
            </a:extLst>
          </p:cNvPr>
          <p:cNvSpPr txBox="1"/>
          <p:nvPr/>
        </p:nvSpPr>
        <p:spPr>
          <a:xfrm>
            <a:off x="296726" y="145335"/>
            <a:ext cx="8746334" cy="1200329"/>
          </a:xfrm>
          <a:prstGeom prst="rect">
            <a:avLst/>
          </a:prstGeom>
          <a:noFill/>
        </p:spPr>
        <p:txBody>
          <a:bodyPr wrap="square" rtlCol="0">
            <a:spAutoFit/>
          </a:bodyPr>
          <a:lstStyle/>
          <a:p>
            <a:r>
              <a:rPr lang="en-US" altLang="ja-JP" dirty="0"/>
              <a:t>5.2  Generate 1000000 event of 1.0 MeV gamma position(0,0,10mm) and direction (0,0,1) . Make a histogram of energy deposition in Ge crystal and calculate the  efficiency of detecting full energy deposition (gamma events shown as 1.0 MeV).</a:t>
            </a:r>
            <a:r>
              <a:rPr lang="ja-JP" altLang="en-US" dirty="0"/>
              <a:t>　</a:t>
            </a:r>
            <a:endParaRPr lang="en-US" altLang="ja-JP" dirty="0"/>
          </a:p>
        </p:txBody>
      </p:sp>
      <p:sp>
        <p:nvSpPr>
          <p:cNvPr id="3" name="テキスト ボックス 2">
            <a:extLst>
              <a:ext uri="{FF2B5EF4-FFF2-40B4-BE49-F238E27FC236}">
                <a16:creationId xmlns:a16="http://schemas.microsoft.com/office/drawing/2014/main" id="{4C59D558-1605-6EFD-6376-DF72E807913D}"/>
              </a:ext>
            </a:extLst>
          </p:cNvPr>
          <p:cNvSpPr txBox="1"/>
          <p:nvPr/>
        </p:nvSpPr>
        <p:spPr>
          <a:xfrm>
            <a:off x="355719" y="1493168"/>
            <a:ext cx="2669111" cy="369332"/>
          </a:xfrm>
          <a:prstGeom prst="rect">
            <a:avLst/>
          </a:prstGeom>
          <a:noFill/>
          <a:ln>
            <a:solidFill>
              <a:schemeClr val="tx1"/>
            </a:solidFill>
          </a:ln>
        </p:spPr>
        <p:txBody>
          <a:bodyPr wrap="square" rtlCol="0">
            <a:spAutoFit/>
          </a:bodyPr>
          <a:lstStyle/>
          <a:p>
            <a:r>
              <a:rPr lang="en-US" altLang="ja-JP" dirty="0"/>
              <a:t>[Past your macro file]</a:t>
            </a:r>
            <a:endParaRPr kumimoji="1" lang="ja-JP" altLang="en-US" dirty="0"/>
          </a:p>
        </p:txBody>
      </p:sp>
      <p:sp>
        <p:nvSpPr>
          <p:cNvPr id="4" name="正方形/長方形 3">
            <a:extLst>
              <a:ext uri="{FF2B5EF4-FFF2-40B4-BE49-F238E27FC236}">
                <a16:creationId xmlns:a16="http://schemas.microsoft.com/office/drawing/2014/main" id="{897FE15B-85D8-7906-CC02-D4A6E28E8D73}"/>
              </a:ext>
            </a:extLst>
          </p:cNvPr>
          <p:cNvSpPr/>
          <p:nvPr/>
        </p:nvSpPr>
        <p:spPr>
          <a:xfrm>
            <a:off x="210649" y="1345664"/>
            <a:ext cx="8686800" cy="52221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165242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480B4C0-DE4C-AFEE-3829-8C1137D2EEE1}"/>
              </a:ext>
            </a:extLst>
          </p:cNvPr>
          <p:cNvSpPr txBox="1"/>
          <p:nvPr/>
        </p:nvSpPr>
        <p:spPr>
          <a:xfrm>
            <a:off x="264921" y="142537"/>
            <a:ext cx="5165820" cy="369332"/>
          </a:xfrm>
          <a:prstGeom prst="rect">
            <a:avLst/>
          </a:prstGeom>
          <a:noFill/>
          <a:ln>
            <a:solidFill>
              <a:schemeClr val="tx1"/>
            </a:solidFill>
          </a:ln>
        </p:spPr>
        <p:txBody>
          <a:bodyPr wrap="square" rtlCol="0">
            <a:spAutoFit/>
          </a:bodyPr>
          <a:lstStyle/>
          <a:p>
            <a:r>
              <a:rPr lang="en-US" altLang="ja-JP" dirty="0"/>
              <a:t>[Figure of Total energy deposit in Ge crystal ]</a:t>
            </a:r>
            <a:endParaRPr kumimoji="1" lang="ja-JP" altLang="en-US" dirty="0"/>
          </a:p>
        </p:txBody>
      </p:sp>
      <p:sp>
        <p:nvSpPr>
          <p:cNvPr id="3" name="テキスト ボックス 2">
            <a:extLst>
              <a:ext uri="{FF2B5EF4-FFF2-40B4-BE49-F238E27FC236}">
                <a16:creationId xmlns:a16="http://schemas.microsoft.com/office/drawing/2014/main" id="{DCD4C0F7-8A78-B1A2-E2B1-61F615A22192}"/>
              </a:ext>
            </a:extLst>
          </p:cNvPr>
          <p:cNvSpPr txBox="1"/>
          <p:nvPr/>
        </p:nvSpPr>
        <p:spPr>
          <a:xfrm>
            <a:off x="264920" y="6323015"/>
            <a:ext cx="8060095" cy="369332"/>
          </a:xfrm>
          <a:prstGeom prst="rect">
            <a:avLst/>
          </a:prstGeom>
          <a:noFill/>
          <a:ln>
            <a:solidFill>
              <a:schemeClr val="tx1"/>
            </a:solidFill>
          </a:ln>
        </p:spPr>
        <p:txBody>
          <a:bodyPr wrap="square" rtlCol="0">
            <a:spAutoFit/>
          </a:bodyPr>
          <a:lstStyle/>
          <a:p>
            <a:r>
              <a:rPr kumimoji="1" lang="en-US" altLang="ja-JP" dirty="0"/>
              <a:t>D</a:t>
            </a:r>
            <a:r>
              <a:rPr lang="en-US" altLang="ja-JP" dirty="0"/>
              <a:t>etection efficiency of 1 MeV gamma event: </a:t>
            </a:r>
            <a:r>
              <a:rPr lang="en-US" altLang="ja-JP" u="sng" dirty="0"/>
              <a:t>            ±          [stat.]</a:t>
            </a:r>
            <a:endParaRPr kumimoji="1" lang="ja-JP" altLang="en-US" u="sng" dirty="0"/>
          </a:p>
        </p:txBody>
      </p:sp>
    </p:spTree>
    <p:extLst>
      <p:ext uri="{BB962C8B-B14F-4D97-AF65-F5344CB8AC3E}">
        <p14:creationId xmlns:p14="http://schemas.microsoft.com/office/powerpoint/2010/main" val="4240940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D0C8F-9F5A-79CB-E241-256C55588F0C}"/>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AAE878C-84D0-C7E5-830F-6D1611D26AC4}"/>
              </a:ext>
            </a:extLst>
          </p:cNvPr>
          <p:cNvSpPr txBox="1"/>
          <p:nvPr/>
        </p:nvSpPr>
        <p:spPr>
          <a:xfrm>
            <a:off x="296726" y="145335"/>
            <a:ext cx="8746334" cy="1477328"/>
          </a:xfrm>
          <a:prstGeom prst="rect">
            <a:avLst/>
          </a:prstGeom>
          <a:noFill/>
        </p:spPr>
        <p:txBody>
          <a:bodyPr wrap="square" rtlCol="0">
            <a:spAutoFit/>
          </a:bodyPr>
          <a:lstStyle/>
          <a:p>
            <a:r>
              <a:rPr lang="en-US" altLang="ja-JP" dirty="0"/>
              <a:t>5.3 Generate 1000000 event of 1.0 MeV gamma position(0,0,10mm) and uniformed direction . Make a histogram of energy deposition in Ge crystal and calculate the  efficiency of detecting full energy deposition (gamma events shown as 1.0 MeV). Make figures of primary particle directions (</a:t>
            </a:r>
            <a:r>
              <a:rPr lang="en-US" altLang="ja-JP" dirty="0">
                <a:latin typeface="Symbol" panose="05050102010706020507" pitchFamily="18" charset="2"/>
              </a:rPr>
              <a:t>f</a:t>
            </a:r>
            <a:r>
              <a:rPr lang="en-US" altLang="ja-JP" dirty="0"/>
              <a:t> and </a:t>
            </a:r>
            <a:r>
              <a:rPr lang="en-US" altLang="ja-JP" dirty="0" err="1"/>
              <a:t>cos</a:t>
            </a:r>
            <a:r>
              <a:rPr lang="en-US" altLang="ja-JP" dirty="0" err="1">
                <a:latin typeface="Symbol" panose="05050102010706020507" pitchFamily="18" charset="2"/>
              </a:rPr>
              <a:t>q</a:t>
            </a:r>
            <a:r>
              <a:rPr lang="en-US" altLang="ja-JP" dirty="0"/>
              <a:t> distribution )</a:t>
            </a:r>
          </a:p>
        </p:txBody>
      </p:sp>
      <p:sp>
        <p:nvSpPr>
          <p:cNvPr id="3" name="テキスト ボックス 2">
            <a:extLst>
              <a:ext uri="{FF2B5EF4-FFF2-40B4-BE49-F238E27FC236}">
                <a16:creationId xmlns:a16="http://schemas.microsoft.com/office/drawing/2014/main" id="{FE94DEAB-99F9-218D-E152-7E214C3502E6}"/>
              </a:ext>
            </a:extLst>
          </p:cNvPr>
          <p:cNvSpPr txBox="1"/>
          <p:nvPr/>
        </p:nvSpPr>
        <p:spPr>
          <a:xfrm>
            <a:off x="296726" y="1987239"/>
            <a:ext cx="2669111" cy="369332"/>
          </a:xfrm>
          <a:prstGeom prst="rect">
            <a:avLst/>
          </a:prstGeom>
          <a:noFill/>
          <a:ln>
            <a:solidFill>
              <a:schemeClr val="tx1"/>
            </a:solidFill>
          </a:ln>
        </p:spPr>
        <p:txBody>
          <a:bodyPr wrap="square" rtlCol="0">
            <a:spAutoFit/>
          </a:bodyPr>
          <a:lstStyle/>
          <a:p>
            <a:r>
              <a:rPr lang="en-US" altLang="ja-JP" dirty="0"/>
              <a:t>[Past your macro file]</a:t>
            </a:r>
            <a:endParaRPr kumimoji="1" lang="ja-JP" altLang="en-US" dirty="0"/>
          </a:p>
        </p:txBody>
      </p:sp>
      <p:sp>
        <p:nvSpPr>
          <p:cNvPr id="4" name="正方形/長方形 3">
            <a:extLst>
              <a:ext uri="{FF2B5EF4-FFF2-40B4-BE49-F238E27FC236}">
                <a16:creationId xmlns:a16="http://schemas.microsoft.com/office/drawing/2014/main" id="{E062A13A-F53B-2B1C-C1F6-27B25999B43C}"/>
              </a:ext>
            </a:extLst>
          </p:cNvPr>
          <p:cNvSpPr/>
          <p:nvPr/>
        </p:nvSpPr>
        <p:spPr>
          <a:xfrm>
            <a:off x="210649" y="1899662"/>
            <a:ext cx="8686800" cy="46681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32578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5A569-A495-6C94-B4FE-6B61B5252D6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0C3B959-EA3B-2952-4F29-9E82C7E43309}"/>
              </a:ext>
            </a:extLst>
          </p:cNvPr>
          <p:cNvSpPr txBox="1"/>
          <p:nvPr/>
        </p:nvSpPr>
        <p:spPr>
          <a:xfrm>
            <a:off x="264921" y="142537"/>
            <a:ext cx="5165820" cy="369332"/>
          </a:xfrm>
          <a:prstGeom prst="rect">
            <a:avLst/>
          </a:prstGeom>
          <a:noFill/>
          <a:ln>
            <a:solidFill>
              <a:schemeClr val="tx1"/>
            </a:solidFill>
          </a:ln>
        </p:spPr>
        <p:txBody>
          <a:bodyPr wrap="square" rtlCol="0">
            <a:spAutoFit/>
          </a:bodyPr>
          <a:lstStyle/>
          <a:p>
            <a:r>
              <a:rPr lang="en-US" altLang="ja-JP" dirty="0"/>
              <a:t>[Figure of Total energy deposit in Ge crystal ]</a:t>
            </a:r>
            <a:endParaRPr kumimoji="1" lang="ja-JP" altLang="en-US" dirty="0"/>
          </a:p>
        </p:txBody>
      </p:sp>
      <p:sp>
        <p:nvSpPr>
          <p:cNvPr id="3" name="テキスト ボックス 2">
            <a:extLst>
              <a:ext uri="{FF2B5EF4-FFF2-40B4-BE49-F238E27FC236}">
                <a16:creationId xmlns:a16="http://schemas.microsoft.com/office/drawing/2014/main" id="{96D18CBA-6EB8-724D-1A60-F429CF0B8BBA}"/>
              </a:ext>
            </a:extLst>
          </p:cNvPr>
          <p:cNvSpPr txBox="1"/>
          <p:nvPr/>
        </p:nvSpPr>
        <p:spPr>
          <a:xfrm>
            <a:off x="264920" y="6323015"/>
            <a:ext cx="8060095" cy="369332"/>
          </a:xfrm>
          <a:prstGeom prst="rect">
            <a:avLst/>
          </a:prstGeom>
          <a:noFill/>
          <a:ln>
            <a:solidFill>
              <a:schemeClr val="tx1"/>
            </a:solidFill>
          </a:ln>
        </p:spPr>
        <p:txBody>
          <a:bodyPr wrap="square" rtlCol="0">
            <a:spAutoFit/>
          </a:bodyPr>
          <a:lstStyle/>
          <a:p>
            <a:r>
              <a:rPr kumimoji="1" lang="en-US" altLang="ja-JP" dirty="0"/>
              <a:t>D</a:t>
            </a:r>
            <a:r>
              <a:rPr lang="en-US" altLang="ja-JP" dirty="0"/>
              <a:t>etection efficiency of 1 MeV gamma event: </a:t>
            </a:r>
            <a:r>
              <a:rPr lang="en-US" altLang="ja-JP" u="sng" dirty="0"/>
              <a:t>            ±          [stat.]</a:t>
            </a:r>
            <a:endParaRPr kumimoji="1" lang="ja-JP" altLang="en-US" u="sng" dirty="0"/>
          </a:p>
        </p:txBody>
      </p:sp>
    </p:spTree>
    <p:extLst>
      <p:ext uri="{BB962C8B-B14F-4D97-AF65-F5344CB8AC3E}">
        <p14:creationId xmlns:p14="http://schemas.microsoft.com/office/powerpoint/2010/main" val="3576875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33224-6F01-4FC9-5FA4-899CE097E3C9}"/>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2067C09-BE04-741F-3BEB-0E61F24C620B}"/>
              </a:ext>
            </a:extLst>
          </p:cNvPr>
          <p:cNvSpPr txBox="1"/>
          <p:nvPr/>
        </p:nvSpPr>
        <p:spPr>
          <a:xfrm>
            <a:off x="264920" y="142537"/>
            <a:ext cx="6495643" cy="369332"/>
          </a:xfrm>
          <a:prstGeom prst="rect">
            <a:avLst/>
          </a:prstGeom>
          <a:noFill/>
          <a:ln>
            <a:solidFill>
              <a:schemeClr val="tx1"/>
            </a:solidFill>
          </a:ln>
        </p:spPr>
        <p:txBody>
          <a:bodyPr wrap="square" rtlCol="0">
            <a:spAutoFit/>
          </a:bodyPr>
          <a:lstStyle/>
          <a:p>
            <a:r>
              <a:rPr lang="en-US" altLang="ja-JP" dirty="0"/>
              <a:t>[</a:t>
            </a:r>
            <a:r>
              <a:rPr lang="en-US" altLang="ja-JP" dirty="0">
                <a:latin typeface="Symbol" panose="05050102010706020507" pitchFamily="18" charset="2"/>
              </a:rPr>
              <a:t>f</a:t>
            </a:r>
            <a:r>
              <a:rPr lang="en-US" altLang="ja-JP" dirty="0"/>
              <a:t> distribution of primary particle direction vector figure]</a:t>
            </a:r>
            <a:endParaRPr kumimoji="1" lang="ja-JP" altLang="en-US" dirty="0"/>
          </a:p>
        </p:txBody>
      </p:sp>
    </p:spTree>
    <p:extLst>
      <p:ext uri="{BB962C8B-B14F-4D97-AF65-F5344CB8AC3E}">
        <p14:creationId xmlns:p14="http://schemas.microsoft.com/office/powerpoint/2010/main" val="1574166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51B7C-E1C6-CB5F-E071-A7C2BD7748D6}"/>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B12504F-4525-4A25-CCF0-6F3118EB00F1}"/>
              </a:ext>
            </a:extLst>
          </p:cNvPr>
          <p:cNvSpPr txBox="1"/>
          <p:nvPr/>
        </p:nvSpPr>
        <p:spPr>
          <a:xfrm>
            <a:off x="264921" y="142537"/>
            <a:ext cx="6727990" cy="369332"/>
          </a:xfrm>
          <a:prstGeom prst="rect">
            <a:avLst/>
          </a:prstGeom>
          <a:noFill/>
          <a:ln>
            <a:solidFill>
              <a:schemeClr val="tx1"/>
            </a:solidFill>
          </a:ln>
        </p:spPr>
        <p:txBody>
          <a:bodyPr wrap="square" rtlCol="0">
            <a:spAutoFit/>
          </a:bodyPr>
          <a:lstStyle/>
          <a:p>
            <a:r>
              <a:rPr lang="en-US" altLang="ja-JP" dirty="0"/>
              <a:t>[</a:t>
            </a:r>
            <a:r>
              <a:rPr lang="en-US" altLang="ja-JP" dirty="0" err="1"/>
              <a:t>cos</a:t>
            </a:r>
            <a:r>
              <a:rPr lang="en-US" altLang="ja-JP" dirty="0" err="1">
                <a:latin typeface="Symbol" panose="05050102010706020507" pitchFamily="18" charset="2"/>
              </a:rPr>
              <a:t>q</a:t>
            </a:r>
            <a:r>
              <a:rPr lang="en-US" altLang="ja-JP" dirty="0">
                <a:latin typeface="Symbol" panose="05050102010706020507" pitchFamily="18" charset="2"/>
              </a:rPr>
              <a:t> </a:t>
            </a:r>
            <a:r>
              <a:rPr lang="en-US" altLang="ja-JP" dirty="0"/>
              <a:t>distribution of primary particle direction vector figure]</a:t>
            </a:r>
            <a:endParaRPr kumimoji="1" lang="ja-JP" altLang="en-US" dirty="0"/>
          </a:p>
        </p:txBody>
      </p:sp>
    </p:spTree>
    <p:extLst>
      <p:ext uri="{BB962C8B-B14F-4D97-AF65-F5344CB8AC3E}">
        <p14:creationId xmlns:p14="http://schemas.microsoft.com/office/powerpoint/2010/main" val="39881606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A0733-9EB2-D333-3312-2631193A9A27}"/>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0FD42AC-3B99-9C6B-A46E-95303BFE9BAA}"/>
              </a:ext>
            </a:extLst>
          </p:cNvPr>
          <p:cNvSpPr txBox="1"/>
          <p:nvPr/>
        </p:nvSpPr>
        <p:spPr>
          <a:xfrm>
            <a:off x="296726" y="145335"/>
            <a:ext cx="8746334" cy="1477328"/>
          </a:xfrm>
          <a:prstGeom prst="rect">
            <a:avLst/>
          </a:prstGeom>
          <a:noFill/>
        </p:spPr>
        <p:txBody>
          <a:bodyPr wrap="square" rtlCol="0">
            <a:spAutoFit/>
          </a:bodyPr>
          <a:lstStyle/>
          <a:p>
            <a:r>
              <a:rPr lang="en-US" altLang="ja-JP" dirty="0"/>
              <a:t>5.4 Do 5.2 as different gamma energies [0.25MeV, 0.5MeV, 0.75MeV, 1.25MeV, 1.5MeV,2.0MeV,2.5MeV]. Make histograms of each energies and calculate detection efficiency. </a:t>
            </a:r>
            <a:br>
              <a:rPr lang="en-US" altLang="ja-JP" dirty="0"/>
            </a:br>
            <a:r>
              <a:rPr lang="en-US" altLang="ja-JP" dirty="0"/>
              <a:t>Make table and figure of detection efficiency as a function of gamma energy.</a:t>
            </a:r>
          </a:p>
          <a:p>
            <a:endParaRPr lang="en-US" altLang="ja-JP" dirty="0"/>
          </a:p>
        </p:txBody>
      </p:sp>
      <p:graphicFrame>
        <p:nvGraphicFramePr>
          <p:cNvPr id="3" name="表 2">
            <a:extLst>
              <a:ext uri="{FF2B5EF4-FFF2-40B4-BE49-F238E27FC236}">
                <a16:creationId xmlns:a16="http://schemas.microsoft.com/office/drawing/2014/main" id="{2C108529-9035-6DD1-3574-B32D8CEED28B}"/>
              </a:ext>
            </a:extLst>
          </p:cNvPr>
          <p:cNvGraphicFramePr>
            <a:graphicFrameLocks noGrp="1"/>
          </p:cNvGraphicFramePr>
          <p:nvPr>
            <p:extLst>
              <p:ext uri="{D42A27DB-BD31-4B8C-83A1-F6EECF244321}">
                <p14:modId xmlns:p14="http://schemas.microsoft.com/office/powerpoint/2010/main" val="1493927915"/>
              </p:ext>
            </p:extLst>
          </p:nvPr>
        </p:nvGraphicFramePr>
        <p:xfrm>
          <a:off x="1303119" y="2086337"/>
          <a:ext cx="6096000" cy="3606800"/>
        </p:xfrm>
        <a:graphic>
          <a:graphicData uri="http://schemas.openxmlformats.org/drawingml/2006/table">
            <a:tbl>
              <a:tblPr firstRow="1" bandRow="1">
                <a:tableStyleId>{5940675A-B579-460E-94D1-54222C63F5DA}</a:tableStyleId>
              </a:tblPr>
              <a:tblGrid>
                <a:gridCol w="1979221">
                  <a:extLst>
                    <a:ext uri="{9D8B030D-6E8A-4147-A177-3AD203B41FA5}">
                      <a16:colId xmlns:a16="http://schemas.microsoft.com/office/drawing/2014/main" val="2585800548"/>
                    </a:ext>
                  </a:extLst>
                </a:gridCol>
                <a:gridCol w="4116779">
                  <a:extLst>
                    <a:ext uri="{9D8B030D-6E8A-4147-A177-3AD203B41FA5}">
                      <a16:colId xmlns:a16="http://schemas.microsoft.com/office/drawing/2014/main" val="1969819856"/>
                    </a:ext>
                  </a:extLst>
                </a:gridCol>
              </a:tblGrid>
              <a:tr h="370840">
                <a:tc>
                  <a:txBody>
                    <a:bodyPr/>
                    <a:lstStyle/>
                    <a:p>
                      <a:r>
                        <a:rPr kumimoji="1" lang="en-US" altLang="ja-JP" dirty="0"/>
                        <a:t>Gamma Energy</a:t>
                      </a:r>
                      <a:endParaRPr kumimoji="1" lang="ja-JP" altLang="en-US" dirty="0"/>
                    </a:p>
                  </a:txBody>
                  <a:tcPr/>
                </a:tc>
                <a:tc>
                  <a:txBody>
                    <a:bodyPr/>
                    <a:lstStyle/>
                    <a:p>
                      <a:r>
                        <a:rPr kumimoji="1" lang="en-US" altLang="ja-JP" dirty="0"/>
                        <a:t>Detection Efficiency</a:t>
                      </a:r>
                    </a:p>
                    <a:p>
                      <a:r>
                        <a:rPr kumimoji="1" lang="en-US" altLang="ja-JP" dirty="0"/>
                        <a:t>(w/ stat. error)</a:t>
                      </a:r>
                      <a:endParaRPr kumimoji="1" lang="ja-JP" altLang="en-US" dirty="0"/>
                    </a:p>
                  </a:txBody>
                  <a:tcPr/>
                </a:tc>
                <a:extLst>
                  <a:ext uri="{0D108BD9-81ED-4DB2-BD59-A6C34878D82A}">
                    <a16:rowId xmlns:a16="http://schemas.microsoft.com/office/drawing/2014/main" val="1703725567"/>
                  </a:ext>
                </a:extLst>
              </a:tr>
              <a:tr h="370840">
                <a:tc>
                  <a:txBody>
                    <a:bodyPr/>
                    <a:lstStyle/>
                    <a:p>
                      <a:r>
                        <a:rPr kumimoji="1" lang="en-US" altLang="ja-JP" dirty="0"/>
                        <a:t>0.25</a:t>
                      </a:r>
                      <a:endParaRPr kumimoji="1" lang="ja-JP" altLang="en-US" dirty="0"/>
                    </a:p>
                  </a:txBody>
                  <a:tcPr/>
                </a:tc>
                <a:tc>
                  <a:txBody>
                    <a:bodyPr/>
                    <a:lstStyle/>
                    <a:p>
                      <a:pPr algn="ctr"/>
                      <a:r>
                        <a:rPr kumimoji="1" lang="en-US" altLang="ja-JP" dirty="0"/>
                        <a:t>±</a:t>
                      </a:r>
                      <a:endParaRPr kumimoji="1" lang="ja-JP" altLang="en-US" dirty="0"/>
                    </a:p>
                  </a:txBody>
                  <a:tcPr/>
                </a:tc>
                <a:extLst>
                  <a:ext uri="{0D108BD9-81ED-4DB2-BD59-A6C34878D82A}">
                    <a16:rowId xmlns:a16="http://schemas.microsoft.com/office/drawing/2014/main" val="3816836926"/>
                  </a:ext>
                </a:extLst>
              </a:tr>
              <a:tr h="370840">
                <a:tc>
                  <a:txBody>
                    <a:bodyPr/>
                    <a:lstStyle/>
                    <a:p>
                      <a:r>
                        <a:rPr kumimoji="1" lang="en-US" altLang="ja-JP" dirty="0"/>
                        <a:t>0.5</a:t>
                      </a:r>
                      <a:endParaRPr kumimoji="1" lang="ja-JP"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a:tc>
                <a:extLst>
                  <a:ext uri="{0D108BD9-81ED-4DB2-BD59-A6C34878D82A}">
                    <a16:rowId xmlns:a16="http://schemas.microsoft.com/office/drawing/2014/main" val="698727917"/>
                  </a:ext>
                </a:extLst>
              </a:tr>
              <a:tr h="370840">
                <a:tc>
                  <a:txBody>
                    <a:bodyPr/>
                    <a:lstStyle/>
                    <a:p>
                      <a:r>
                        <a:rPr kumimoji="1" lang="en-US" altLang="ja-JP" dirty="0"/>
                        <a:t>0.75</a:t>
                      </a:r>
                      <a:endParaRPr kumimoji="1" lang="ja-JP"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a:tc>
                <a:extLst>
                  <a:ext uri="{0D108BD9-81ED-4DB2-BD59-A6C34878D82A}">
                    <a16:rowId xmlns:a16="http://schemas.microsoft.com/office/drawing/2014/main" val="673678955"/>
                  </a:ext>
                </a:extLst>
              </a:tr>
              <a:tr h="370840">
                <a:tc>
                  <a:txBody>
                    <a:bodyPr/>
                    <a:lstStyle/>
                    <a:p>
                      <a:r>
                        <a:rPr kumimoji="1" lang="en-US" altLang="ja-JP" dirty="0"/>
                        <a:t>1.0</a:t>
                      </a:r>
                      <a:endParaRPr kumimoji="1" lang="ja-JP"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a:tc>
                <a:extLst>
                  <a:ext uri="{0D108BD9-81ED-4DB2-BD59-A6C34878D82A}">
                    <a16:rowId xmlns:a16="http://schemas.microsoft.com/office/drawing/2014/main" val="1856407209"/>
                  </a:ext>
                </a:extLst>
              </a:tr>
              <a:tr h="370840">
                <a:tc>
                  <a:txBody>
                    <a:bodyPr/>
                    <a:lstStyle/>
                    <a:p>
                      <a:r>
                        <a:rPr kumimoji="1" lang="en-US" altLang="ja-JP" dirty="0"/>
                        <a:t>1.25</a:t>
                      </a:r>
                      <a:endParaRPr kumimoji="1" lang="ja-JP"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a:tc>
                <a:extLst>
                  <a:ext uri="{0D108BD9-81ED-4DB2-BD59-A6C34878D82A}">
                    <a16:rowId xmlns:a16="http://schemas.microsoft.com/office/drawing/2014/main" val="2133568145"/>
                  </a:ext>
                </a:extLst>
              </a:tr>
              <a:tr h="370840">
                <a:tc>
                  <a:txBody>
                    <a:bodyPr/>
                    <a:lstStyle/>
                    <a:p>
                      <a:r>
                        <a:rPr kumimoji="1" lang="en-US" altLang="ja-JP" dirty="0"/>
                        <a:t>1.5</a:t>
                      </a:r>
                      <a:endParaRPr kumimoji="1" lang="ja-JP"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a:tc>
                <a:extLst>
                  <a:ext uri="{0D108BD9-81ED-4DB2-BD59-A6C34878D82A}">
                    <a16:rowId xmlns:a16="http://schemas.microsoft.com/office/drawing/2014/main" val="3695929442"/>
                  </a:ext>
                </a:extLst>
              </a:tr>
              <a:tr h="370840">
                <a:tc>
                  <a:txBody>
                    <a:bodyPr/>
                    <a:lstStyle/>
                    <a:p>
                      <a:r>
                        <a:rPr kumimoji="1" lang="en-US" altLang="ja-JP" dirty="0"/>
                        <a:t>2.0</a:t>
                      </a:r>
                      <a:endParaRPr kumimoji="1" lang="ja-JP"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a:tc>
                <a:extLst>
                  <a:ext uri="{0D108BD9-81ED-4DB2-BD59-A6C34878D82A}">
                    <a16:rowId xmlns:a16="http://schemas.microsoft.com/office/drawing/2014/main" val="2328740806"/>
                  </a:ext>
                </a:extLst>
              </a:tr>
              <a:tr h="370840">
                <a:tc>
                  <a:txBody>
                    <a:bodyPr/>
                    <a:lstStyle/>
                    <a:p>
                      <a:r>
                        <a:rPr kumimoji="1" lang="en-US" altLang="ja-JP" dirty="0"/>
                        <a:t>2.5</a:t>
                      </a:r>
                      <a:endParaRPr kumimoji="1" lang="ja-JP"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rPr>
                        <a:t>±</a:t>
                      </a:r>
                      <a:endParaRPr kumimoji="1" lang="ja-JP" altLang="en-US" sz="1800" b="0" i="0" u="none" strike="noStrike" kern="1200" cap="none" spc="0" normalizeH="0" baseline="0" noProof="0" dirty="0">
                        <a:ln>
                          <a:noFill/>
                        </a:ln>
                        <a:solidFill>
                          <a:prstClr val="black"/>
                        </a:solidFill>
                        <a:effectLst/>
                        <a:uLnTx/>
                        <a:uFillTx/>
                        <a:latin typeface="游ゴシック" panose="02110004020202020204"/>
                        <a:ea typeface="游ゴシック" panose="020B0400000000000000" pitchFamily="50" charset="-128"/>
                        <a:cs typeface="+mn-cs"/>
                      </a:endParaRPr>
                    </a:p>
                  </a:txBody>
                  <a:tcPr/>
                </a:tc>
                <a:extLst>
                  <a:ext uri="{0D108BD9-81ED-4DB2-BD59-A6C34878D82A}">
                    <a16:rowId xmlns:a16="http://schemas.microsoft.com/office/drawing/2014/main" val="1539686332"/>
                  </a:ext>
                </a:extLst>
              </a:tr>
            </a:tbl>
          </a:graphicData>
        </a:graphic>
      </p:graphicFrame>
    </p:spTree>
    <p:extLst>
      <p:ext uri="{BB962C8B-B14F-4D97-AF65-F5344CB8AC3E}">
        <p14:creationId xmlns:p14="http://schemas.microsoft.com/office/powerpoint/2010/main" val="457695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54EFE2E-54C4-354E-151B-DD9437A9B77F}"/>
              </a:ext>
            </a:extLst>
          </p:cNvPr>
          <p:cNvSpPr txBox="1"/>
          <p:nvPr/>
        </p:nvSpPr>
        <p:spPr>
          <a:xfrm>
            <a:off x="127221" y="214686"/>
            <a:ext cx="1117614" cy="369332"/>
          </a:xfrm>
          <a:prstGeom prst="rect">
            <a:avLst/>
          </a:prstGeom>
          <a:noFill/>
          <a:ln>
            <a:solidFill>
              <a:schemeClr val="accent1">
                <a:shade val="15000"/>
              </a:schemeClr>
            </a:solidFill>
          </a:ln>
        </p:spPr>
        <p:txBody>
          <a:bodyPr wrap="none" rtlCol="0">
            <a:spAutoFit/>
          </a:bodyPr>
          <a:lstStyle/>
          <a:p>
            <a:r>
              <a:rPr kumimoji="1" lang="en-US" altLang="ja-JP" dirty="0"/>
              <a:t>0.25MeV</a:t>
            </a:r>
            <a:endParaRPr kumimoji="1" lang="ja-JP" altLang="en-US" dirty="0"/>
          </a:p>
        </p:txBody>
      </p:sp>
    </p:spTree>
    <p:extLst>
      <p:ext uri="{BB962C8B-B14F-4D97-AF65-F5344CB8AC3E}">
        <p14:creationId xmlns:p14="http://schemas.microsoft.com/office/powerpoint/2010/main" val="1417707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8F806-83CD-667F-8058-1E4E36ADD27C}"/>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11F904F-BAD5-52D9-6851-BB82D3B4D71C}"/>
              </a:ext>
            </a:extLst>
          </p:cNvPr>
          <p:cNvSpPr txBox="1"/>
          <p:nvPr/>
        </p:nvSpPr>
        <p:spPr>
          <a:xfrm>
            <a:off x="127221" y="214686"/>
            <a:ext cx="989373" cy="369332"/>
          </a:xfrm>
          <a:prstGeom prst="rect">
            <a:avLst/>
          </a:prstGeom>
          <a:noFill/>
          <a:ln>
            <a:solidFill>
              <a:schemeClr val="accent1">
                <a:shade val="15000"/>
              </a:schemeClr>
            </a:solidFill>
          </a:ln>
        </p:spPr>
        <p:txBody>
          <a:bodyPr wrap="none" rtlCol="0">
            <a:spAutoFit/>
          </a:bodyPr>
          <a:lstStyle/>
          <a:p>
            <a:r>
              <a:rPr kumimoji="1" lang="en-US" altLang="ja-JP" dirty="0"/>
              <a:t>0.5MeV</a:t>
            </a:r>
            <a:endParaRPr kumimoji="1" lang="ja-JP" altLang="en-US" dirty="0"/>
          </a:p>
        </p:txBody>
      </p:sp>
    </p:spTree>
    <p:extLst>
      <p:ext uri="{BB962C8B-B14F-4D97-AF65-F5344CB8AC3E}">
        <p14:creationId xmlns:p14="http://schemas.microsoft.com/office/powerpoint/2010/main" val="16167050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E6460-5708-7429-08B3-FF003FE2C71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057596B-602A-8E21-40BF-B6D728E1CCBB}"/>
              </a:ext>
            </a:extLst>
          </p:cNvPr>
          <p:cNvSpPr txBox="1"/>
          <p:nvPr/>
        </p:nvSpPr>
        <p:spPr>
          <a:xfrm>
            <a:off x="127221" y="214686"/>
            <a:ext cx="1117614" cy="369332"/>
          </a:xfrm>
          <a:prstGeom prst="rect">
            <a:avLst/>
          </a:prstGeom>
          <a:noFill/>
          <a:ln>
            <a:solidFill>
              <a:schemeClr val="accent1">
                <a:shade val="15000"/>
              </a:schemeClr>
            </a:solidFill>
          </a:ln>
        </p:spPr>
        <p:txBody>
          <a:bodyPr wrap="none" rtlCol="0">
            <a:spAutoFit/>
          </a:bodyPr>
          <a:lstStyle/>
          <a:p>
            <a:r>
              <a:rPr kumimoji="1" lang="en-US" altLang="ja-JP" dirty="0"/>
              <a:t>0.75MeV</a:t>
            </a:r>
            <a:endParaRPr kumimoji="1" lang="ja-JP" altLang="en-US" dirty="0"/>
          </a:p>
        </p:txBody>
      </p:sp>
    </p:spTree>
    <p:extLst>
      <p:ext uri="{BB962C8B-B14F-4D97-AF65-F5344CB8AC3E}">
        <p14:creationId xmlns:p14="http://schemas.microsoft.com/office/powerpoint/2010/main" val="2081857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58432-431F-DC67-FAF4-C48E6CC2C9FA}"/>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14EF9DF-59BA-AF91-76C3-1498BA4000CF}"/>
              </a:ext>
            </a:extLst>
          </p:cNvPr>
          <p:cNvSpPr txBox="1"/>
          <p:nvPr/>
        </p:nvSpPr>
        <p:spPr>
          <a:xfrm>
            <a:off x="127221" y="214686"/>
            <a:ext cx="1117614" cy="369332"/>
          </a:xfrm>
          <a:prstGeom prst="rect">
            <a:avLst/>
          </a:prstGeom>
          <a:noFill/>
          <a:ln>
            <a:solidFill>
              <a:schemeClr val="accent1">
                <a:shade val="15000"/>
              </a:schemeClr>
            </a:solidFill>
          </a:ln>
        </p:spPr>
        <p:txBody>
          <a:bodyPr wrap="none" rtlCol="0">
            <a:spAutoFit/>
          </a:bodyPr>
          <a:lstStyle/>
          <a:p>
            <a:r>
              <a:rPr lang="en-US" altLang="ja-JP" dirty="0"/>
              <a:t>1</a:t>
            </a:r>
            <a:r>
              <a:rPr kumimoji="1" lang="en-US" altLang="ja-JP" dirty="0"/>
              <a:t>.25MeV</a:t>
            </a:r>
            <a:endParaRPr kumimoji="1" lang="ja-JP" altLang="en-US" dirty="0"/>
          </a:p>
        </p:txBody>
      </p:sp>
    </p:spTree>
    <p:extLst>
      <p:ext uri="{BB962C8B-B14F-4D97-AF65-F5344CB8AC3E}">
        <p14:creationId xmlns:p14="http://schemas.microsoft.com/office/powerpoint/2010/main" val="42404802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AB018-E603-B70C-B264-805D33595083}"/>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E4754EE-63C6-19B4-8C31-B0E5EB9185E9}"/>
              </a:ext>
            </a:extLst>
          </p:cNvPr>
          <p:cNvSpPr txBox="1"/>
          <p:nvPr/>
        </p:nvSpPr>
        <p:spPr>
          <a:xfrm>
            <a:off x="127221" y="214686"/>
            <a:ext cx="989373" cy="369332"/>
          </a:xfrm>
          <a:prstGeom prst="rect">
            <a:avLst/>
          </a:prstGeom>
          <a:noFill/>
          <a:ln>
            <a:solidFill>
              <a:schemeClr val="accent1">
                <a:shade val="15000"/>
              </a:schemeClr>
            </a:solidFill>
          </a:ln>
        </p:spPr>
        <p:txBody>
          <a:bodyPr wrap="none" rtlCol="0">
            <a:spAutoFit/>
          </a:bodyPr>
          <a:lstStyle/>
          <a:p>
            <a:r>
              <a:rPr lang="en-US" altLang="ja-JP" dirty="0"/>
              <a:t>1.</a:t>
            </a:r>
            <a:r>
              <a:rPr kumimoji="1" lang="en-US" altLang="ja-JP" dirty="0"/>
              <a:t>5MeV</a:t>
            </a:r>
            <a:endParaRPr kumimoji="1" lang="ja-JP" altLang="en-US" dirty="0"/>
          </a:p>
        </p:txBody>
      </p:sp>
    </p:spTree>
    <p:extLst>
      <p:ext uri="{BB962C8B-B14F-4D97-AF65-F5344CB8AC3E}">
        <p14:creationId xmlns:p14="http://schemas.microsoft.com/office/powerpoint/2010/main" val="3209137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C5A2DC4E-3F55-CC8A-F62C-28B03FF874AB}"/>
              </a:ext>
            </a:extLst>
          </p:cNvPr>
          <p:cNvSpPr txBox="1"/>
          <p:nvPr/>
        </p:nvSpPr>
        <p:spPr>
          <a:xfrm>
            <a:off x="127221" y="214686"/>
            <a:ext cx="989373" cy="369332"/>
          </a:xfrm>
          <a:prstGeom prst="rect">
            <a:avLst/>
          </a:prstGeom>
          <a:noFill/>
          <a:ln>
            <a:solidFill>
              <a:schemeClr val="accent1">
                <a:shade val="15000"/>
              </a:schemeClr>
            </a:solidFill>
          </a:ln>
        </p:spPr>
        <p:txBody>
          <a:bodyPr wrap="none" rtlCol="0">
            <a:spAutoFit/>
          </a:bodyPr>
          <a:lstStyle/>
          <a:p>
            <a:r>
              <a:rPr kumimoji="1" lang="en-US" altLang="ja-JP" dirty="0"/>
              <a:t>2.0MeV</a:t>
            </a:r>
            <a:endParaRPr kumimoji="1" lang="ja-JP" altLang="en-US" dirty="0"/>
          </a:p>
        </p:txBody>
      </p:sp>
    </p:spTree>
    <p:extLst>
      <p:ext uri="{BB962C8B-B14F-4D97-AF65-F5344CB8AC3E}">
        <p14:creationId xmlns:p14="http://schemas.microsoft.com/office/powerpoint/2010/main" val="42584918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C697157B-1177-E1A9-64A9-7F942551B25B}"/>
              </a:ext>
            </a:extLst>
          </p:cNvPr>
          <p:cNvSpPr txBox="1"/>
          <p:nvPr/>
        </p:nvSpPr>
        <p:spPr>
          <a:xfrm>
            <a:off x="127221" y="214686"/>
            <a:ext cx="989373" cy="369332"/>
          </a:xfrm>
          <a:prstGeom prst="rect">
            <a:avLst/>
          </a:prstGeom>
          <a:noFill/>
          <a:ln>
            <a:solidFill>
              <a:schemeClr val="accent1">
                <a:shade val="15000"/>
              </a:schemeClr>
            </a:solidFill>
          </a:ln>
        </p:spPr>
        <p:txBody>
          <a:bodyPr wrap="none" rtlCol="0">
            <a:spAutoFit/>
          </a:bodyPr>
          <a:lstStyle/>
          <a:p>
            <a:r>
              <a:rPr lang="en-US" altLang="ja-JP" dirty="0"/>
              <a:t>2.</a:t>
            </a:r>
            <a:r>
              <a:rPr kumimoji="1" lang="en-US" altLang="ja-JP" dirty="0"/>
              <a:t>5MeV</a:t>
            </a:r>
            <a:endParaRPr kumimoji="1" lang="ja-JP" altLang="en-US" dirty="0"/>
          </a:p>
        </p:txBody>
      </p:sp>
      <p:sp>
        <p:nvSpPr>
          <p:cNvPr id="3" name="テキスト ボックス 2">
            <a:extLst>
              <a:ext uri="{FF2B5EF4-FFF2-40B4-BE49-F238E27FC236}">
                <a16:creationId xmlns:a16="http://schemas.microsoft.com/office/drawing/2014/main" id="{10C29AD4-069E-44C6-154E-CCFE9EDF8EF8}"/>
              </a:ext>
            </a:extLst>
          </p:cNvPr>
          <p:cNvSpPr txBox="1"/>
          <p:nvPr/>
        </p:nvSpPr>
        <p:spPr>
          <a:xfrm>
            <a:off x="1375576" y="214686"/>
            <a:ext cx="6675225" cy="369332"/>
          </a:xfrm>
          <a:prstGeom prst="rect">
            <a:avLst/>
          </a:prstGeom>
          <a:noFill/>
        </p:spPr>
        <p:txBody>
          <a:bodyPr wrap="none" rtlCol="0">
            <a:spAutoFit/>
          </a:bodyPr>
          <a:lstStyle/>
          <a:p>
            <a:r>
              <a:rPr lang="en-US" altLang="ja-JP" dirty="0"/>
              <a:t>Add comment for each peaks and edges shown in this figure </a:t>
            </a:r>
            <a:endParaRPr kumimoji="1" lang="en-US" altLang="ja-JP" dirty="0"/>
          </a:p>
        </p:txBody>
      </p:sp>
    </p:spTree>
    <p:extLst>
      <p:ext uri="{BB962C8B-B14F-4D97-AF65-F5344CB8AC3E}">
        <p14:creationId xmlns:p14="http://schemas.microsoft.com/office/powerpoint/2010/main" val="23774227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A384AA8-D195-6812-17FE-065A185D84E5}"/>
              </a:ext>
            </a:extLst>
          </p:cNvPr>
          <p:cNvSpPr txBox="1"/>
          <p:nvPr/>
        </p:nvSpPr>
        <p:spPr>
          <a:xfrm>
            <a:off x="159026" y="119269"/>
            <a:ext cx="3400290" cy="369332"/>
          </a:xfrm>
          <a:prstGeom prst="rect">
            <a:avLst/>
          </a:prstGeom>
          <a:noFill/>
          <a:ln>
            <a:solidFill>
              <a:schemeClr val="accent1">
                <a:shade val="15000"/>
              </a:schemeClr>
            </a:solidFill>
          </a:ln>
        </p:spPr>
        <p:txBody>
          <a:bodyPr wrap="none" rtlCol="0">
            <a:spAutoFit/>
          </a:bodyPr>
          <a:lstStyle/>
          <a:p>
            <a:r>
              <a:rPr kumimoji="1" lang="en-US" altLang="ja-JP" dirty="0"/>
              <a:t>Energy vs Detection efficiency</a:t>
            </a:r>
            <a:endParaRPr kumimoji="1" lang="ja-JP" altLang="en-US" dirty="0"/>
          </a:p>
        </p:txBody>
      </p:sp>
      <p:sp>
        <p:nvSpPr>
          <p:cNvPr id="3" name="テキスト ボックス 2">
            <a:extLst>
              <a:ext uri="{FF2B5EF4-FFF2-40B4-BE49-F238E27FC236}">
                <a16:creationId xmlns:a16="http://schemas.microsoft.com/office/drawing/2014/main" id="{C8B4C488-E860-01B9-4488-56710C18A56E}"/>
              </a:ext>
            </a:extLst>
          </p:cNvPr>
          <p:cNvSpPr txBox="1"/>
          <p:nvPr/>
        </p:nvSpPr>
        <p:spPr>
          <a:xfrm>
            <a:off x="3862740" y="119269"/>
            <a:ext cx="1773242" cy="369332"/>
          </a:xfrm>
          <a:prstGeom prst="rect">
            <a:avLst/>
          </a:prstGeom>
          <a:noFill/>
        </p:spPr>
        <p:txBody>
          <a:bodyPr wrap="none" rtlCol="0">
            <a:spAutoFit/>
          </a:bodyPr>
          <a:lstStyle/>
          <a:p>
            <a:r>
              <a:rPr kumimoji="1" lang="en-US" altLang="ja-JP" dirty="0"/>
              <a:t>Add comments</a:t>
            </a:r>
            <a:endParaRPr kumimoji="1" lang="ja-JP" altLang="en-US" dirty="0"/>
          </a:p>
        </p:txBody>
      </p:sp>
    </p:spTree>
    <p:extLst>
      <p:ext uri="{BB962C8B-B14F-4D97-AF65-F5344CB8AC3E}">
        <p14:creationId xmlns:p14="http://schemas.microsoft.com/office/powerpoint/2010/main" val="1505741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テキスト ボックス 30">
            <a:extLst>
              <a:ext uri="{FF2B5EF4-FFF2-40B4-BE49-F238E27FC236}">
                <a16:creationId xmlns:a16="http://schemas.microsoft.com/office/drawing/2014/main" id="{15ECBCA6-C926-AA7A-AC39-1157CD5B5EB4}"/>
              </a:ext>
            </a:extLst>
          </p:cNvPr>
          <p:cNvSpPr txBox="1"/>
          <p:nvPr/>
        </p:nvSpPr>
        <p:spPr>
          <a:xfrm>
            <a:off x="190831" y="190279"/>
            <a:ext cx="6536540" cy="1200329"/>
          </a:xfrm>
          <a:prstGeom prst="rect">
            <a:avLst/>
          </a:prstGeom>
          <a:noFill/>
        </p:spPr>
        <p:txBody>
          <a:bodyPr wrap="square" rtlCol="0">
            <a:spAutoFit/>
          </a:bodyPr>
          <a:lstStyle/>
          <a:p>
            <a:r>
              <a:rPr kumimoji="1" lang="en-US" altLang="ja-JP" dirty="0"/>
              <a:t>6. </a:t>
            </a:r>
            <a:r>
              <a:rPr lang="en-US" altLang="ja-JP" dirty="0"/>
              <a:t>Extra </a:t>
            </a:r>
          </a:p>
          <a:p>
            <a:r>
              <a:rPr kumimoji="1" lang="en-US" altLang="ja-JP" dirty="0"/>
              <a:t>6.1 Set cupper square plate </a:t>
            </a:r>
            <a:r>
              <a:rPr lang="en-US" altLang="ja-JP" dirty="0" err="1"/>
              <a:t>xwidth</a:t>
            </a:r>
            <a:r>
              <a:rPr lang="en-US" altLang="ja-JP" dirty="0"/>
              <a:t>=20mm, </a:t>
            </a:r>
            <a:r>
              <a:rPr lang="en-US" altLang="ja-JP" dirty="0" err="1"/>
              <a:t>ywidth</a:t>
            </a:r>
            <a:r>
              <a:rPr lang="en-US" altLang="ja-JP" dirty="0"/>
              <a:t>=20mm, </a:t>
            </a:r>
            <a:r>
              <a:rPr lang="en-US" altLang="ja-JP" dirty="0" err="1"/>
              <a:t>zwidth</a:t>
            </a:r>
            <a:r>
              <a:rPr lang="en-US" altLang="ja-JP" dirty="0"/>
              <a:t>=5mm </a:t>
            </a:r>
            <a:r>
              <a:rPr kumimoji="1" lang="en-US" altLang="ja-JP" dirty="0"/>
              <a:t>on the Ge detector top-center. </a:t>
            </a:r>
          </a:p>
          <a:p>
            <a:r>
              <a:rPr lang="en-US" altLang="ja-JP" dirty="0"/>
              <a:t>Check overlaps.</a:t>
            </a:r>
            <a:r>
              <a:rPr kumimoji="1" lang="en-US" altLang="ja-JP" dirty="0"/>
              <a:t> </a:t>
            </a:r>
            <a:endParaRPr kumimoji="1" lang="ja-JP" altLang="en-US" dirty="0"/>
          </a:p>
        </p:txBody>
      </p:sp>
      <p:grpSp>
        <p:nvGrpSpPr>
          <p:cNvPr id="2" name="グループ化 1">
            <a:extLst>
              <a:ext uri="{FF2B5EF4-FFF2-40B4-BE49-F238E27FC236}">
                <a16:creationId xmlns:a16="http://schemas.microsoft.com/office/drawing/2014/main" id="{62949E3C-D44D-B5FD-A36B-0E2C8AF8077A}"/>
              </a:ext>
            </a:extLst>
          </p:cNvPr>
          <p:cNvGrpSpPr/>
          <p:nvPr/>
        </p:nvGrpSpPr>
        <p:grpSpPr>
          <a:xfrm>
            <a:off x="3086595" y="1860998"/>
            <a:ext cx="2970810" cy="4437414"/>
            <a:chOff x="211777" y="1209303"/>
            <a:chExt cx="2970810" cy="4437414"/>
          </a:xfrm>
        </p:grpSpPr>
        <p:grpSp>
          <p:nvGrpSpPr>
            <p:cNvPr id="3" name="グループ化 2">
              <a:extLst>
                <a:ext uri="{FF2B5EF4-FFF2-40B4-BE49-F238E27FC236}">
                  <a16:creationId xmlns:a16="http://schemas.microsoft.com/office/drawing/2014/main" id="{EC5F9919-C8BE-384C-D1FD-1EA446F77123}"/>
                </a:ext>
              </a:extLst>
            </p:cNvPr>
            <p:cNvGrpSpPr/>
            <p:nvPr/>
          </p:nvGrpSpPr>
          <p:grpSpPr>
            <a:xfrm>
              <a:off x="211777" y="1209303"/>
              <a:ext cx="2970810" cy="4437414"/>
              <a:chOff x="211777" y="1209303"/>
              <a:chExt cx="2970810" cy="4437414"/>
            </a:xfrm>
          </p:grpSpPr>
          <p:sp>
            <p:nvSpPr>
              <p:cNvPr id="10" name="正方形/長方形 9">
                <a:extLst>
                  <a:ext uri="{FF2B5EF4-FFF2-40B4-BE49-F238E27FC236}">
                    <a16:creationId xmlns:a16="http://schemas.microsoft.com/office/drawing/2014/main" id="{1D5CC81C-7F62-B415-108C-B5DDFCAF1911}"/>
                  </a:ext>
                </a:extLst>
              </p:cNvPr>
              <p:cNvSpPr/>
              <p:nvPr/>
            </p:nvSpPr>
            <p:spPr>
              <a:xfrm>
                <a:off x="211777" y="1209303"/>
                <a:ext cx="2970810" cy="4437414"/>
              </a:xfrm>
              <a:prstGeom prst="rect">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77BEADF0-2BED-C12B-61A0-8BEE5F41A45E}"/>
                  </a:ext>
                </a:extLst>
              </p:cNvPr>
              <p:cNvSpPr/>
              <p:nvPr/>
            </p:nvSpPr>
            <p:spPr>
              <a:xfrm>
                <a:off x="267195" y="1264722"/>
                <a:ext cx="2861953" cy="43166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 name="グループ化 3">
              <a:extLst>
                <a:ext uri="{FF2B5EF4-FFF2-40B4-BE49-F238E27FC236}">
                  <a16:creationId xmlns:a16="http://schemas.microsoft.com/office/drawing/2014/main" id="{57053389-8506-CC71-B56C-FDD45B8E1CC8}"/>
                </a:ext>
              </a:extLst>
            </p:cNvPr>
            <p:cNvGrpSpPr/>
            <p:nvPr/>
          </p:nvGrpSpPr>
          <p:grpSpPr>
            <a:xfrm>
              <a:off x="440316" y="1376658"/>
              <a:ext cx="2515709" cy="3656483"/>
              <a:chOff x="440316" y="1376658"/>
              <a:chExt cx="2515709" cy="3656483"/>
            </a:xfrm>
          </p:grpSpPr>
          <p:sp>
            <p:nvSpPr>
              <p:cNvPr id="7" name="正方形/長方形 6">
                <a:extLst>
                  <a:ext uri="{FF2B5EF4-FFF2-40B4-BE49-F238E27FC236}">
                    <a16:creationId xmlns:a16="http://schemas.microsoft.com/office/drawing/2014/main" id="{AF1E1814-EFE2-331A-B4A5-F9E598FF6166}"/>
                  </a:ext>
                </a:extLst>
              </p:cNvPr>
              <p:cNvSpPr/>
              <p:nvPr/>
            </p:nvSpPr>
            <p:spPr>
              <a:xfrm>
                <a:off x="440317" y="1422377"/>
                <a:ext cx="2515708" cy="36107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F182054F-993F-3D40-2AFC-AC7BF8F7F23E}"/>
                  </a:ext>
                </a:extLst>
              </p:cNvPr>
              <p:cNvSpPr/>
              <p:nvPr/>
            </p:nvSpPr>
            <p:spPr>
              <a:xfrm>
                <a:off x="440316" y="1376658"/>
                <a:ext cx="2515708" cy="4571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B0983B11-5944-C8F5-9D28-A7730DC08453}"/>
                  </a:ext>
                </a:extLst>
              </p:cNvPr>
              <p:cNvSpPr/>
              <p:nvPr/>
            </p:nvSpPr>
            <p:spPr>
              <a:xfrm>
                <a:off x="486888" y="1422377"/>
                <a:ext cx="2416629" cy="354744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5" name="正方形/長方形 4">
              <a:extLst>
                <a:ext uri="{FF2B5EF4-FFF2-40B4-BE49-F238E27FC236}">
                  <a16:creationId xmlns:a16="http://schemas.microsoft.com/office/drawing/2014/main" id="{9F8DEBD9-D7D3-C852-39FD-6A0C0D0C47D7}"/>
                </a:ext>
              </a:extLst>
            </p:cNvPr>
            <p:cNvSpPr/>
            <p:nvPr/>
          </p:nvSpPr>
          <p:spPr>
            <a:xfrm>
              <a:off x="546265" y="1422377"/>
              <a:ext cx="2291938" cy="2421782"/>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B10EE778-C175-6B8F-09BC-0FF4E4DFB3FB}"/>
                </a:ext>
              </a:extLst>
            </p:cNvPr>
            <p:cNvSpPr/>
            <p:nvPr/>
          </p:nvSpPr>
          <p:spPr>
            <a:xfrm>
              <a:off x="1578339" y="2280063"/>
              <a:ext cx="214835" cy="1575972"/>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テキスト ボックス 11">
            <a:extLst>
              <a:ext uri="{FF2B5EF4-FFF2-40B4-BE49-F238E27FC236}">
                <a16:creationId xmlns:a16="http://schemas.microsoft.com/office/drawing/2014/main" id="{765C5F8D-09A9-3659-3845-E9CF216AB01C}"/>
              </a:ext>
            </a:extLst>
          </p:cNvPr>
          <p:cNvSpPr txBox="1"/>
          <p:nvPr/>
        </p:nvSpPr>
        <p:spPr>
          <a:xfrm>
            <a:off x="6834850" y="862249"/>
            <a:ext cx="1978427" cy="646331"/>
          </a:xfrm>
          <a:prstGeom prst="rect">
            <a:avLst/>
          </a:prstGeom>
          <a:solidFill>
            <a:schemeClr val="bg1">
              <a:lumMod val="50000"/>
            </a:schemeClr>
          </a:solidFill>
          <a:ln>
            <a:solidFill>
              <a:schemeClr val="tx1"/>
            </a:solidFill>
          </a:ln>
        </p:spPr>
        <p:txBody>
          <a:bodyPr wrap="none" rtlCol="0">
            <a:spAutoFit/>
          </a:bodyPr>
          <a:lstStyle/>
          <a:p>
            <a:r>
              <a:rPr kumimoji="1" lang="en-US" altLang="ja-JP" dirty="0">
                <a:solidFill>
                  <a:schemeClr val="bg1"/>
                </a:solidFill>
              </a:rPr>
              <a:t>Al case (G4_Al) </a:t>
            </a:r>
          </a:p>
          <a:p>
            <a:r>
              <a:rPr lang="en-US" altLang="ja-JP" dirty="0">
                <a:solidFill>
                  <a:schemeClr val="bg1"/>
                </a:solidFill>
              </a:rPr>
              <a:t>thickness 0.8mm</a:t>
            </a:r>
            <a:endParaRPr kumimoji="1" lang="ja-JP" altLang="en-US" dirty="0">
              <a:solidFill>
                <a:schemeClr val="bg1"/>
              </a:solidFill>
            </a:endParaRPr>
          </a:p>
        </p:txBody>
      </p:sp>
      <p:sp>
        <p:nvSpPr>
          <p:cNvPr id="13" name="テキスト ボックス 12">
            <a:extLst>
              <a:ext uri="{FF2B5EF4-FFF2-40B4-BE49-F238E27FC236}">
                <a16:creationId xmlns:a16="http://schemas.microsoft.com/office/drawing/2014/main" id="{9E9CFA8E-1B2C-F2A9-1353-701E3E4F92FC}"/>
              </a:ext>
            </a:extLst>
          </p:cNvPr>
          <p:cNvSpPr txBox="1"/>
          <p:nvPr/>
        </p:nvSpPr>
        <p:spPr>
          <a:xfrm>
            <a:off x="6834850" y="1684249"/>
            <a:ext cx="1606530" cy="646331"/>
          </a:xfrm>
          <a:prstGeom prst="rect">
            <a:avLst/>
          </a:prstGeom>
          <a:noFill/>
          <a:ln>
            <a:solidFill>
              <a:schemeClr val="tx1"/>
            </a:solidFill>
          </a:ln>
        </p:spPr>
        <p:txBody>
          <a:bodyPr wrap="none" rtlCol="0">
            <a:spAutoFit/>
          </a:bodyPr>
          <a:lstStyle/>
          <a:p>
            <a:r>
              <a:rPr kumimoji="1" lang="en-US" altLang="ja-JP" dirty="0"/>
              <a:t>Vacuum case</a:t>
            </a:r>
          </a:p>
          <a:p>
            <a:r>
              <a:rPr lang="en-US" altLang="ja-JP" dirty="0"/>
              <a:t>(G4Galactic)</a:t>
            </a:r>
            <a:endParaRPr kumimoji="1" lang="en-US" altLang="ja-JP" dirty="0"/>
          </a:p>
        </p:txBody>
      </p:sp>
      <p:sp>
        <p:nvSpPr>
          <p:cNvPr id="14" name="テキスト ボックス 13">
            <a:extLst>
              <a:ext uri="{FF2B5EF4-FFF2-40B4-BE49-F238E27FC236}">
                <a16:creationId xmlns:a16="http://schemas.microsoft.com/office/drawing/2014/main" id="{8C8D15EA-8A93-47D9-5A6E-4FE6AD5368D7}"/>
              </a:ext>
            </a:extLst>
          </p:cNvPr>
          <p:cNvSpPr txBox="1"/>
          <p:nvPr/>
        </p:nvSpPr>
        <p:spPr>
          <a:xfrm>
            <a:off x="6801479" y="2470093"/>
            <a:ext cx="1978427" cy="923330"/>
          </a:xfrm>
          <a:prstGeom prst="rect">
            <a:avLst/>
          </a:prstGeom>
          <a:solidFill>
            <a:srgbClr val="FFFF00"/>
          </a:solidFill>
          <a:ln>
            <a:solidFill>
              <a:schemeClr val="tx1"/>
            </a:solidFill>
          </a:ln>
        </p:spPr>
        <p:txBody>
          <a:bodyPr wrap="none" rtlCol="0">
            <a:spAutoFit/>
          </a:bodyPr>
          <a:lstStyle/>
          <a:p>
            <a:r>
              <a:rPr lang="en-US" altLang="ja-JP" dirty="0"/>
              <a:t>Kapton window</a:t>
            </a:r>
          </a:p>
          <a:p>
            <a:r>
              <a:rPr kumimoji="1" lang="en-US" altLang="ja-JP" dirty="0"/>
              <a:t>(G4_Kapton)</a:t>
            </a:r>
          </a:p>
          <a:p>
            <a:r>
              <a:rPr lang="en-US" altLang="ja-JP" dirty="0"/>
              <a:t>thickness 0.1mm</a:t>
            </a:r>
            <a:endParaRPr kumimoji="1" lang="en-US" altLang="ja-JP" dirty="0"/>
          </a:p>
        </p:txBody>
      </p:sp>
      <p:sp>
        <p:nvSpPr>
          <p:cNvPr id="16" name="テキスト ボックス 15">
            <a:extLst>
              <a:ext uri="{FF2B5EF4-FFF2-40B4-BE49-F238E27FC236}">
                <a16:creationId xmlns:a16="http://schemas.microsoft.com/office/drawing/2014/main" id="{4F4F5F35-4616-3DB9-ED9E-D9B99DD375F0}"/>
              </a:ext>
            </a:extLst>
          </p:cNvPr>
          <p:cNvSpPr txBox="1"/>
          <p:nvPr/>
        </p:nvSpPr>
        <p:spPr>
          <a:xfrm>
            <a:off x="6810409" y="3532936"/>
            <a:ext cx="1978427" cy="646331"/>
          </a:xfrm>
          <a:prstGeom prst="rect">
            <a:avLst/>
          </a:prstGeom>
          <a:solidFill>
            <a:schemeClr val="accent2"/>
          </a:solidFill>
          <a:ln>
            <a:solidFill>
              <a:schemeClr val="tx1"/>
            </a:solidFill>
          </a:ln>
        </p:spPr>
        <p:txBody>
          <a:bodyPr wrap="none" rtlCol="0">
            <a:spAutoFit/>
          </a:bodyPr>
          <a:lstStyle/>
          <a:p>
            <a:r>
              <a:rPr lang="en-US" altLang="ja-JP" dirty="0"/>
              <a:t>Cu case </a:t>
            </a:r>
            <a:r>
              <a:rPr kumimoji="1" lang="en-US" altLang="ja-JP" dirty="0"/>
              <a:t>(G4_Cu)</a:t>
            </a:r>
          </a:p>
          <a:p>
            <a:r>
              <a:rPr lang="en-US" altLang="ja-JP" dirty="0"/>
              <a:t>thickness 0.8mm</a:t>
            </a:r>
            <a:endParaRPr kumimoji="1" lang="en-US" altLang="ja-JP" dirty="0"/>
          </a:p>
        </p:txBody>
      </p:sp>
      <p:sp>
        <p:nvSpPr>
          <p:cNvPr id="17" name="テキスト ボックス 16">
            <a:extLst>
              <a:ext uri="{FF2B5EF4-FFF2-40B4-BE49-F238E27FC236}">
                <a16:creationId xmlns:a16="http://schemas.microsoft.com/office/drawing/2014/main" id="{255AF8E0-7180-8E5C-5526-3B6EABBA1C08}"/>
              </a:ext>
            </a:extLst>
          </p:cNvPr>
          <p:cNvSpPr txBox="1"/>
          <p:nvPr/>
        </p:nvSpPr>
        <p:spPr>
          <a:xfrm>
            <a:off x="6801479" y="4354936"/>
            <a:ext cx="1316386" cy="646331"/>
          </a:xfrm>
          <a:prstGeom prst="rect">
            <a:avLst/>
          </a:prstGeom>
          <a:solidFill>
            <a:schemeClr val="accent5">
              <a:lumMod val="40000"/>
              <a:lumOff val="60000"/>
            </a:schemeClr>
          </a:solidFill>
          <a:ln>
            <a:solidFill>
              <a:schemeClr val="tx1"/>
            </a:solidFill>
          </a:ln>
        </p:spPr>
        <p:txBody>
          <a:bodyPr wrap="none" rtlCol="0">
            <a:spAutoFit/>
          </a:bodyPr>
          <a:lstStyle/>
          <a:p>
            <a:r>
              <a:rPr lang="en-US" altLang="ja-JP" dirty="0"/>
              <a:t>Ge crystal </a:t>
            </a:r>
          </a:p>
          <a:p>
            <a:r>
              <a:rPr kumimoji="1" lang="en-US" altLang="ja-JP" dirty="0"/>
              <a:t>(G4_Ge)</a:t>
            </a:r>
          </a:p>
        </p:txBody>
      </p:sp>
      <p:sp>
        <p:nvSpPr>
          <p:cNvPr id="18" name="テキスト ボックス 17">
            <a:extLst>
              <a:ext uri="{FF2B5EF4-FFF2-40B4-BE49-F238E27FC236}">
                <a16:creationId xmlns:a16="http://schemas.microsoft.com/office/drawing/2014/main" id="{FCA12ECD-F774-62E1-8EC2-CBEFF98AB89D}"/>
              </a:ext>
            </a:extLst>
          </p:cNvPr>
          <p:cNvSpPr txBox="1"/>
          <p:nvPr/>
        </p:nvSpPr>
        <p:spPr>
          <a:xfrm>
            <a:off x="6766726" y="6004612"/>
            <a:ext cx="1768433" cy="646331"/>
          </a:xfrm>
          <a:prstGeom prst="rect">
            <a:avLst/>
          </a:prstGeom>
          <a:solidFill>
            <a:schemeClr val="tx2">
              <a:lumMod val="10000"/>
              <a:lumOff val="90000"/>
            </a:schemeClr>
          </a:solidFill>
          <a:ln>
            <a:solidFill>
              <a:schemeClr val="tx1"/>
            </a:solidFill>
          </a:ln>
        </p:spPr>
        <p:txBody>
          <a:bodyPr wrap="none" rtlCol="0">
            <a:spAutoFit/>
          </a:bodyPr>
          <a:lstStyle/>
          <a:p>
            <a:r>
              <a:rPr kumimoji="1" lang="en-US" altLang="ja-JP" dirty="0"/>
              <a:t>Vacuum Space</a:t>
            </a:r>
          </a:p>
          <a:p>
            <a:r>
              <a:rPr lang="en-US" altLang="ja-JP" dirty="0"/>
              <a:t>(G4Galactic)</a:t>
            </a:r>
            <a:endParaRPr kumimoji="1" lang="en-US" altLang="ja-JP" dirty="0"/>
          </a:p>
        </p:txBody>
      </p:sp>
      <p:sp>
        <p:nvSpPr>
          <p:cNvPr id="24" name="テキスト ボックス 23">
            <a:extLst>
              <a:ext uri="{FF2B5EF4-FFF2-40B4-BE49-F238E27FC236}">
                <a16:creationId xmlns:a16="http://schemas.microsoft.com/office/drawing/2014/main" id="{52FCBEB8-39EE-6DBB-FE1E-08EF3AB4DFC3}"/>
              </a:ext>
            </a:extLst>
          </p:cNvPr>
          <p:cNvSpPr txBox="1"/>
          <p:nvPr/>
        </p:nvSpPr>
        <p:spPr>
          <a:xfrm>
            <a:off x="6801476" y="5205964"/>
            <a:ext cx="1612942" cy="646331"/>
          </a:xfrm>
          <a:prstGeom prst="rect">
            <a:avLst/>
          </a:prstGeom>
          <a:solidFill>
            <a:schemeClr val="tx2">
              <a:lumMod val="10000"/>
              <a:lumOff val="90000"/>
            </a:schemeClr>
          </a:solidFill>
          <a:ln>
            <a:solidFill>
              <a:schemeClr val="tx1"/>
            </a:solidFill>
          </a:ln>
        </p:spPr>
        <p:txBody>
          <a:bodyPr wrap="none" rtlCol="0">
            <a:spAutoFit/>
          </a:bodyPr>
          <a:lstStyle/>
          <a:p>
            <a:r>
              <a:rPr kumimoji="1" lang="en-US" altLang="ja-JP" dirty="0"/>
              <a:t>Vacuum Core</a:t>
            </a:r>
          </a:p>
          <a:p>
            <a:r>
              <a:rPr lang="en-US" altLang="ja-JP" dirty="0"/>
              <a:t>(G4Galactic)</a:t>
            </a:r>
            <a:endParaRPr kumimoji="1" lang="en-US" altLang="ja-JP" dirty="0"/>
          </a:p>
        </p:txBody>
      </p:sp>
      <p:cxnSp>
        <p:nvCxnSpPr>
          <p:cNvPr id="25" name="直線矢印コネクタ 24">
            <a:extLst>
              <a:ext uri="{FF2B5EF4-FFF2-40B4-BE49-F238E27FC236}">
                <a16:creationId xmlns:a16="http://schemas.microsoft.com/office/drawing/2014/main" id="{2D25BBD6-F954-04A6-C7F4-62D3DB1DF7B3}"/>
              </a:ext>
            </a:extLst>
          </p:cNvPr>
          <p:cNvCxnSpPr>
            <a:cxnSpLocks/>
            <a:stCxn id="13" idx="1"/>
          </p:cNvCxnSpPr>
          <p:nvPr/>
        </p:nvCxnSpPr>
        <p:spPr>
          <a:xfrm flipH="1">
            <a:off x="5909139" y="2007415"/>
            <a:ext cx="925711" cy="6665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6" name="直線矢印コネクタ 25">
            <a:extLst>
              <a:ext uri="{FF2B5EF4-FFF2-40B4-BE49-F238E27FC236}">
                <a16:creationId xmlns:a16="http://schemas.microsoft.com/office/drawing/2014/main" id="{F38E9B0D-B00C-DA31-855E-B2402B16DA2D}"/>
              </a:ext>
            </a:extLst>
          </p:cNvPr>
          <p:cNvCxnSpPr>
            <a:cxnSpLocks/>
            <a:stCxn id="14" idx="1"/>
          </p:cNvCxnSpPr>
          <p:nvPr/>
        </p:nvCxnSpPr>
        <p:spPr>
          <a:xfrm flipH="1" flipV="1">
            <a:off x="5257824" y="2051119"/>
            <a:ext cx="1543655" cy="8806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7" name="直線矢印コネクタ 26">
            <a:extLst>
              <a:ext uri="{FF2B5EF4-FFF2-40B4-BE49-F238E27FC236}">
                <a16:creationId xmlns:a16="http://schemas.microsoft.com/office/drawing/2014/main" id="{FEB65C47-A35B-AEE4-17D7-BE781C21BC66}"/>
              </a:ext>
            </a:extLst>
          </p:cNvPr>
          <p:cNvCxnSpPr>
            <a:stCxn id="16" idx="1"/>
          </p:cNvCxnSpPr>
          <p:nvPr/>
        </p:nvCxnSpPr>
        <p:spPr>
          <a:xfrm flipH="1">
            <a:off x="5847723" y="3856102"/>
            <a:ext cx="962686" cy="2335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8" name="直線矢印コネクタ 27">
            <a:extLst>
              <a:ext uri="{FF2B5EF4-FFF2-40B4-BE49-F238E27FC236}">
                <a16:creationId xmlns:a16="http://schemas.microsoft.com/office/drawing/2014/main" id="{94EFAE64-6F00-180D-519F-88A266633E47}"/>
              </a:ext>
            </a:extLst>
          </p:cNvPr>
          <p:cNvCxnSpPr>
            <a:stCxn id="17" idx="1"/>
          </p:cNvCxnSpPr>
          <p:nvPr/>
        </p:nvCxnSpPr>
        <p:spPr>
          <a:xfrm flipH="1" flipV="1">
            <a:off x="5492338" y="4074757"/>
            <a:ext cx="1309141" cy="60334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9" name="直線矢印コネクタ 28">
            <a:extLst>
              <a:ext uri="{FF2B5EF4-FFF2-40B4-BE49-F238E27FC236}">
                <a16:creationId xmlns:a16="http://schemas.microsoft.com/office/drawing/2014/main" id="{A3FEF14C-23B2-392C-7693-A33AC76D60B9}"/>
              </a:ext>
            </a:extLst>
          </p:cNvPr>
          <p:cNvCxnSpPr>
            <a:stCxn id="24" idx="1"/>
          </p:cNvCxnSpPr>
          <p:nvPr/>
        </p:nvCxnSpPr>
        <p:spPr>
          <a:xfrm flipH="1" flipV="1">
            <a:off x="4559364" y="4179267"/>
            <a:ext cx="2242112" cy="13498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0" name="直線矢印コネクタ 29">
            <a:extLst>
              <a:ext uri="{FF2B5EF4-FFF2-40B4-BE49-F238E27FC236}">
                <a16:creationId xmlns:a16="http://schemas.microsoft.com/office/drawing/2014/main" id="{BF6D7145-C7B6-34E0-BA3A-095A5FD312D7}"/>
              </a:ext>
            </a:extLst>
          </p:cNvPr>
          <p:cNvCxnSpPr/>
          <p:nvPr/>
        </p:nvCxnSpPr>
        <p:spPr>
          <a:xfrm flipH="1" flipV="1">
            <a:off x="5058888" y="5164318"/>
            <a:ext cx="1668483" cy="113409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2" name="直線矢印コネクタ 31">
            <a:extLst>
              <a:ext uri="{FF2B5EF4-FFF2-40B4-BE49-F238E27FC236}">
                <a16:creationId xmlns:a16="http://schemas.microsoft.com/office/drawing/2014/main" id="{BBD7B760-2E10-1A28-BF69-D0C9A3265789}"/>
              </a:ext>
            </a:extLst>
          </p:cNvPr>
          <p:cNvCxnSpPr>
            <a:cxnSpLocks/>
          </p:cNvCxnSpPr>
          <p:nvPr/>
        </p:nvCxnSpPr>
        <p:spPr>
          <a:xfrm flipH="1">
            <a:off x="6058899" y="1185415"/>
            <a:ext cx="775951" cy="68248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4" name="正方形/長方形 33">
            <a:extLst>
              <a:ext uri="{FF2B5EF4-FFF2-40B4-BE49-F238E27FC236}">
                <a16:creationId xmlns:a16="http://schemas.microsoft.com/office/drawing/2014/main" id="{18F227B7-625C-A513-2C95-857BD2B80AB9}"/>
              </a:ext>
            </a:extLst>
          </p:cNvPr>
          <p:cNvSpPr/>
          <p:nvPr/>
        </p:nvSpPr>
        <p:spPr>
          <a:xfrm>
            <a:off x="4047214" y="1684249"/>
            <a:ext cx="1097280" cy="161856"/>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0AA43907-4F67-4087-903C-498FBE08CA69}"/>
              </a:ext>
            </a:extLst>
          </p:cNvPr>
          <p:cNvSpPr txBox="1"/>
          <p:nvPr/>
        </p:nvSpPr>
        <p:spPr>
          <a:xfrm>
            <a:off x="4080472" y="1287208"/>
            <a:ext cx="1075936" cy="369332"/>
          </a:xfrm>
          <a:prstGeom prst="rect">
            <a:avLst/>
          </a:prstGeom>
          <a:noFill/>
        </p:spPr>
        <p:txBody>
          <a:bodyPr wrap="none" rtlCol="0">
            <a:spAutoFit/>
          </a:bodyPr>
          <a:lstStyle/>
          <a:p>
            <a:r>
              <a:rPr kumimoji="1" lang="en-US" altLang="ja-JP" dirty="0">
                <a:solidFill>
                  <a:srgbClr val="FF0000"/>
                </a:solidFill>
              </a:rPr>
              <a:t>Cu plate</a:t>
            </a:r>
            <a:endParaRPr kumimoji="1" lang="ja-JP" altLang="en-US" dirty="0">
              <a:solidFill>
                <a:srgbClr val="FF0000"/>
              </a:solidFill>
            </a:endParaRPr>
          </a:p>
        </p:txBody>
      </p:sp>
    </p:spTree>
    <p:extLst>
      <p:ext uri="{BB962C8B-B14F-4D97-AF65-F5344CB8AC3E}">
        <p14:creationId xmlns:p14="http://schemas.microsoft.com/office/powerpoint/2010/main" val="20821982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65FED38-5A5F-4810-FFB4-7C59B4EC0EEA}"/>
              </a:ext>
            </a:extLst>
          </p:cNvPr>
          <p:cNvSpPr txBox="1"/>
          <p:nvPr/>
        </p:nvSpPr>
        <p:spPr>
          <a:xfrm>
            <a:off x="296726" y="145335"/>
            <a:ext cx="8746334" cy="646331"/>
          </a:xfrm>
          <a:prstGeom prst="rect">
            <a:avLst/>
          </a:prstGeom>
          <a:noFill/>
        </p:spPr>
        <p:txBody>
          <a:bodyPr wrap="square" rtlCol="0">
            <a:spAutoFit/>
          </a:bodyPr>
          <a:lstStyle/>
          <a:p>
            <a:r>
              <a:rPr kumimoji="1" lang="en-US" altLang="ja-JP" dirty="0"/>
              <a:t>6.2 A</a:t>
            </a:r>
            <a:r>
              <a:rPr lang="en-US" altLang="ja-JP" dirty="0"/>
              <a:t>dd record the mean energy deposition point of each event into root/csv file with tuple format . </a:t>
            </a:r>
          </a:p>
        </p:txBody>
      </p:sp>
      <p:sp>
        <p:nvSpPr>
          <p:cNvPr id="3" name="テキスト ボックス 2">
            <a:extLst>
              <a:ext uri="{FF2B5EF4-FFF2-40B4-BE49-F238E27FC236}">
                <a16:creationId xmlns:a16="http://schemas.microsoft.com/office/drawing/2014/main" id="{E0C7C795-1EC7-BF3E-30B4-0E4031A14165}"/>
              </a:ext>
            </a:extLst>
          </p:cNvPr>
          <p:cNvSpPr txBox="1"/>
          <p:nvPr/>
        </p:nvSpPr>
        <p:spPr>
          <a:xfrm>
            <a:off x="516193" y="943897"/>
            <a:ext cx="7119257" cy="3693319"/>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lstStyle/>
          <a:p>
            <a:r>
              <a:rPr kumimoji="1" lang="en-US" altLang="ja-JP" dirty="0"/>
              <a:t>Tuple formant</a:t>
            </a:r>
          </a:p>
          <a:p>
            <a:pPr marL="285750" indent="-285750">
              <a:buFont typeface="Arial" panose="020B0604020202020204" pitchFamily="34" charset="0"/>
              <a:buChar char="•"/>
            </a:pPr>
            <a:r>
              <a:rPr lang="en-US" altLang="ja-JP" dirty="0"/>
              <a:t>Name : </a:t>
            </a:r>
            <a:r>
              <a:rPr lang="en-US" altLang="ja-JP" dirty="0" err="1"/>
              <a:t>Edep</a:t>
            </a:r>
            <a:endParaRPr lang="en-US" altLang="ja-JP" dirty="0"/>
          </a:p>
          <a:p>
            <a:pPr marL="285750" indent="-285750">
              <a:buFont typeface="Arial" panose="020B0604020202020204" pitchFamily="34" charset="0"/>
              <a:buChar char="•"/>
            </a:pPr>
            <a:r>
              <a:rPr kumimoji="1" lang="en-US" altLang="ja-JP" dirty="0"/>
              <a:t>0</a:t>
            </a:r>
            <a:r>
              <a:rPr kumimoji="1" lang="en-US" altLang="ja-JP" baseline="30000" dirty="0"/>
              <a:t>th</a:t>
            </a:r>
            <a:r>
              <a:rPr kumimoji="1" lang="en-US" altLang="ja-JP" dirty="0"/>
              <a:t> column</a:t>
            </a:r>
            <a:r>
              <a:rPr lang="en-US" altLang="ja-JP" dirty="0"/>
              <a:t>	</a:t>
            </a:r>
            <a:r>
              <a:rPr kumimoji="1" lang="en-US" altLang="ja-JP" dirty="0"/>
              <a:t>: Event number (integer)</a:t>
            </a:r>
          </a:p>
          <a:p>
            <a:pPr marL="285750" indent="-285750">
              <a:buFont typeface="Arial" panose="020B0604020202020204" pitchFamily="34" charset="0"/>
              <a:buChar char="•"/>
            </a:pPr>
            <a:r>
              <a:rPr lang="en-US" altLang="ja-JP" dirty="0"/>
              <a:t>1</a:t>
            </a:r>
            <a:r>
              <a:rPr lang="en-US" altLang="ja-JP" baseline="30000" dirty="0"/>
              <a:t>st</a:t>
            </a:r>
            <a:r>
              <a:rPr lang="en-US" altLang="ja-JP" dirty="0"/>
              <a:t> column	: Total energy deposit in Ge crystal (double)</a:t>
            </a:r>
          </a:p>
          <a:p>
            <a:pPr marL="285750" indent="-285750">
              <a:buFont typeface="Arial" panose="020B0604020202020204" pitchFamily="34" charset="0"/>
              <a:buChar char="•"/>
            </a:pPr>
            <a:r>
              <a:rPr kumimoji="1" lang="en-US" altLang="ja-JP" dirty="0"/>
              <a:t>2</a:t>
            </a:r>
            <a:r>
              <a:rPr kumimoji="1" lang="en-US" altLang="ja-JP" baseline="30000" dirty="0"/>
              <a:t>nd</a:t>
            </a:r>
            <a:r>
              <a:rPr kumimoji="1" lang="en-US" altLang="ja-JP" dirty="0"/>
              <a:t> col</a:t>
            </a:r>
            <a:r>
              <a:rPr lang="en-US" altLang="ja-JP" dirty="0"/>
              <a:t>umn	: Primary vertex position x [mm] (double)</a:t>
            </a:r>
          </a:p>
          <a:p>
            <a:pPr marL="285750" indent="-285750">
              <a:buFont typeface="Arial" panose="020B0604020202020204" pitchFamily="34" charset="0"/>
              <a:buChar char="•"/>
            </a:pPr>
            <a:r>
              <a:rPr kumimoji="1" lang="en-US" altLang="ja-JP" dirty="0"/>
              <a:t>3</a:t>
            </a:r>
            <a:r>
              <a:rPr kumimoji="1" lang="en-US" altLang="ja-JP" baseline="30000" dirty="0"/>
              <a:t>rd</a:t>
            </a:r>
            <a:r>
              <a:rPr kumimoji="1" lang="en-US" altLang="ja-JP" dirty="0"/>
              <a:t> column	: </a:t>
            </a:r>
            <a:r>
              <a:rPr lang="en-US" altLang="ja-JP" dirty="0"/>
              <a:t>Primary vertex position y [mm] (double)</a:t>
            </a:r>
          </a:p>
          <a:p>
            <a:pPr marL="285750" indent="-285750">
              <a:buFont typeface="Arial" panose="020B0604020202020204" pitchFamily="34" charset="0"/>
              <a:buChar char="•"/>
            </a:pPr>
            <a:r>
              <a:rPr kumimoji="1" lang="en-US" altLang="ja-JP" dirty="0"/>
              <a:t>4</a:t>
            </a:r>
            <a:r>
              <a:rPr kumimoji="1" lang="en-US" altLang="ja-JP" baseline="30000" dirty="0"/>
              <a:t>th</a:t>
            </a:r>
            <a:r>
              <a:rPr kumimoji="1" lang="en-US" altLang="ja-JP" dirty="0"/>
              <a:t> column	: </a:t>
            </a:r>
            <a:r>
              <a:rPr lang="en-US" altLang="ja-JP" dirty="0"/>
              <a:t>Primary vertex position z [mm] (double)</a:t>
            </a:r>
          </a:p>
          <a:p>
            <a:pPr marL="285750" indent="-285750">
              <a:buFont typeface="Arial" panose="020B0604020202020204" pitchFamily="34" charset="0"/>
              <a:buChar char="•"/>
            </a:pPr>
            <a:r>
              <a:rPr lang="en-US" altLang="ja-JP" dirty="0"/>
              <a:t>5</a:t>
            </a:r>
            <a:r>
              <a:rPr lang="en-US" altLang="ja-JP" baseline="30000" dirty="0"/>
              <a:t>th</a:t>
            </a:r>
            <a:r>
              <a:rPr lang="en-US" altLang="ja-JP" dirty="0"/>
              <a:t> column	: Primary particle direction vector x (double)</a:t>
            </a:r>
          </a:p>
          <a:p>
            <a:pPr marL="285750" indent="-285750">
              <a:buFont typeface="Arial" panose="020B0604020202020204" pitchFamily="34" charset="0"/>
              <a:buChar char="•"/>
            </a:pPr>
            <a:r>
              <a:rPr lang="en-US" altLang="ja-JP" dirty="0"/>
              <a:t>6</a:t>
            </a:r>
            <a:r>
              <a:rPr lang="en-US" altLang="ja-JP" baseline="30000" dirty="0"/>
              <a:t>th</a:t>
            </a:r>
            <a:r>
              <a:rPr lang="en-US" altLang="ja-JP" dirty="0"/>
              <a:t> column	: Primary particle direction vector y (double)</a:t>
            </a:r>
          </a:p>
          <a:p>
            <a:pPr marL="285750" indent="-285750">
              <a:buFont typeface="Arial" panose="020B0604020202020204" pitchFamily="34" charset="0"/>
              <a:buChar char="•"/>
            </a:pPr>
            <a:r>
              <a:rPr lang="en-US" altLang="ja-JP" dirty="0"/>
              <a:t>7</a:t>
            </a:r>
            <a:r>
              <a:rPr lang="en-US" altLang="ja-JP" baseline="30000" dirty="0"/>
              <a:t>th</a:t>
            </a:r>
            <a:r>
              <a:rPr lang="en-US" altLang="ja-JP" dirty="0"/>
              <a:t> column	: Primary particle direction vector z (double)</a:t>
            </a:r>
          </a:p>
          <a:p>
            <a:pPr marL="285750" indent="-285750">
              <a:buFont typeface="Arial" panose="020B0604020202020204" pitchFamily="34" charset="0"/>
              <a:buChar char="•"/>
            </a:pPr>
            <a:r>
              <a:rPr lang="en-US" altLang="ja-JP" dirty="0"/>
              <a:t>8</a:t>
            </a:r>
            <a:r>
              <a:rPr lang="en-US" altLang="ja-JP" baseline="30000" dirty="0"/>
              <a:t>th</a:t>
            </a:r>
            <a:r>
              <a:rPr lang="en-US" altLang="ja-JP" dirty="0"/>
              <a:t> column	: Mean energy deposition point x [mm] (double)</a:t>
            </a:r>
          </a:p>
          <a:p>
            <a:pPr marL="285750" indent="-285750">
              <a:buFont typeface="Arial" panose="020B0604020202020204" pitchFamily="34" charset="0"/>
              <a:buChar char="•"/>
            </a:pPr>
            <a:r>
              <a:rPr lang="en-US" altLang="ja-JP" dirty="0"/>
              <a:t>9</a:t>
            </a:r>
            <a:r>
              <a:rPr lang="en-US" altLang="ja-JP" baseline="30000" dirty="0"/>
              <a:t>th</a:t>
            </a:r>
            <a:r>
              <a:rPr lang="en-US" altLang="ja-JP" dirty="0"/>
              <a:t> column	: Mean energy deposition point y [mm] (double)</a:t>
            </a:r>
          </a:p>
          <a:p>
            <a:pPr marL="285750" indent="-285750">
              <a:buFont typeface="Arial" panose="020B0604020202020204" pitchFamily="34" charset="0"/>
              <a:buChar char="•"/>
            </a:pPr>
            <a:r>
              <a:rPr lang="en-US" altLang="ja-JP" dirty="0"/>
              <a:t>10</a:t>
            </a:r>
            <a:r>
              <a:rPr lang="en-US" altLang="ja-JP" baseline="30000" dirty="0"/>
              <a:t>th</a:t>
            </a:r>
            <a:r>
              <a:rPr lang="en-US" altLang="ja-JP" dirty="0"/>
              <a:t> column	: Mean energy deposition point z [mm] (double)</a:t>
            </a:r>
          </a:p>
        </p:txBody>
      </p:sp>
      <mc:AlternateContent xmlns:mc="http://schemas.openxmlformats.org/markup-compatibility/2006" xmlns:a14="http://schemas.microsoft.com/office/drawing/2010/main">
        <mc:Choice Requires="a14">
          <p:sp>
            <p:nvSpPr>
              <p:cNvPr id="4" name="テキスト ボックス 3">
                <a:extLst>
                  <a:ext uri="{FF2B5EF4-FFF2-40B4-BE49-F238E27FC236}">
                    <a16:creationId xmlns:a16="http://schemas.microsoft.com/office/drawing/2014/main" id="{F6408F6D-2DA9-0D73-AB94-65593406AC9E}"/>
                  </a:ext>
                </a:extLst>
              </p:cNvPr>
              <p:cNvSpPr txBox="1"/>
              <p:nvPr/>
            </p:nvSpPr>
            <p:spPr>
              <a:xfrm>
                <a:off x="516193" y="4914433"/>
                <a:ext cx="1874809" cy="64613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b="0" i="1" smtClean="0">
                              <a:latin typeface="Cambria Math" panose="02040503050406030204" pitchFamily="18" charset="0"/>
                            </a:rPr>
                          </m:ctrlPr>
                        </m:sSubPr>
                        <m:e>
                          <m:acc>
                            <m:accPr>
                              <m:chr m:val="⃗"/>
                              <m:ctrlPr>
                                <a:rPr kumimoji="1" lang="en-US" altLang="ja-JP" b="0" i="1" smtClean="0">
                                  <a:latin typeface="Cambria Math" panose="02040503050406030204" pitchFamily="18" charset="0"/>
                                </a:rPr>
                              </m:ctrlPr>
                            </m:accPr>
                            <m:e>
                              <m:r>
                                <a:rPr kumimoji="1" lang="en-US" altLang="ja-JP" b="0" i="1" smtClean="0">
                                  <a:latin typeface="Cambria Math" panose="02040503050406030204" pitchFamily="18" charset="0"/>
                                </a:rPr>
                                <m:t>𝑥</m:t>
                              </m:r>
                            </m:e>
                          </m:acc>
                        </m:e>
                        <m:sub>
                          <m:r>
                            <a:rPr kumimoji="1" lang="en-US" altLang="ja-JP" b="0" i="1" smtClean="0">
                              <a:latin typeface="Cambria Math" panose="02040503050406030204" pitchFamily="18" charset="0"/>
                            </a:rPr>
                            <m:t>𝑚𝑒𝑎𝑛</m:t>
                          </m:r>
                        </m:sub>
                      </m:sSub>
                      <m:r>
                        <a:rPr kumimoji="1" lang="en-US" altLang="ja-JP" b="0" i="1" smtClean="0">
                          <a:latin typeface="Cambria Math" panose="02040503050406030204" pitchFamily="18" charset="0"/>
                        </a:rPr>
                        <m:t>= </m:t>
                      </m:r>
                      <m:f>
                        <m:fPr>
                          <m:ctrlPr>
                            <a:rPr kumimoji="1" lang="en-US" altLang="ja-JP" b="0" i="1" smtClean="0">
                              <a:latin typeface="Cambria Math" panose="02040503050406030204" pitchFamily="18" charset="0"/>
                            </a:rPr>
                          </m:ctrlPr>
                        </m:fPr>
                        <m:num>
                          <m:r>
                            <m:rPr>
                              <m:sty m:val="p"/>
                            </m:rPr>
                            <a:rPr kumimoji="1" lang="el-GR" altLang="ja-JP" b="0" i="1" smtClean="0">
                              <a:latin typeface="Cambria Math" panose="02040503050406030204" pitchFamily="18" charset="0"/>
                              <a:ea typeface="Cambria Math" panose="02040503050406030204" pitchFamily="18" charset="0"/>
                            </a:rPr>
                            <m:t>Σ</m:t>
                          </m:r>
                          <m:sSub>
                            <m:sSubPr>
                              <m:ctrlPr>
                                <a:rPr lang="en-US" altLang="ja-JP" i="1">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b="0" i="1" smtClean="0">
                                      <a:latin typeface="Cambria Math" panose="02040503050406030204" pitchFamily="18" charset="0"/>
                                    </a:rPr>
                                    <m:t>(</m:t>
                                  </m:r>
                                  <m:r>
                                    <a:rPr lang="en-US" altLang="ja-JP" i="1">
                                      <a:latin typeface="Cambria Math" panose="02040503050406030204" pitchFamily="18" charset="0"/>
                                    </a:rPr>
                                    <m:t>𝑥</m:t>
                                  </m:r>
                                </m:e>
                              </m:acc>
                            </m:e>
                            <m:sub>
                              <m:r>
                                <a:rPr lang="en-US" altLang="ja-JP" b="0" i="1" smtClean="0">
                                  <a:latin typeface="Cambria Math" panose="02040503050406030204" pitchFamily="18" charset="0"/>
                                </a:rPr>
                                <m:t>𝑖</m:t>
                              </m:r>
                            </m:sub>
                          </m:sSub>
                          <m:r>
                            <a:rPr lang="en-US" altLang="ja-JP" i="1" smtClean="0">
                              <a:latin typeface="Cambria Math" panose="02040503050406030204" pitchFamily="18" charset="0"/>
                              <a:ea typeface="Cambria Math" panose="02040503050406030204" pitchFamily="18" charset="0"/>
                            </a:rPr>
                            <m:t>∙</m:t>
                          </m:r>
                          <m:sSub>
                            <m:sSubPr>
                              <m:ctrlPr>
                                <a:rPr lang="en-US" altLang="ja-JP" i="1" smtClean="0">
                                  <a:latin typeface="Cambria Math" panose="02040503050406030204" pitchFamily="18" charset="0"/>
                                  <a:ea typeface="Cambria Math" panose="02040503050406030204" pitchFamily="18" charset="0"/>
                                </a:rPr>
                              </m:ctrlPr>
                            </m:sSubPr>
                            <m:e>
                              <m:r>
                                <a:rPr lang="ja-JP" altLang="en-US" i="1" smtClean="0">
                                  <a:latin typeface="Cambria Math" panose="02040503050406030204" pitchFamily="18" charset="0"/>
                                  <a:ea typeface="Cambria Math" panose="02040503050406030204" pitchFamily="18" charset="0"/>
                                </a:rPr>
                                <m:t>𝜀</m:t>
                              </m:r>
                            </m:e>
                            <m:sub>
                              <m:r>
                                <a:rPr lang="en-US" altLang="ja-JP" b="0" i="1" smtClean="0">
                                  <a:latin typeface="Cambria Math" panose="02040503050406030204" pitchFamily="18" charset="0"/>
                                  <a:ea typeface="Cambria Math" panose="02040503050406030204" pitchFamily="18" charset="0"/>
                                </a:rPr>
                                <m:t>𝑖</m:t>
                              </m:r>
                            </m:sub>
                          </m:sSub>
                          <m:r>
                            <a:rPr lang="en-US" altLang="ja-JP" b="0" i="1" smtClean="0">
                              <a:latin typeface="Cambria Math" panose="02040503050406030204" pitchFamily="18" charset="0"/>
                              <a:ea typeface="Cambria Math" panose="02040503050406030204" pitchFamily="18" charset="0"/>
                            </a:rPr>
                            <m:t>)</m:t>
                          </m:r>
                        </m:num>
                        <m:den>
                          <m:r>
                            <m:rPr>
                              <m:sty m:val="p"/>
                            </m:rPr>
                            <a:rPr kumimoji="1" lang="el-GR" altLang="ja-JP" b="0" i="1" smtClean="0">
                              <a:latin typeface="Cambria Math" panose="02040503050406030204" pitchFamily="18" charset="0"/>
                              <a:ea typeface="Cambria Math" panose="02040503050406030204" pitchFamily="18" charset="0"/>
                            </a:rPr>
                            <m:t>Σ</m:t>
                          </m:r>
                          <m:sSub>
                            <m:sSubPr>
                              <m:ctrlPr>
                                <a:rPr lang="en-US" altLang="ja-JP" i="1">
                                  <a:latin typeface="Cambria Math" panose="02040503050406030204" pitchFamily="18" charset="0"/>
                                  <a:ea typeface="Cambria Math" panose="02040503050406030204" pitchFamily="18" charset="0"/>
                                </a:rPr>
                              </m:ctrlPr>
                            </m:sSubPr>
                            <m:e>
                              <m:r>
                                <a:rPr lang="ja-JP" altLang="en-US" i="1">
                                  <a:latin typeface="Cambria Math" panose="02040503050406030204" pitchFamily="18" charset="0"/>
                                  <a:ea typeface="Cambria Math" panose="02040503050406030204" pitchFamily="18" charset="0"/>
                                </a:rPr>
                                <m:t>𝜀</m:t>
                              </m:r>
                            </m:e>
                            <m:sub>
                              <m:r>
                                <a:rPr lang="en-US" altLang="ja-JP" i="1">
                                  <a:latin typeface="Cambria Math" panose="02040503050406030204" pitchFamily="18" charset="0"/>
                                  <a:ea typeface="Cambria Math" panose="02040503050406030204" pitchFamily="18" charset="0"/>
                                </a:rPr>
                                <m:t>𝑖</m:t>
                              </m:r>
                            </m:sub>
                          </m:sSub>
                        </m:den>
                      </m:f>
                    </m:oMath>
                  </m:oMathPara>
                </a14:m>
                <a:endParaRPr kumimoji="1" lang="ja-JP" altLang="en-US" dirty="0"/>
              </a:p>
            </p:txBody>
          </p:sp>
        </mc:Choice>
        <mc:Fallback xmlns="">
          <p:sp>
            <p:nvSpPr>
              <p:cNvPr id="4" name="テキスト ボックス 3">
                <a:extLst>
                  <a:ext uri="{FF2B5EF4-FFF2-40B4-BE49-F238E27FC236}">
                    <a16:creationId xmlns:a16="http://schemas.microsoft.com/office/drawing/2014/main" id="{F6408F6D-2DA9-0D73-AB94-65593406AC9E}"/>
                  </a:ext>
                </a:extLst>
              </p:cNvPr>
              <p:cNvSpPr txBox="1">
                <a:spLocks noRot="1" noChangeAspect="1" noMove="1" noResize="1" noEditPoints="1" noAdjustHandles="1" noChangeArrowheads="1" noChangeShapeType="1" noTextEdit="1"/>
              </p:cNvSpPr>
              <p:nvPr/>
            </p:nvSpPr>
            <p:spPr>
              <a:xfrm>
                <a:off x="516193" y="4914433"/>
                <a:ext cx="1874809" cy="646139"/>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3DCBB91B-C223-9EF9-C7B7-769428D07C71}"/>
                  </a:ext>
                </a:extLst>
              </p:cNvPr>
              <p:cNvSpPr txBox="1"/>
              <p:nvPr/>
            </p:nvSpPr>
            <p:spPr>
              <a:xfrm>
                <a:off x="296726" y="5574138"/>
                <a:ext cx="4572000" cy="6799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ja-JP" i="1" smtClean="0">
                              <a:latin typeface="Cambria Math" panose="02040503050406030204" pitchFamily="18" charset="0"/>
                            </a:rPr>
                          </m:ctrlPr>
                        </m:sSubPr>
                        <m:e>
                          <m:acc>
                            <m:accPr>
                              <m:chr m:val="⃗"/>
                              <m:ctrlPr>
                                <a:rPr lang="en-US" altLang="ja-JP" i="1">
                                  <a:latin typeface="Cambria Math" panose="02040503050406030204" pitchFamily="18" charset="0"/>
                                </a:rPr>
                              </m:ctrlPr>
                            </m:accPr>
                            <m:e>
                              <m:r>
                                <a:rPr lang="en-US" altLang="ja-JP" i="1">
                                  <a:latin typeface="Cambria Math" panose="02040503050406030204" pitchFamily="18" charset="0"/>
                                </a:rPr>
                                <m:t>𝑥</m:t>
                              </m:r>
                            </m:e>
                          </m:acc>
                        </m:e>
                        <m:sub>
                          <m:r>
                            <a:rPr lang="en-US" altLang="ja-JP" b="0" i="1" smtClean="0">
                              <a:latin typeface="Cambria Math" panose="02040503050406030204" pitchFamily="18" charset="0"/>
                            </a:rPr>
                            <m:t>𝑖</m:t>
                          </m:r>
                        </m:sub>
                      </m:sSub>
                      <m:r>
                        <a:rPr lang="en-US" altLang="ja-JP" b="0" i="1" smtClean="0">
                          <a:latin typeface="Cambria Math" panose="02040503050406030204" pitchFamily="18" charset="0"/>
                        </a:rPr>
                        <m:t>=(</m:t>
                      </m:r>
                      <m:acc>
                        <m:accPr>
                          <m:chr m:val="⃗"/>
                          <m:ctrlPr>
                            <a:rPr lang="en-US" altLang="ja-JP" b="0" i="1" smtClean="0">
                              <a:latin typeface="Cambria Math" panose="02040503050406030204" pitchFamily="18" charset="0"/>
                            </a:rPr>
                          </m:ctrlPr>
                        </m:accPr>
                        <m:e>
                          <m:r>
                            <a:rPr lang="en-US" altLang="ja-JP" b="0" i="1" smtClean="0">
                              <a:latin typeface="Cambria Math" panose="02040503050406030204" pitchFamily="18" charset="0"/>
                            </a:rPr>
                            <m:t>𝑃𝑟𝑒𝑠𝑡𝑒𝑝𝑃𝑜𝑖𝑛𝑡</m:t>
                          </m:r>
                        </m:e>
                      </m:acc>
                      <m:r>
                        <a:rPr lang="en-US" altLang="ja-JP" b="0" i="1" smtClean="0">
                          <a:latin typeface="Cambria Math" panose="02040503050406030204" pitchFamily="18" charset="0"/>
                        </a:rPr>
                        <m:t>+</m:t>
                      </m:r>
                      <m:acc>
                        <m:accPr>
                          <m:chr m:val="⃗"/>
                          <m:ctrlPr>
                            <a:rPr lang="en-US" altLang="ja-JP" b="0" i="1" smtClean="0">
                              <a:latin typeface="Cambria Math" panose="02040503050406030204" pitchFamily="18" charset="0"/>
                            </a:rPr>
                          </m:ctrlPr>
                        </m:accPr>
                        <m:e>
                          <m:r>
                            <a:rPr lang="en-US" altLang="ja-JP" b="0" i="1" smtClean="0">
                              <a:latin typeface="Cambria Math" panose="02040503050406030204" pitchFamily="18" charset="0"/>
                            </a:rPr>
                            <m:t>𝑃𝑜𝑠𝑡𝑠𝑡𝑒𝑝𝑃𝑜𝑖𝑛𝑡</m:t>
                          </m:r>
                        </m:e>
                      </m:acc>
                      <m:r>
                        <a:rPr lang="en-US" altLang="ja-JP" b="0" i="1" smtClean="0">
                          <a:latin typeface="Cambria Math" panose="02040503050406030204" pitchFamily="18" charset="0"/>
                        </a:rPr>
                        <m:t>)/2</m:t>
                      </m:r>
                    </m:oMath>
                  </m:oMathPara>
                </a14:m>
                <a:endParaRPr lang="en-US" altLang="ja-JP" dirty="0"/>
              </a:p>
              <a:p>
                <a:r>
                  <a:rPr lang="en-US" altLang="ja-JP" dirty="0">
                    <a:ea typeface="Cambria Math" panose="02040503050406030204" pitchFamily="18" charset="0"/>
                  </a:rPr>
                  <a:t>   </a:t>
                </a:r>
                <a14:m>
                  <m:oMath xmlns:m="http://schemas.openxmlformats.org/officeDocument/2006/math">
                    <m:sSub>
                      <m:sSubPr>
                        <m:ctrlPr>
                          <a:rPr lang="en-US" altLang="ja-JP" i="1">
                            <a:latin typeface="Cambria Math" panose="02040503050406030204" pitchFamily="18" charset="0"/>
                            <a:ea typeface="Cambria Math" panose="02040503050406030204" pitchFamily="18" charset="0"/>
                          </a:rPr>
                        </m:ctrlPr>
                      </m:sSubPr>
                      <m:e>
                        <m:r>
                          <a:rPr lang="ja-JP" altLang="en-US" i="1">
                            <a:latin typeface="Cambria Math" panose="02040503050406030204" pitchFamily="18" charset="0"/>
                            <a:ea typeface="Cambria Math" panose="02040503050406030204" pitchFamily="18" charset="0"/>
                          </a:rPr>
                          <m:t>𝜀</m:t>
                        </m:r>
                      </m:e>
                      <m:sub>
                        <m:r>
                          <a:rPr lang="en-US" altLang="ja-JP" i="1">
                            <a:latin typeface="Cambria Math" panose="02040503050406030204" pitchFamily="18" charset="0"/>
                            <a:ea typeface="Cambria Math" panose="02040503050406030204" pitchFamily="18" charset="0"/>
                          </a:rPr>
                          <m:t>𝑖</m:t>
                        </m:r>
                      </m:sub>
                    </m:sSub>
                    <m:r>
                      <a:rPr lang="en-US" altLang="ja-JP" b="0" i="1" smtClean="0">
                        <a:latin typeface="Cambria Math" panose="02040503050406030204" pitchFamily="18" charset="0"/>
                        <a:ea typeface="Cambria Math" panose="02040503050406030204" pitchFamily="18" charset="0"/>
                      </a:rPr>
                      <m:t> :</m:t>
                    </m:r>
                    <m:r>
                      <a:rPr lang="en-US" altLang="ja-JP" b="0" i="1" smtClean="0">
                        <a:latin typeface="Cambria Math" panose="02040503050406030204" pitchFamily="18" charset="0"/>
                        <a:ea typeface="Cambria Math" panose="02040503050406030204" pitchFamily="18" charset="0"/>
                      </a:rPr>
                      <m:t>𝐸𝑛𝑒𝑟𝑔𝑦</m:t>
                    </m:r>
                    <m:r>
                      <a:rPr lang="en-US" altLang="ja-JP" b="0" i="1" smtClean="0">
                        <a:latin typeface="Cambria Math" panose="02040503050406030204" pitchFamily="18" charset="0"/>
                        <a:ea typeface="Cambria Math" panose="02040503050406030204" pitchFamily="18" charset="0"/>
                      </a:rPr>
                      <m:t> </m:t>
                    </m:r>
                    <m:r>
                      <a:rPr lang="en-US" altLang="ja-JP" b="0" i="1" smtClean="0">
                        <a:latin typeface="Cambria Math" panose="02040503050406030204" pitchFamily="18" charset="0"/>
                        <a:ea typeface="Cambria Math" panose="02040503050406030204" pitchFamily="18" charset="0"/>
                      </a:rPr>
                      <m:t>𝑑𝑒𝑝𝑜𝑠𝑖𝑡</m:t>
                    </m:r>
                  </m:oMath>
                </a14:m>
                <a:endParaRPr lang="ja-JP" altLang="en-US" dirty="0"/>
              </a:p>
            </p:txBody>
          </p:sp>
        </mc:Choice>
        <mc:Fallback xmlns="">
          <p:sp>
            <p:nvSpPr>
              <p:cNvPr id="6" name="テキスト ボックス 5">
                <a:extLst>
                  <a:ext uri="{FF2B5EF4-FFF2-40B4-BE49-F238E27FC236}">
                    <a16:creationId xmlns:a16="http://schemas.microsoft.com/office/drawing/2014/main" id="{3DCBB91B-C223-9EF9-C7B7-769428D07C71}"/>
                  </a:ext>
                </a:extLst>
              </p:cNvPr>
              <p:cNvSpPr txBox="1">
                <a:spLocks noRot="1" noChangeAspect="1" noMove="1" noResize="1" noEditPoints="1" noAdjustHandles="1" noChangeArrowheads="1" noChangeShapeType="1" noTextEdit="1"/>
              </p:cNvSpPr>
              <p:nvPr/>
            </p:nvSpPr>
            <p:spPr>
              <a:xfrm>
                <a:off x="296726" y="5574138"/>
                <a:ext cx="4572000" cy="679930"/>
              </a:xfrm>
              <a:prstGeom prst="rect">
                <a:avLst/>
              </a:prstGeom>
              <a:blipFill>
                <a:blip r:embed="rId3"/>
                <a:stretch>
                  <a:fillRect t="-8036" b="-625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2046EE39-01B2-F62E-CD78-5A230F62866A}"/>
                  </a:ext>
                </a:extLst>
              </p:cNvPr>
              <p:cNvSpPr txBox="1"/>
              <p:nvPr/>
            </p:nvSpPr>
            <p:spPr>
              <a:xfrm>
                <a:off x="516193" y="6343333"/>
                <a:ext cx="6606360" cy="369332"/>
              </a:xfrm>
              <a:prstGeom prst="rect">
                <a:avLst/>
              </a:prstGeom>
              <a:noFill/>
            </p:spPr>
            <p:txBody>
              <a:bodyPr wrap="none" rtlCol="0">
                <a:spAutoFit/>
              </a:bodyPr>
              <a:lstStyle/>
              <a:p>
                <a:r>
                  <a:rPr kumimoji="1" lang="en-US" altLang="ja-JP" i="1" dirty="0"/>
                  <a:t>Hint: Check  </a:t>
                </a:r>
                <a14:m>
                  <m:oMath xmlns:m="http://schemas.openxmlformats.org/officeDocument/2006/math">
                    <m:r>
                      <m:rPr>
                        <m:sty m:val="p"/>
                      </m:rPr>
                      <a:rPr lang="el-GR" altLang="ja-JP" i="1">
                        <a:latin typeface="Cambria Math" panose="02040503050406030204" pitchFamily="18" charset="0"/>
                        <a:ea typeface="Cambria Math" panose="02040503050406030204" pitchFamily="18" charset="0"/>
                      </a:rPr>
                      <m:t>Σ</m:t>
                    </m:r>
                    <m:sSub>
                      <m:sSubPr>
                        <m:ctrlPr>
                          <a:rPr lang="en-US" altLang="ja-JP" i="1">
                            <a:latin typeface="Cambria Math" panose="02040503050406030204" pitchFamily="18" charset="0"/>
                            <a:ea typeface="Cambria Math" panose="02040503050406030204" pitchFamily="18" charset="0"/>
                          </a:rPr>
                        </m:ctrlPr>
                      </m:sSubPr>
                      <m:e>
                        <m:r>
                          <a:rPr lang="ja-JP" altLang="en-US" i="1">
                            <a:latin typeface="Cambria Math" panose="02040503050406030204" pitchFamily="18" charset="0"/>
                            <a:ea typeface="Cambria Math" panose="02040503050406030204" pitchFamily="18" charset="0"/>
                          </a:rPr>
                          <m:t>𝜀</m:t>
                        </m:r>
                      </m:e>
                      <m:sub>
                        <m:r>
                          <a:rPr lang="en-US" altLang="ja-JP" i="1">
                            <a:latin typeface="Cambria Math" panose="02040503050406030204" pitchFamily="18" charset="0"/>
                            <a:ea typeface="Cambria Math" panose="02040503050406030204" pitchFamily="18" charset="0"/>
                          </a:rPr>
                          <m:t>𝑖</m:t>
                        </m:r>
                      </m:sub>
                    </m:sSub>
                    <m:r>
                      <a:rPr lang="en-US" altLang="ja-JP" b="0" i="1" smtClean="0">
                        <a:latin typeface="Cambria Math" panose="02040503050406030204" pitchFamily="18" charset="0"/>
                        <a:ea typeface="Cambria Math" panose="02040503050406030204" pitchFamily="18" charset="0"/>
                      </a:rPr>
                      <m:t>=0 </m:t>
                    </m:r>
                  </m:oMath>
                </a14:m>
                <a:r>
                  <a:rPr kumimoji="1" lang="ja-JP" altLang="en-US" i="1" dirty="0"/>
                  <a:t> </a:t>
                </a:r>
                <a:r>
                  <a:rPr kumimoji="1" lang="en-US" altLang="ja-JP" i="1" dirty="0"/>
                  <a:t>case and fill dummy values at that case.</a:t>
                </a:r>
                <a:endParaRPr kumimoji="1" lang="ja-JP" altLang="en-US" i="1" dirty="0"/>
              </a:p>
            </p:txBody>
          </p:sp>
        </mc:Choice>
        <mc:Fallback xmlns="">
          <p:sp>
            <p:nvSpPr>
              <p:cNvPr id="7" name="テキスト ボックス 6">
                <a:extLst>
                  <a:ext uri="{FF2B5EF4-FFF2-40B4-BE49-F238E27FC236}">
                    <a16:creationId xmlns:a16="http://schemas.microsoft.com/office/drawing/2014/main" id="{2046EE39-01B2-F62E-CD78-5A230F62866A}"/>
                  </a:ext>
                </a:extLst>
              </p:cNvPr>
              <p:cNvSpPr txBox="1">
                <a:spLocks noRot="1" noChangeAspect="1" noMove="1" noResize="1" noEditPoints="1" noAdjustHandles="1" noChangeArrowheads="1" noChangeShapeType="1" noTextEdit="1"/>
              </p:cNvSpPr>
              <p:nvPr/>
            </p:nvSpPr>
            <p:spPr>
              <a:xfrm>
                <a:off x="516193" y="6343333"/>
                <a:ext cx="6606360" cy="369332"/>
              </a:xfrm>
              <a:prstGeom prst="rect">
                <a:avLst/>
              </a:prstGeom>
              <a:blipFill>
                <a:blip r:embed="rId4"/>
                <a:stretch>
                  <a:fillRect l="-831" t="-8333" r="-831" b="-2833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1389293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B402B-2456-A566-B6D3-D602DD8EE69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E71B032-9BEA-58B2-56A0-A655408B1477}"/>
              </a:ext>
            </a:extLst>
          </p:cNvPr>
          <p:cNvSpPr txBox="1"/>
          <p:nvPr/>
        </p:nvSpPr>
        <p:spPr>
          <a:xfrm>
            <a:off x="296726" y="145335"/>
            <a:ext cx="8746334" cy="1477328"/>
          </a:xfrm>
          <a:prstGeom prst="rect">
            <a:avLst/>
          </a:prstGeom>
          <a:noFill/>
        </p:spPr>
        <p:txBody>
          <a:bodyPr wrap="square" rtlCol="0">
            <a:spAutoFit/>
          </a:bodyPr>
          <a:lstStyle/>
          <a:p>
            <a:r>
              <a:rPr lang="en-US" altLang="ja-JP" dirty="0"/>
              <a:t>6.3 Generate 1000000 event of 1.0 MeV gamma inside the cupper plate uniformly  and uniformed direction . Make a histogram of energy deposition in Ge crystal and calculate the  efficiency of detecting full energy deposition (gamma events shown as 1.0 MeV).  Make figure of primary vertex positions and mean energy deposit positions.</a:t>
            </a:r>
          </a:p>
        </p:txBody>
      </p:sp>
      <p:sp>
        <p:nvSpPr>
          <p:cNvPr id="3" name="テキスト ボックス 2">
            <a:extLst>
              <a:ext uri="{FF2B5EF4-FFF2-40B4-BE49-F238E27FC236}">
                <a16:creationId xmlns:a16="http://schemas.microsoft.com/office/drawing/2014/main" id="{E658F882-B90C-EFC1-0C81-FCD1C81FCA40}"/>
              </a:ext>
            </a:extLst>
          </p:cNvPr>
          <p:cNvSpPr txBox="1"/>
          <p:nvPr/>
        </p:nvSpPr>
        <p:spPr>
          <a:xfrm>
            <a:off x="296726" y="1987239"/>
            <a:ext cx="2669111" cy="369332"/>
          </a:xfrm>
          <a:prstGeom prst="rect">
            <a:avLst/>
          </a:prstGeom>
          <a:noFill/>
          <a:ln>
            <a:solidFill>
              <a:schemeClr val="tx1"/>
            </a:solidFill>
          </a:ln>
        </p:spPr>
        <p:txBody>
          <a:bodyPr wrap="square" rtlCol="0">
            <a:spAutoFit/>
          </a:bodyPr>
          <a:lstStyle/>
          <a:p>
            <a:r>
              <a:rPr lang="en-US" altLang="ja-JP" dirty="0"/>
              <a:t>[Past your macro file]</a:t>
            </a:r>
            <a:endParaRPr kumimoji="1" lang="ja-JP" altLang="en-US" dirty="0"/>
          </a:p>
        </p:txBody>
      </p:sp>
      <p:sp>
        <p:nvSpPr>
          <p:cNvPr id="4" name="正方形/長方形 3">
            <a:extLst>
              <a:ext uri="{FF2B5EF4-FFF2-40B4-BE49-F238E27FC236}">
                <a16:creationId xmlns:a16="http://schemas.microsoft.com/office/drawing/2014/main" id="{DA59D41B-9572-403C-E484-B921BEE43029}"/>
              </a:ext>
            </a:extLst>
          </p:cNvPr>
          <p:cNvSpPr/>
          <p:nvPr/>
        </p:nvSpPr>
        <p:spPr>
          <a:xfrm>
            <a:off x="210649" y="1899662"/>
            <a:ext cx="8686800" cy="46681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6521812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A8F268-0AED-A4EE-812E-340868868B61}"/>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03F8C8D-D5A1-A82C-56D0-71EB57A149F3}"/>
              </a:ext>
            </a:extLst>
          </p:cNvPr>
          <p:cNvSpPr txBox="1"/>
          <p:nvPr/>
        </p:nvSpPr>
        <p:spPr>
          <a:xfrm>
            <a:off x="264921" y="142537"/>
            <a:ext cx="5165820" cy="369332"/>
          </a:xfrm>
          <a:prstGeom prst="rect">
            <a:avLst/>
          </a:prstGeom>
          <a:noFill/>
          <a:ln>
            <a:solidFill>
              <a:schemeClr val="tx1"/>
            </a:solidFill>
          </a:ln>
        </p:spPr>
        <p:txBody>
          <a:bodyPr wrap="square" rtlCol="0">
            <a:spAutoFit/>
          </a:bodyPr>
          <a:lstStyle/>
          <a:p>
            <a:r>
              <a:rPr lang="en-US" altLang="ja-JP" dirty="0"/>
              <a:t>[Figure of Total energy deposit in Ge crystal ]</a:t>
            </a:r>
            <a:endParaRPr kumimoji="1" lang="ja-JP" altLang="en-US" dirty="0"/>
          </a:p>
        </p:txBody>
      </p:sp>
      <p:sp>
        <p:nvSpPr>
          <p:cNvPr id="3" name="テキスト ボックス 2">
            <a:extLst>
              <a:ext uri="{FF2B5EF4-FFF2-40B4-BE49-F238E27FC236}">
                <a16:creationId xmlns:a16="http://schemas.microsoft.com/office/drawing/2014/main" id="{CF0AF7D8-FE28-FCA8-6701-ED92CB4B77DA}"/>
              </a:ext>
            </a:extLst>
          </p:cNvPr>
          <p:cNvSpPr txBox="1"/>
          <p:nvPr/>
        </p:nvSpPr>
        <p:spPr>
          <a:xfrm>
            <a:off x="264920" y="6323015"/>
            <a:ext cx="8060095" cy="369332"/>
          </a:xfrm>
          <a:prstGeom prst="rect">
            <a:avLst/>
          </a:prstGeom>
          <a:noFill/>
          <a:ln>
            <a:solidFill>
              <a:schemeClr val="tx1"/>
            </a:solidFill>
          </a:ln>
        </p:spPr>
        <p:txBody>
          <a:bodyPr wrap="square" rtlCol="0">
            <a:spAutoFit/>
          </a:bodyPr>
          <a:lstStyle/>
          <a:p>
            <a:r>
              <a:rPr kumimoji="1" lang="en-US" altLang="ja-JP" dirty="0"/>
              <a:t>D</a:t>
            </a:r>
            <a:r>
              <a:rPr lang="en-US" altLang="ja-JP" dirty="0"/>
              <a:t>etection efficiency of 1 MeV gamma event: </a:t>
            </a:r>
            <a:r>
              <a:rPr lang="en-US" altLang="ja-JP" u="sng" dirty="0"/>
              <a:t>            ±          [stat.]</a:t>
            </a:r>
            <a:endParaRPr kumimoji="1" lang="ja-JP" altLang="en-US" u="sng" dirty="0"/>
          </a:p>
        </p:txBody>
      </p:sp>
    </p:spTree>
    <p:extLst>
      <p:ext uri="{BB962C8B-B14F-4D97-AF65-F5344CB8AC3E}">
        <p14:creationId xmlns:p14="http://schemas.microsoft.com/office/powerpoint/2010/main" val="16422666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059F3F3-1B2D-E291-6803-1639EF8B1D7E}"/>
              </a:ext>
            </a:extLst>
          </p:cNvPr>
          <p:cNvSpPr txBox="1"/>
          <p:nvPr/>
        </p:nvSpPr>
        <p:spPr>
          <a:xfrm>
            <a:off x="264921" y="142537"/>
            <a:ext cx="3481169" cy="369332"/>
          </a:xfrm>
          <a:prstGeom prst="rect">
            <a:avLst/>
          </a:prstGeom>
          <a:noFill/>
          <a:ln>
            <a:solidFill>
              <a:schemeClr val="tx1"/>
            </a:solidFill>
          </a:ln>
        </p:spPr>
        <p:txBody>
          <a:bodyPr wrap="square" rtlCol="0">
            <a:spAutoFit/>
          </a:bodyPr>
          <a:lstStyle/>
          <a:p>
            <a:r>
              <a:rPr lang="en-US" altLang="ja-JP" dirty="0"/>
              <a:t>[Figure of Primary Positions ]</a:t>
            </a:r>
            <a:endParaRPr kumimoji="1" lang="ja-JP" altLang="en-US" dirty="0"/>
          </a:p>
        </p:txBody>
      </p:sp>
    </p:spTree>
    <p:extLst>
      <p:ext uri="{BB962C8B-B14F-4D97-AF65-F5344CB8AC3E}">
        <p14:creationId xmlns:p14="http://schemas.microsoft.com/office/powerpoint/2010/main" val="14666603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7DFFA-CFD0-368C-487F-30A425156999}"/>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9BCA074-7BC3-438F-D757-9DC1E21599E0}"/>
              </a:ext>
            </a:extLst>
          </p:cNvPr>
          <p:cNvSpPr txBox="1"/>
          <p:nvPr/>
        </p:nvSpPr>
        <p:spPr>
          <a:xfrm>
            <a:off x="264921" y="142537"/>
            <a:ext cx="4830647" cy="369332"/>
          </a:xfrm>
          <a:prstGeom prst="rect">
            <a:avLst/>
          </a:prstGeom>
          <a:noFill/>
          <a:ln>
            <a:solidFill>
              <a:schemeClr val="tx1"/>
            </a:solidFill>
          </a:ln>
        </p:spPr>
        <p:txBody>
          <a:bodyPr wrap="square" rtlCol="0">
            <a:spAutoFit/>
          </a:bodyPr>
          <a:lstStyle/>
          <a:p>
            <a:r>
              <a:rPr lang="en-US" altLang="ja-JP" dirty="0"/>
              <a:t>[Figure of Mean energy deposit Positions ]</a:t>
            </a:r>
            <a:endParaRPr kumimoji="1" lang="ja-JP" altLang="en-US" dirty="0"/>
          </a:p>
        </p:txBody>
      </p:sp>
    </p:spTree>
    <p:extLst>
      <p:ext uri="{BB962C8B-B14F-4D97-AF65-F5344CB8AC3E}">
        <p14:creationId xmlns:p14="http://schemas.microsoft.com/office/powerpoint/2010/main" val="20486374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41A5-EF14-3CA9-D3D1-62BCAD7C0D02}"/>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0710C51-5E3F-AD04-0AAE-E4B354E1E2B4}"/>
              </a:ext>
            </a:extLst>
          </p:cNvPr>
          <p:cNvSpPr txBox="1"/>
          <p:nvPr/>
        </p:nvSpPr>
        <p:spPr>
          <a:xfrm>
            <a:off x="296726" y="145335"/>
            <a:ext cx="8746334" cy="1477328"/>
          </a:xfrm>
          <a:prstGeom prst="rect">
            <a:avLst/>
          </a:prstGeom>
          <a:noFill/>
        </p:spPr>
        <p:txBody>
          <a:bodyPr wrap="square" rtlCol="0">
            <a:spAutoFit/>
          </a:bodyPr>
          <a:lstStyle/>
          <a:p>
            <a:r>
              <a:rPr lang="en-US" altLang="ja-JP" dirty="0"/>
              <a:t>6.4 Generate 1000000 event of 1.0 MeV gamma from the cupper plate surface uniformly and uniformed direction . Make a histogram of energy deposition in Ge crystal and calculate the  efficiency of detecting full energy deposition (gamma events shown as 1.0 MeV). Make figure of primary vertex positions and mean energy deposit positions </a:t>
            </a:r>
          </a:p>
        </p:txBody>
      </p:sp>
      <p:sp>
        <p:nvSpPr>
          <p:cNvPr id="3" name="テキスト ボックス 2">
            <a:extLst>
              <a:ext uri="{FF2B5EF4-FFF2-40B4-BE49-F238E27FC236}">
                <a16:creationId xmlns:a16="http://schemas.microsoft.com/office/drawing/2014/main" id="{607CFB1F-96C7-34D8-BEDF-A651BC773249}"/>
              </a:ext>
            </a:extLst>
          </p:cNvPr>
          <p:cNvSpPr txBox="1"/>
          <p:nvPr/>
        </p:nvSpPr>
        <p:spPr>
          <a:xfrm>
            <a:off x="296726" y="1987239"/>
            <a:ext cx="2669111" cy="369332"/>
          </a:xfrm>
          <a:prstGeom prst="rect">
            <a:avLst/>
          </a:prstGeom>
          <a:noFill/>
          <a:ln>
            <a:solidFill>
              <a:schemeClr val="tx1"/>
            </a:solidFill>
          </a:ln>
        </p:spPr>
        <p:txBody>
          <a:bodyPr wrap="square" rtlCol="0">
            <a:spAutoFit/>
          </a:bodyPr>
          <a:lstStyle/>
          <a:p>
            <a:r>
              <a:rPr lang="en-US" altLang="ja-JP" dirty="0"/>
              <a:t>[Past your macro file]</a:t>
            </a:r>
            <a:endParaRPr kumimoji="1" lang="ja-JP" altLang="en-US" dirty="0"/>
          </a:p>
        </p:txBody>
      </p:sp>
      <p:sp>
        <p:nvSpPr>
          <p:cNvPr id="4" name="正方形/長方形 3">
            <a:extLst>
              <a:ext uri="{FF2B5EF4-FFF2-40B4-BE49-F238E27FC236}">
                <a16:creationId xmlns:a16="http://schemas.microsoft.com/office/drawing/2014/main" id="{5844BD5C-59C2-7BC0-2A26-944E563BCF1D}"/>
              </a:ext>
            </a:extLst>
          </p:cNvPr>
          <p:cNvSpPr/>
          <p:nvPr/>
        </p:nvSpPr>
        <p:spPr>
          <a:xfrm>
            <a:off x="210649" y="1899662"/>
            <a:ext cx="8686800" cy="466811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34B5D4A4-2548-9459-16C4-9C0DCCBD84AC}"/>
                  </a:ext>
                </a:extLst>
              </p:cNvPr>
              <p:cNvSpPr txBox="1"/>
              <p:nvPr/>
            </p:nvSpPr>
            <p:spPr>
              <a:xfrm>
                <a:off x="2286000" y="3244334"/>
                <a:ext cx="457200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kumimoji="1" lang="el-GR" altLang="ja-JP" b="0" i="1" smtClean="0">
                          <a:latin typeface="Cambria Math" panose="02040503050406030204" pitchFamily="18" charset="0"/>
                          <a:ea typeface="Cambria Math" panose="02040503050406030204" pitchFamily="18" charset="0"/>
                        </a:rPr>
                        <m:t>Σ</m:t>
                      </m:r>
                      <m:sSub>
                        <m:sSubPr>
                          <m:ctrlPr>
                            <a:rPr lang="en-US" altLang="ja-JP" i="1">
                              <a:latin typeface="Cambria Math" panose="02040503050406030204" pitchFamily="18" charset="0"/>
                              <a:ea typeface="Cambria Math" panose="02040503050406030204" pitchFamily="18" charset="0"/>
                            </a:rPr>
                          </m:ctrlPr>
                        </m:sSubPr>
                        <m:e>
                          <m:r>
                            <a:rPr lang="ja-JP" altLang="en-US" i="1">
                              <a:latin typeface="Cambria Math" panose="02040503050406030204" pitchFamily="18" charset="0"/>
                              <a:ea typeface="Cambria Math" panose="02040503050406030204" pitchFamily="18" charset="0"/>
                            </a:rPr>
                            <m:t>𝜀</m:t>
                          </m:r>
                        </m:e>
                        <m:sub>
                          <m:r>
                            <a:rPr lang="en-US" altLang="ja-JP" i="1">
                              <a:latin typeface="Cambria Math" panose="02040503050406030204" pitchFamily="18" charset="0"/>
                              <a:ea typeface="Cambria Math" panose="02040503050406030204" pitchFamily="18" charset="0"/>
                            </a:rPr>
                            <m:t>𝑖</m:t>
                          </m:r>
                        </m:sub>
                      </m:sSub>
                    </m:oMath>
                  </m:oMathPara>
                </a14:m>
                <a:endParaRPr lang="ja-JP" altLang="en-US" dirty="0"/>
              </a:p>
            </p:txBody>
          </p:sp>
        </mc:Choice>
        <mc:Fallback xmlns="">
          <p:sp>
            <p:nvSpPr>
              <p:cNvPr id="6" name="テキスト ボックス 5">
                <a:extLst>
                  <a:ext uri="{FF2B5EF4-FFF2-40B4-BE49-F238E27FC236}">
                    <a16:creationId xmlns:a16="http://schemas.microsoft.com/office/drawing/2014/main" id="{34B5D4A4-2548-9459-16C4-9C0DCCBD84AC}"/>
                  </a:ext>
                </a:extLst>
              </p:cNvPr>
              <p:cNvSpPr txBox="1">
                <a:spLocks noRot="1" noChangeAspect="1" noMove="1" noResize="1" noEditPoints="1" noAdjustHandles="1" noChangeArrowheads="1" noChangeShapeType="1" noTextEdit="1"/>
              </p:cNvSpPr>
              <p:nvPr/>
            </p:nvSpPr>
            <p:spPr>
              <a:xfrm>
                <a:off x="2286000" y="3244334"/>
                <a:ext cx="4572000" cy="369332"/>
              </a:xfrm>
              <a:prstGeom prst="rect">
                <a:avLst/>
              </a:prstGeom>
              <a:blipFill>
                <a:blip r:embed="rId2"/>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809459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F97A6-4FBF-1792-9DB1-DA25D0D67F25}"/>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60FC7F1E-EE48-75D9-B38F-3CE3390E76A9}"/>
              </a:ext>
            </a:extLst>
          </p:cNvPr>
          <p:cNvSpPr txBox="1"/>
          <p:nvPr/>
        </p:nvSpPr>
        <p:spPr>
          <a:xfrm>
            <a:off x="264921" y="142537"/>
            <a:ext cx="5165820" cy="369332"/>
          </a:xfrm>
          <a:prstGeom prst="rect">
            <a:avLst/>
          </a:prstGeom>
          <a:noFill/>
          <a:ln>
            <a:solidFill>
              <a:schemeClr val="tx1"/>
            </a:solidFill>
          </a:ln>
        </p:spPr>
        <p:txBody>
          <a:bodyPr wrap="square" rtlCol="0">
            <a:spAutoFit/>
          </a:bodyPr>
          <a:lstStyle/>
          <a:p>
            <a:r>
              <a:rPr lang="en-US" altLang="ja-JP" dirty="0"/>
              <a:t>[Figure of Total energy deposit in Ge crystal ]</a:t>
            </a:r>
            <a:endParaRPr kumimoji="1" lang="ja-JP" altLang="en-US" dirty="0"/>
          </a:p>
        </p:txBody>
      </p:sp>
      <p:sp>
        <p:nvSpPr>
          <p:cNvPr id="3" name="テキスト ボックス 2">
            <a:extLst>
              <a:ext uri="{FF2B5EF4-FFF2-40B4-BE49-F238E27FC236}">
                <a16:creationId xmlns:a16="http://schemas.microsoft.com/office/drawing/2014/main" id="{0705FCCB-4158-A228-6897-5F5AAA03CFC9}"/>
              </a:ext>
            </a:extLst>
          </p:cNvPr>
          <p:cNvSpPr txBox="1"/>
          <p:nvPr/>
        </p:nvSpPr>
        <p:spPr>
          <a:xfrm>
            <a:off x="264920" y="6323015"/>
            <a:ext cx="8060095" cy="369332"/>
          </a:xfrm>
          <a:prstGeom prst="rect">
            <a:avLst/>
          </a:prstGeom>
          <a:noFill/>
          <a:ln>
            <a:solidFill>
              <a:schemeClr val="tx1"/>
            </a:solidFill>
          </a:ln>
        </p:spPr>
        <p:txBody>
          <a:bodyPr wrap="square" rtlCol="0">
            <a:spAutoFit/>
          </a:bodyPr>
          <a:lstStyle/>
          <a:p>
            <a:r>
              <a:rPr kumimoji="1" lang="en-US" altLang="ja-JP" dirty="0"/>
              <a:t>D</a:t>
            </a:r>
            <a:r>
              <a:rPr lang="en-US" altLang="ja-JP" dirty="0"/>
              <a:t>etection efficiency of 1 MeV gamma event: </a:t>
            </a:r>
            <a:r>
              <a:rPr lang="en-US" altLang="ja-JP" u="sng" dirty="0"/>
              <a:t>            ±          [stat.]</a:t>
            </a:r>
            <a:endParaRPr kumimoji="1" lang="ja-JP" altLang="en-US" u="sng" dirty="0"/>
          </a:p>
        </p:txBody>
      </p:sp>
    </p:spTree>
    <p:extLst>
      <p:ext uri="{BB962C8B-B14F-4D97-AF65-F5344CB8AC3E}">
        <p14:creationId xmlns:p14="http://schemas.microsoft.com/office/powerpoint/2010/main" val="23153370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C4367-7ECF-7368-161D-DEDC4C57A6B3}"/>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07CFA615-DC03-F943-22D9-7DA6447A1A43}"/>
              </a:ext>
            </a:extLst>
          </p:cNvPr>
          <p:cNvSpPr txBox="1"/>
          <p:nvPr/>
        </p:nvSpPr>
        <p:spPr>
          <a:xfrm>
            <a:off x="264921" y="142537"/>
            <a:ext cx="3481169" cy="369332"/>
          </a:xfrm>
          <a:prstGeom prst="rect">
            <a:avLst/>
          </a:prstGeom>
          <a:noFill/>
          <a:ln>
            <a:solidFill>
              <a:schemeClr val="tx1"/>
            </a:solidFill>
          </a:ln>
        </p:spPr>
        <p:txBody>
          <a:bodyPr wrap="square" rtlCol="0">
            <a:spAutoFit/>
          </a:bodyPr>
          <a:lstStyle/>
          <a:p>
            <a:r>
              <a:rPr lang="en-US" altLang="ja-JP" dirty="0"/>
              <a:t>[Figure of Primary Positions ]</a:t>
            </a:r>
            <a:endParaRPr kumimoji="1" lang="ja-JP" altLang="en-US" dirty="0"/>
          </a:p>
        </p:txBody>
      </p:sp>
    </p:spTree>
    <p:extLst>
      <p:ext uri="{BB962C8B-B14F-4D97-AF65-F5344CB8AC3E}">
        <p14:creationId xmlns:p14="http://schemas.microsoft.com/office/powerpoint/2010/main" val="2815958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968B0-280C-A254-3944-9547C98043F7}"/>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6F1CDAB-6484-CA71-BEB7-6FCFD93C879C}"/>
              </a:ext>
            </a:extLst>
          </p:cNvPr>
          <p:cNvSpPr txBox="1"/>
          <p:nvPr/>
        </p:nvSpPr>
        <p:spPr>
          <a:xfrm>
            <a:off x="264921" y="142537"/>
            <a:ext cx="4830647" cy="369332"/>
          </a:xfrm>
          <a:prstGeom prst="rect">
            <a:avLst/>
          </a:prstGeom>
          <a:noFill/>
          <a:ln>
            <a:solidFill>
              <a:schemeClr val="tx1"/>
            </a:solidFill>
          </a:ln>
        </p:spPr>
        <p:txBody>
          <a:bodyPr wrap="square" rtlCol="0">
            <a:spAutoFit/>
          </a:bodyPr>
          <a:lstStyle/>
          <a:p>
            <a:r>
              <a:rPr lang="en-US" altLang="ja-JP" dirty="0"/>
              <a:t>[Figure of Mean energy deposit Positions ]</a:t>
            </a:r>
            <a:endParaRPr kumimoji="1" lang="ja-JP" altLang="en-US" dirty="0"/>
          </a:p>
        </p:txBody>
      </p:sp>
    </p:spTree>
    <p:extLst>
      <p:ext uri="{BB962C8B-B14F-4D97-AF65-F5344CB8AC3E}">
        <p14:creationId xmlns:p14="http://schemas.microsoft.com/office/powerpoint/2010/main" val="40720625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154484F-A392-C69A-A519-F6499FB30303}"/>
              </a:ext>
            </a:extLst>
          </p:cNvPr>
          <p:cNvSpPr txBox="1"/>
          <p:nvPr/>
        </p:nvSpPr>
        <p:spPr>
          <a:xfrm>
            <a:off x="200722" y="178418"/>
            <a:ext cx="8839200" cy="654205"/>
          </a:xfrm>
          <a:prstGeom prst="rect">
            <a:avLst/>
          </a:prstGeom>
          <a:noFill/>
        </p:spPr>
        <p:txBody>
          <a:bodyPr wrap="square" rtlCol="0">
            <a:spAutoFit/>
          </a:bodyPr>
          <a:lstStyle/>
          <a:p>
            <a:r>
              <a:rPr kumimoji="1" lang="en-US" altLang="ja-JP" dirty="0"/>
              <a:t>6.5 Describe the difference of observed energy spectra between from inside the material and surface. Describe how these spectra can be distinguished?</a:t>
            </a:r>
            <a:endParaRPr kumimoji="1" lang="ja-JP" altLang="en-US" dirty="0"/>
          </a:p>
        </p:txBody>
      </p:sp>
      <p:sp>
        <p:nvSpPr>
          <p:cNvPr id="3" name="正方形/長方形 2">
            <a:extLst>
              <a:ext uri="{FF2B5EF4-FFF2-40B4-BE49-F238E27FC236}">
                <a16:creationId xmlns:a16="http://schemas.microsoft.com/office/drawing/2014/main" id="{77E4E006-5ECB-6770-FABC-78FA80F3F031}"/>
              </a:ext>
            </a:extLst>
          </p:cNvPr>
          <p:cNvSpPr/>
          <p:nvPr/>
        </p:nvSpPr>
        <p:spPr>
          <a:xfrm>
            <a:off x="200722" y="832623"/>
            <a:ext cx="8683083" cy="584695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365348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512C9A6-C8B3-F9C9-25BD-C271337D7FE5}"/>
              </a:ext>
            </a:extLst>
          </p:cNvPr>
          <p:cNvPicPr>
            <a:picLocks noChangeAspect="1"/>
          </p:cNvPicPr>
          <p:nvPr/>
        </p:nvPicPr>
        <p:blipFill>
          <a:blip r:embed="rId2"/>
          <a:stretch>
            <a:fillRect/>
          </a:stretch>
        </p:blipFill>
        <p:spPr>
          <a:xfrm>
            <a:off x="554499" y="1158238"/>
            <a:ext cx="8035002" cy="4541523"/>
          </a:xfrm>
          <a:prstGeom prst="rect">
            <a:avLst/>
          </a:prstGeom>
        </p:spPr>
      </p:pic>
      <p:sp>
        <p:nvSpPr>
          <p:cNvPr id="2" name="テキスト ボックス 1">
            <a:extLst>
              <a:ext uri="{FF2B5EF4-FFF2-40B4-BE49-F238E27FC236}">
                <a16:creationId xmlns:a16="http://schemas.microsoft.com/office/drawing/2014/main" id="{2F1DB4B9-8C6A-4070-6C4E-39EB7D90C511}"/>
              </a:ext>
            </a:extLst>
          </p:cNvPr>
          <p:cNvSpPr txBox="1"/>
          <p:nvPr/>
        </p:nvSpPr>
        <p:spPr>
          <a:xfrm>
            <a:off x="636104" y="111318"/>
            <a:ext cx="3464410" cy="369332"/>
          </a:xfrm>
          <a:prstGeom prst="rect">
            <a:avLst/>
          </a:prstGeom>
          <a:noFill/>
        </p:spPr>
        <p:txBody>
          <a:bodyPr wrap="none" rtlCol="0">
            <a:spAutoFit/>
          </a:bodyPr>
          <a:lstStyle/>
          <a:p>
            <a:r>
              <a:rPr kumimoji="1" lang="en-US" altLang="ja-JP" dirty="0"/>
              <a:t>Appendix. Precise</a:t>
            </a:r>
            <a:r>
              <a:rPr lang="en-US" altLang="ja-JP" dirty="0"/>
              <a:t> Ge detector </a:t>
            </a:r>
            <a:endParaRPr kumimoji="1" lang="ja-JP" altLang="en-US" dirty="0"/>
          </a:p>
        </p:txBody>
      </p:sp>
    </p:spTree>
    <p:extLst>
      <p:ext uri="{BB962C8B-B14F-4D97-AF65-F5344CB8AC3E}">
        <p14:creationId xmlns:p14="http://schemas.microsoft.com/office/powerpoint/2010/main" val="186733292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255</TotalTime>
  <Words>1282</Words>
  <Application>Microsoft Office PowerPoint</Application>
  <PresentationFormat>画面に合わせる (4:3)</PresentationFormat>
  <Paragraphs>184</Paragraphs>
  <Slides>41</Slides>
  <Notes>0</Notes>
  <HiddenSlides>1</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41</vt:i4>
      </vt:variant>
    </vt:vector>
  </HeadingPairs>
  <TitlesOfParts>
    <vt:vector size="47" baseType="lpstr">
      <vt:lpstr>游ゴシック</vt:lpstr>
      <vt:lpstr>游ゴシック Light</vt:lpstr>
      <vt:lpstr>Arial</vt:lpstr>
      <vt:lpstr>Cambria Math</vt:lpstr>
      <vt:lpstr>Symbol</vt:lpstr>
      <vt:lpstr>Office テーマ</vt:lpstr>
      <vt:lpstr>GPPU Experiment P1 (2025)</vt:lpstr>
      <vt:lpstr>Rule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池田　晴雄</dc:creator>
  <cp:lastModifiedBy>晴雄 池田</cp:lastModifiedBy>
  <cp:revision>22</cp:revision>
  <cp:lastPrinted>2026-02-16T08:56:53Z</cp:lastPrinted>
  <dcterms:created xsi:type="dcterms:W3CDTF">2026-02-16T05:58:06Z</dcterms:created>
  <dcterms:modified xsi:type="dcterms:W3CDTF">2026-02-23T04:15:27Z</dcterms:modified>
</cp:coreProperties>
</file>